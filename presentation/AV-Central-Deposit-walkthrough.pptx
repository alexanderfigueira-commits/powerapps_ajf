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c082201-22c7-840c-7793-d242348bfe76}">
          <p14:sldIdLst>
            <p14:sldId id="256"/>
          </p14:sldIdLst>
        </p14:section>
        <p14:section name="Purpose and users" id="{090c0b48-6c1c-e2a4-348c-ff06674840fe}">
          <p14:sldIdLst>
            <p14:sldId id="257"/>
            <p14:sldId id="258"/>
            <p14:sldId id="259"/>
          </p14:sldIdLst>
        </p14:section>
        <p14:section name="Workflow and app tour" id="{c206cca7-97f8-4951-1604-fc6790a698b9}">
          <p14:sldIdLst>
            <p14:sldId id="260"/>
            <p14:sldId id="261"/>
            <p14:sldId id="262"/>
            <p14:sldId id="263"/>
            <p14:sldId id="264"/>
          </p14:sldIdLst>
        </p14:section>
        <p14:section name="Architecture" id="{a4ae9d9a-db03-20f6-0b8e-08bb63a92f77}">
          <p14:sldIdLst>
            <p14:sldId id="265"/>
          </p14:sldIdLst>
        </p14:section>
        <p14:section name="How it was built" id="{db0993e9-486e-1940-82cf-fc61c33fba75}">
          <p14:sldIdLst>
            <p14:sldId id="266"/>
            <p14:sldId id="267"/>
          </p14:sldIdLst>
        </p14:section>
        <p14:section name="How it was double-checked" id="{e09f9b1a-ac79-cb29-884d-30dbc7e4f93c}">
          <p14:sldIdLst>
            <p14:sldId id="268"/>
            <p14:sldId id="269"/>
            <p14:sldId id="270"/>
          </p14:sldIdLst>
        </p14:section>
        <p14:section name="Questions and next steps" id="{cb73b6ae-3126-0d84-50e2-4e9dbe1e9fb7}">
          <p14:sldIdLst>
            <p14:sldId id="271"/>
            <p14:sldId id="272"/>
            <p14:sldId id="273"/>
          </p14:sldIdLst>
        </p14:section>
        <p14:section name="Appendix" id="{b81168f9-e8a6-a4f0-6436-a21d85f65551}">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C"/>
                </a:solidFill>
                <a:latin typeface="+mn-lt"/>
              </a:defRPr>
            </a:pPr>
            <a:r>
              <a:rPr sz="1400" b="0" i="0" u="none" strike="noStrike">
                <a:solidFill>
                  <a:srgbClr val="1E222C"/>
                </a:solidFill>
                <a:latin typeface="+mn-lt"/>
              </a:rPr>
              <a:t>Columns per list known to the app</a:t>
            </a:r>
          </a:p>
        </c:rich>
      </c:tx>
      <c:layout/>
      <c:overlay val="0"/>
    </c:title>
    <c:autoTitleDeleted val="0"/>
    <c:plotArea>
      <c:layout/>
      <c:barChart>
        <c:barDir val="bar"/>
        <c:grouping val="clustered"/>
        <c:varyColors val="0"/>
        <c:ser>
          <c:idx val="0"/>
          <c:order val="0"/>
          <c:tx>
            <c:strRef>
              <c:f>Sheet1!$B$1</c:f>
              <c:strCache>
                <c:ptCount val="1"/>
                <c:pt idx="0">
                  <c:v>Columns known to the app</c:v>
                </c:pt>
              </c:strCache>
            </c:strRef>
          </c:tx>
          <c:spPr>
            <a:solidFill>
              <a:srgbClr val="3860B2"/>
            </a:solidFill>
            <a:effectLst/>
          </c:spPr>
          <c:invertIfNegative val="0"/>
          <c:dLbls>
            <c:numFmt formatCode="#,##0" sourceLinked="0"/>
            <c:txPr>
              <a:bodyPr/>
              <a:lstStyle/>
              <a:p>
                <a:pPr>
                  <a:defRPr b="0" i="0" strike="noStrike" sz="1200" u="none">
                    <a:solidFill>
                      <a:srgbClr val="1E222C"/>
                    </a:solidFill>
                    <a:latin typeface="+mn-lt"/>
                  </a:defRPr>
                </a:pPr>
              </a:p>
            </c:txPr>
            <c:showLegendKey val="0"/>
            <c:showVal val="1"/>
            <c:showCatName val="0"/>
            <c:showSerName val="0"/>
            <c:showPercent val="0"/>
            <c:showBubbleSize val="0"/>
            <c:showLeaderLines val="0"/>
          </c:dLbls>
          <c:cat>
            <c:multiLvlStrRef>
              <c:f>Sheet1!$A$2:$A$6</c:f>
              <c:multiLvlStrCache>
                <c:ptCount val="5"/>
                <c:lvl>
                  <c:pt idx="0">
                    <c:v>Media files</c:v>
                  </c:pt>
                  <c:pt idx="1">
                    <c:v>Requests</c:v>
                  </c:pt>
                  <c:pt idx="2">
                    <c:v>Notes</c:v>
                  </c:pt>
                  <c:pt idx="3">
                    <c:v>Suspension dates</c:v>
                  </c:pt>
                  <c:pt idx="4">
                    <c:v>Roles</c:v>
                  </c:pt>
                </c:lvl>
              </c:multiLvlStrCache>
            </c:multiLvlStrRef>
          </c:cat>
          <c:val>
            <c:numRef>
              <c:f>Sheet1!$B$2:$B$6</c:f>
              <c:numCache>
                <c:formatCode>General</c:formatCode>
                <c:ptCount val="5"/>
                <c:pt idx="0">
                  <c:v>49</c:v>
                </c:pt>
                <c:pt idx="1">
                  <c:v>32</c:v>
                </c:pt>
                <c:pt idx="2">
                  <c:v>16</c:v>
                </c:pt>
                <c:pt idx="3">
                  <c:v>11</c:v>
                </c:pt>
                <c:pt idx="4">
                  <c:v>10</c:v>
                </c:pt>
              </c:numCache>
            </c:numRef>
          </c:val>
        </c:ser>
        <c:dLbls>
          <c:numFmt formatCode="#,##0" sourceLinked="0"/>
          <c:txPr>
            <a:bodyPr/>
            <a:lstStyle/>
            <a:p>
              <a:pPr>
                <a:defRPr b="0" i="0" strike="noStrike" sz="1200" u="none">
                  <a:solidFill>
                    <a:srgbClr val="1E22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22C"/>
                </a:solidFill>
                <a:latin typeface="+mn-lt"/>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C"/>
                </a:solidFill>
                <a:latin typeface="+mn-lt"/>
              </a:defRPr>
            </a:pPr>
            <a:r>
              <a:rPr sz="1400" b="0" i="0" u="none" strike="noStrike">
                <a:solidFill>
                  <a:srgbClr val="1E222C"/>
                </a:solidFill>
                <a:latin typeface="+mn-lt"/>
              </a:rPr>
              <a:t>Studio checker findings by type (1,642 in total)</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3860B2"/>
            </a:solidFill>
            <a:effectLst/>
          </c:spPr>
          <c:invertIfNegative val="0"/>
          <c:dLbls>
            <c:numFmt formatCode="#,##0" sourceLinked="0"/>
            <c:txPr>
              <a:bodyPr/>
              <a:lstStyle/>
              <a:p>
                <a:pPr>
                  <a:defRPr b="0" i="0" strike="noStrike" sz="1200" u="none">
                    <a:solidFill>
                      <a:srgbClr val="1E222C"/>
                    </a:solidFill>
                    <a:latin typeface="+mn-lt"/>
                  </a:defRPr>
                </a:pPr>
              </a:p>
            </c:txPr>
            <c:showLegendKey val="0"/>
            <c:showVal val="1"/>
            <c:showCatName val="0"/>
            <c:showSerName val="0"/>
            <c:showPercent val="0"/>
            <c:showBubbleSize val="0"/>
            <c:showLeaderLines val="0"/>
          </c:dLbls>
          <c:cat>
            <c:multiLvlStrRef>
              <c:f>Sheet1!$A$2:$A$9</c:f>
              <c:multiLvlStrCache>
                <c:ptCount val="8"/>
                <c:lvl>
                  <c:pt idx="0">
                    <c:v>Tab order missing</c:v>
                  </c:pt>
                  <c:pt idx="1">
                    <c:v>Focus border not visible</c:v>
                  </c:pt>
                  <c:pt idx="2">
                    <c:v>Accessible label missing</c:v>
                  </c:pt>
                  <c:pt idx="3">
                    <c:v>CountRows on a gallery</c:v>
                  </c:pt>
                  <c:pt idx="4">
                    <c:v>Unused variables</c:v>
                  </c:pt>
                  <c:pt idx="5">
                    <c:v>Cross-screen dependencies</c:v>
                  </c:pt>
                  <c:pt idx="6">
                    <c:v>Whole list collected</c:v>
                  </c:pt>
                  <c:pt idx="7">
                    <c:v>Other hints</c:v>
                  </c:pt>
                </c:lvl>
              </c:multiLvlStrCache>
            </c:multiLvlStrRef>
          </c:cat>
          <c:val>
            <c:numRef>
              <c:f>Sheet1!$B$2:$B$9</c:f>
              <c:numCache>
                <c:formatCode>General</c:formatCode>
                <c:ptCount val="8"/>
                <c:pt idx="0">
                  <c:v>748</c:v>
                </c:pt>
                <c:pt idx="1">
                  <c:v>517</c:v>
                </c:pt>
                <c:pt idx="2">
                  <c:v>287</c:v>
                </c:pt>
                <c:pt idx="3">
                  <c:v>21</c:v>
                </c:pt>
                <c:pt idx="4">
                  <c:v>20</c:v>
                </c:pt>
                <c:pt idx="5">
                  <c:v>17</c:v>
                </c:pt>
                <c:pt idx="6">
                  <c:v>14</c:v>
                </c:pt>
                <c:pt idx="7">
                  <c:v>18</c:v>
                </c:pt>
              </c:numCache>
            </c:numRef>
          </c:val>
        </c:ser>
        <c:dLbls>
          <c:numFmt formatCode="#,##0" sourceLinked="0"/>
          <c:txPr>
            <a:bodyPr/>
            <a:lstStyle/>
            <a:p>
              <a:pPr>
                <a:defRPr b="0" i="0" strike="noStrike" sz="1200" u="none">
                  <a:solidFill>
                    <a:srgbClr val="1E22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22C"/>
                </a:solidFill>
                <a:latin typeface="+mn-lt"/>
              </a:defRPr>
            </a:pPr>
            <a:endParaRPr lang="en-US"/>
          </a:p>
        </c:txPr>
        <c:crossAx val="2094734552"/>
        <c:crosses val="autoZero"/>
        <c:auto val="1"/>
        <c:lblAlgn val="ctr"/>
        <c:noMultiLvlLbl val="1"/>
      </c:catAx>
      <c:valAx>
        <c:axId val="2094734552"/>
        <c:scaling>
          <c:orientation val="minMax"/>
          <c:max val="9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Welcome. In the next 30 minutes: what the app is for, a tour of what it does, how it is built, and how we checked it. Prepared answers to the main questions are on slide 16; questions are welcome at any point.
Facts on this deck were taken from the project files (package FINAL38, repository history and the Studio checker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Walk the six blocks. The longest block is the app tour (10 min) because that is what the audience will use; the build and the checks (5 min each) answer 'how can we trust it'.
Slide 16 holds the prepared answers to the likely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 purpose statement comes from the app's own Help screen: DG COMM and associated services submit audiovisual productions for archiving. A request groups one or more media files by production type and goes through a review workflow before approval for deposit.
The four numbers are counted from the package: 15 screens, 1,208 controls, 5 SharePoint lists, 3 production types. The two roles are ADMINISTRATOR and REQUESTOR.
Key message: before this app, the information arrived scattered; now every request carries its contacts, media files, legal declarations, attachments and notes in one record with a clear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 role is read at start-up from the AV-CD-RolesPermissionsList list (user e-mail to role); anyone not in the list is a REQUESTOR.
Requestor: creates and edits their own requests; once a request is Processing it is locked for them (view only) except they can still add notes.
Administrator: sees every request except drafts, reviews them (approve, partially approve, reject, ask for information), assigns up to two people, approves media files one by one, approves archive-only, edits Beluga references.
Be clear: the role controls what the app shows. The real security boundary is the SharePoint permission on the lists (see the Q&amp;A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Trace the happy path: Draft, then Submit puts the request in Processing, the administrator approves (Approved), or partially approves (only the ticked media files), or rejects. 'Need info' sends it back as Pending so the requestor acts; resubmitting returns it to Processing.
Media files have their own state: Draft, then Pending Approval when saved, then approved one by one by the administrator.
Archive-only: when the conditions for publication are not met the administrator approves for archiving only with a reason; the requestor is notified (the e-mail is a Power Automate flow, specification in the repository, still to be built).
Statuses verified in the app: Draft, Pending, Processing, Approved, Partially approved, Rejected, Published. The Publish button is hidden in the app; the Published status is used by the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Two operational dashboards, one per role, each with three lists: what needs me first, my latest updates, final validations. Clicking a request ID opens the details in VIEW-ONLY mode (added in FINAL37) so nobody edits by accident from a dashboard.
The administrator also has a KPI dashboard: rejected requests, success rate (Published divided by Approved), average time to published media and a monthly trend this year versus last year.
The Requests screen is the working list: status chips, production type, date range, requestor, assignee, Beluga reference. By default it shows the last 31 days, including today (a bug that hid today's requests was fixed in FINAL38).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One request, one production type (chosen first, then fixed once media files exist). Two contacts are mandatory: the official DG/Agency contact and the contractor; a manual e-mail can be added when the person is not in the directory.
The Message Center keeps the notes thread between requestor and administrator.
The media files list shows a badge per file: light grey when there is no Beluga ID, dark grey when it is archiving only with a reference, green with a link to the portal when it is publishing and approved.
Mandatory fields carry a yellow border while empty. Media files can only be added after the draft is saved, and the button explains why when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Every media file is filled in four tabs. Info: title, description, FTP path for photos, optional Beluga reference, and a template picker to copy from a previous media file of the same type. Metadata: dates, place, producer, credits, and for podcasts the episode data and files. Legal and Docs: contract case 1 to 6, rights declarations, and the attachments panel (contracts, releases, VTT subtitles). Validations: a live checklist; Save Media only becomes available when every check passes.
Save Media writes the file to SharePoint and sends the staged attachments in the same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Review screen (administrator only): the queue of submitted requests on the left, the selected request on the right with its media files, internal notes per file (view only), the assignee box (two people at most, saved as soon as it changes), the reviewer comment and the decision buttons. The comment is required to reject or to send back.
Export: a list with its own filters, one A4 print view per production type (Photo, Video, Podcast) and a PDF download. The export now loads the requests itself and the Request ID search matches the request number (fixed in FINAL32 and FINAL33).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The app is a Power Apps canvas app with 15 screens and 1,208 controls (52,810 formula rules). Data lives in five SharePoint lists; the people picker and the profile use the Office 365 Users connector. There is no e-mail connector in the app: notifications come from Power Automate flows that react to changes in SharePoint; the archive-only e-mail is specified in the repository and still has to be built.
The chart shows how many columns of each list the app knows about (the schema cached in the package). A column used by the app but missing in SharePoint makes a save fail, which happened once and shaped how we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 Power Apps .msapp is a ZIP. Inside, the Controls folder holds one JSON per screen and is the authoritative source; the Src folder holds a YAML mirror. Every change is made by a script that edits BOTH, with a guard that checks the old value first, so a changed base file is detected instead of silently overwritten.
The loop for every request: a short change request, a build script that produces the new package, packing against a reference file written by Studio (the mapping must be exact in both directions), a verification script that compares the new package with the previous one and fails on any unexpected change, a commit and the file sent to the owner, who opens it in Studio and reports back.
Standing rules kept on every build: control names, styling and roles stay; text is joined with &amp;; delegation issues are flagged; role-based visibility is kept; the previous version is never overwritten; no pull request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 repository holds 167 commits and 137 saved package files, including the owner's own base files. Work came in five phases; each delivered package is kept so any version can be reopened.
Phase 1 (v0 to v74): the foundation: dashboards, request details, media tabs, print pages. Phase 2 (FINAL4 to FINAL13): notes read tracking, archiving-only, co-assignee, export pages. Phase 3 (FINAL14 to FINAL28): Beluga links and badge colours, archive-only approval, yellow mandatory fields, Legal tab, tolerant save, clean-up. Phase 4 (FINAL29 to FINAL31): merged the owner's own edits, fixed the attachment id, yellow attachments. Phase 5 (FINAL32 to FINAL38): audit fixes, template copy, view-only from dashboards, today's requests.
Numbers: counted with git and the msapp-versions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Layer 1 package integrity: the package is rebuilt against a Studio-written reference, every control must carry its children, and the YAML and the JSON must name the same controls on every screen.
Layer 2 per-version verification: 62 scripts; each compares the new package with the previous one and lists the exact rules that changed; anything else fails.
Layer 3 static audit on the whole app: 52,810 formula rules: no unknown function names, no broken syntax patterns, every field written with Patch exists in the SharePoint schema, menus are identical on all screens.
Layer 4 Studio's own checker, run by the owner's Studio on the FINAL_3 file: 1,642 findings, all rated Medium, none High.
Layer 5 the owner opens and uses the file; for example the attachment fix was confirmed working.
Be honest about the limit: layers 1 to 3 are static. Runtime behaviour is only proven when the owner tests it in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These are the findings Studio itself reported on the owner's FINAL_3 file: 1,642 in total, all rated Medium (none High). 1,552 of them (about 95 percent) are accessibility items: tab order on interactive controls (748), focus border visibility (517) and accessible labels (287). The rest are performance and tidiness hints: counting rows of galleries, unused variables, cross-screen dependencies, collecting whole lists (which is the 2,000-row limit).
Message: functionally clean, but an accessibility pass is the biggest open quality item for an institutional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Five real examples. The missing-column error taught us to cross-check every saved field against the schema. The attachment id bug (Coalesce treats 0 as a value) was fixed in FINAL30 and the owner confirmed it works. The date filter bug hid every request created today because the default end date was midnight while requests carry a time. The Export ID search compared the typed text with the SharePoint item id. The template copy wrote the media number into the wrong variable so the title never copied.
Message: most defects were not visible from the formulas alone; they were found by tracing the data from screen to list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as reference; spend time only on the questions asked).
Each card answers one likely question with the evidence we have.
1. Tested? Verified statically on every version and used in Studio by the owner; the attachment fix was confirmed; the latest versions (FINAL31 to FINAL38) still need the owner's confirmation in Studio.
2. What must exist in SharePoint? The five lists; on Requests the Yes/No column ArchivedOnly and the person column CoAssignee; on Media files the columns the save writes. The Legal tab columns ModelRelease, Preexisting, DocFramework, DocSpecific, DocOffer and SubtitlesProvided are NOT needed.
3. Security? The app hides and locks by role; the real boundary is the SharePoint list permission, which must match.
4. Volume? The app loads at most 2,000 rows of a list per screen; it warns when the limit is reached.
5. Accessibility? Studio reports about 1,550 accessibility warnings; an accessibility pass is planned.
6. E-mails? Not from the app; a Power Automate flow is specified for archive-only approval and still has to be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points are decisions or inputs we need, not defects: the Help screen contact link still opens a placeholder e-mail address; three SharePoint single-line columns (Script/Shotlist, Episode summary, Reference links) hold 255 characters and the app does not stop longer text; the e-mail flow is not built; accessibility; the 2,000-row limit; the owner's confirmation of FINAL31 to FINAL38 in Studio.
Next steps proposed: run the test cases against the latest version, decide the two data questions, build the flow, then an accessibility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remaining time for questions.
Use slide 16 for the likely questions, the appendix for the screen inventory and the version highlights.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Controls are counted per screen from the package (1,208 controls on 15 screens). The four media tabs are the four Child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Each row is one delivered package. The full list is in the repository (msapp-versions).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B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291840"/>
            <a:ext cx="6949440" cy="11887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AV Central Deposit  |  project walkthrough</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B1B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566160"/>
            <a:ext cx="960120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1371600"/>
          </a:xfrm>
          <a:prstGeom prst="rect">
            <a:avLst/>
          </a:prstGeom>
          <a:noFill/>
          <a:ln/>
        </p:spPr>
        <p:txBody>
          <a:bodyPr wrap="square" lIns="0" tIns="0" rIns="0" bIns="0" rtlCol="0" anchor="t"/>
          <a:lstStyle/>
          <a:p>
            <a:pPr algn="l" indent="0" marL="0">
              <a:buNone/>
            </a:pPr>
            <a:r>
              <a:rPr lang="en-US" sz="5400" b="1" dirty="0">
                <a:solidFill>
                  <a:schemeClr val="bg1"/>
                </a:solidFill>
              </a:rPr>
              <a:t>AV Central Deposit</a:t>
            </a:r>
            <a:endParaRPr lang="en-US" sz="5400" dirty="0"/>
          </a:p>
        </p:txBody>
      </p:sp>
      <p:sp>
        <p:nvSpPr>
          <p:cNvPr id="3" name="Text 0"/>
          <p:cNvSpPr/>
          <p:nvPr>
            <p:ph idx="101" type="body" hasCustomPrompt="1"/>
          </p:nvPr>
        </p:nvSpPr>
        <p:spPr>
          <a:xfrm>
            <a:off x="731520" y="3291840"/>
            <a:ext cx="6949440" cy="1188720"/>
          </a:xfrm>
          <a:prstGeom prst="rect">
            <a:avLst/>
          </a:prstGeom>
          <a:noFill/>
          <a:ln/>
        </p:spPr>
        <p:txBody>
          <a:bodyPr wrap="square" lIns="0" tIns="0" rIns="0" bIns="0" rtlCol="0" anchor="t"/>
          <a:lstStyle/>
          <a:p>
            <a:pPr indent="0" marL="0">
              <a:buNone/>
            </a:pPr>
            <a:r>
              <a:rPr lang="en-US" sz="2000" dirty="0">
                <a:solidFill>
                  <a:schemeClr val="bg2"/>
                </a:solidFill>
              </a:rPr>
              <a:t>A ticket system to submit, review and archive audiovisual productions: what it does, how it was built, how it was double-checked</a:t>
            </a:r>
            <a:endParaRPr lang="en-US" sz="2000" dirty="0"/>
          </a:p>
        </p:txBody>
      </p:sp>
      <p:sp>
        <p:nvSpPr>
          <p:cNvPr id="4" name="Text 2"/>
          <p:cNvSpPr txBox="1"/>
          <p:nvPr/>
        </p:nvSpPr>
        <p:spPr>
          <a:xfrm>
            <a:off x="731520" y="5852160"/>
            <a:ext cx="5486400" cy="365760"/>
          </a:xfrm>
          <a:prstGeom prst="rect">
            <a:avLst/>
          </a:prstGeom>
          <a:noFill/>
          <a:ln/>
        </p:spPr>
        <p:txBody>
          <a:bodyPr wrap="square" lIns="0" tIns="0" rIns="0" bIns="0" rtlCol="0" anchor="ctr"/>
          <a:lstStyle/>
          <a:p>
            <a:pPr indent="0" marL="0">
              <a:buNone/>
            </a:pPr>
            <a:r>
              <a:rPr lang="en-US" sz="1400" dirty="0">
                <a:solidFill>
                  <a:schemeClr val="accent2"/>
                </a:solidFill>
              </a:rPr>
              <a:t>Project walkthrough  |  30 minutes</a:t>
            </a:r>
            <a:endParaRPr lang="en-US" sz="1400" dirty="0"/>
          </a:p>
        </p:txBody>
      </p:sp>
      <p:sp>
        <p:nvSpPr>
          <p:cNvPr id="5" name="Photo / Reportage circle"/>
          <p:cNvSpPr/>
          <p:nvPr/>
        </p:nvSpPr>
        <p:spPr>
          <a:xfrm>
            <a:off x="9052560" y="1554480"/>
            <a:ext cx="1005840" cy="1005840"/>
          </a:xfrm>
          <a:prstGeom prst="ellipse">
            <a:avLst/>
          </a:prstGeom>
          <a:solidFill>
            <a:srgbClr val="3860B2"/>
          </a:solidFill>
          <a:ln w="12700">
            <a:solidFill>
              <a:srgbClr val="3860B2"/>
            </a:solidFill>
            <a:prstDash val="solid"/>
          </a:ln>
        </p:spPr>
      </p:sp>
      <p:pic>
        <p:nvPicPr>
          <p:cNvPr id="6" name="Photo / Reportage icon" descr="Photo / Reportage">    </p:cNvPr>
          <p:cNvPicPr>
            <a:picLocks noChangeAspect="1"/>
          </p:cNvPicPr>
          <p:nvPr/>
        </p:nvPicPr>
        <p:blipFill>
          <a:blip r:embed="rId1"/>
          <a:stretch>
            <a:fillRect/>
          </a:stretch>
        </p:blipFill>
        <p:spPr>
          <a:xfrm>
            <a:off x="9293962" y="1795882"/>
            <a:ext cx="523037" cy="523037"/>
          </a:xfrm>
          <a:prstGeom prst="rect">
            <a:avLst/>
          </a:prstGeom>
        </p:spPr>
      </p:pic>
      <p:sp>
        <p:nvSpPr>
          <p:cNvPr id="7" name="Text 4"/>
          <p:cNvSpPr txBox="1"/>
          <p:nvPr/>
        </p:nvSpPr>
        <p:spPr>
          <a:xfrm>
            <a:off x="10241280" y="1828800"/>
            <a:ext cx="1737360" cy="45720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Photo / Reportage</a:t>
            </a:r>
            <a:endParaRPr lang="en-US" sz="1800" dirty="0"/>
          </a:p>
        </p:txBody>
      </p:sp>
      <p:sp>
        <p:nvSpPr>
          <p:cNvPr id="8" name="Video circle"/>
          <p:cNvSpPr/>
          <p:nvPr/>
        </p:nvSpPr>
        <p:spPr>
          <a:xfrm>
            <a:off x="9052560" y="3017520"/>
            <a:ext cx="1005840" cy="1005840"/>
          </a:xfrm>
          <a:prstGeom prst="ellipse">
            <a:avLst/>
          </a:prstGeom>
          <a:solidFill>
            <a:srgbClr val="3860B2"/>
          </a:solidFill>
          <a:ln w="12700">
            <a:solidFill>
              <a:srgbClr val="3860B2"/>
            </a:solidFill>
            <a:prstDash val="solid"/>
          </a:ln>
        </p:spPr>
      </p:sp>
      <p:pic>
        <p:nvPicPr>
          <p:cNvPr id="9" name="Video icon" descr="Video">    </p:cNvPr>
          <p:cNvPicPr>
            <a:picLocks noChangeAspect="1"/>
          </p:cNvPicPr>
          <p:nvPr/>
        </p:nvPicPr>
        <p:blipFill>
          <a:blip r:embed="rId2"/>
          <a:stretch>
            <a:fillRect/>
          </a:stretch>
        </p:blipFill>
        <p:spPr>
          <a:xfrm>
            <a:off x="9293962" y="3258922"/>
            <a:ext cx="523037" cy="523037"/>
          </a:xfrm>
          <a:prstGeom prst="rect">
            <a:avLst/>
          </a:prstGeom>
        </p:spPr>
      </p:pic>
      <p:sp>
        <p:nvSpPr>
          <p:cNvPr id="10" name="Text 6"/>
          <p:cNvSpPr txBox="1"/>
          <p:nvPr/>
        </p:nvSpPr>
        <p:spPr>
          <a:xfrm>
            <a:off x="10241280" y="3291840"/>
            <a:ext cx="1737360" cy="45720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Video</a:t>
            </a:r>
            <a:endParaRPr lang="en-US" sz="1800" dirty="0"/>
          </a:p>
        </p:txBody>
      </p:sp>
      <p:sp>
        <p:nvSpPr>
          <p:cNvPr id="11" name="Podcast circle"/>
          <p:cNvSpPr/>
          <p:nvPr/>
        </p:nvSpPr>
        <p:spPr>
          <a:xfrm>
            <a:off x="9052560" y="4480560"/>
            <a:ext cx="1005840" cy="1005840"/>
          </a:xfrm>
          <a:prstGeom prst="ellipse">
            <a:avLst/>
          </a:prstGeom>
          <a:solidFill>
            <a:srgbClr val="3860B2"/>
          </a:solidFill>
          <a:ln w="12700">
            <a:solidFill>
              <a:srgbClr val="3860B2"/>
            </a:solidFill>
            <a:prstDash val="solid"/>
          </a:ln>
        </p:spPr>
      </p:sp>
      <p:pic>
        <p:nvPicPr>
          <p:cNvPr id="12" name="Podcast icon" descr="Podcast">    </p:cNvPr>
          <p:cNvPicPr>
            <a:picLocks noChangeAspect="1"/>
          </p:cNvPicPr>
          <p:nvPr/>
        </p:nvPicPr>
        <p:blipFill>
          <a:blip r:embed="rId3"/>
          <a:stretch>
            <a:fillRect/>
          </a:stretch>
        </p:blipFill>
        <p:spPr>
          <a:xfrm>
            <a:off x="9293962" y="4721962"/>
            <a:ext cx="523037" cy="523037"/>
          </a:xfrm>
          <a:prstGeom prst="rect">
            <a:avLst/>
          </a:prstGeom>
        </p:spPr>
      </p:pic>
      <p:sp>
        <p:nvSpPr>
          <p:cNvPr id="13" name="Text 8"/>
          <p:cNvSpPr txBox="1"/>
          <p:nvPr/>
        </p:nvSpPr>
        <p:spPr>
          <a:xfrm>
            <a:off x="10241280" y="4754880"/>
            <a:ext cx="1737360" cy="45720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Podcast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Agenda: 30 minutes, six parts</a:t>
            </a:r>
            <a:endParaRPr lang="en-US" sz="3400" dirty="0"/>
          </a:p>
        </p:txBody>
      </p:sp>
      <p:sp>
        <p:nvSpPr>
          <p:cNvPr id="4" name="agenda number 1"/>
          <p:cNvSpPr/>
          <p:nvPr/>
        </p:nvSpPr>
        <p:spPr>
          <a:xfrm>
            <a:off x="548640" y="1371600"/>
            <a:ext cx="548640" cy="548640"/>
          </a:xfrm>
          <a:prstGeom prst="ellipse">
            <a:avLst/>
          </a:prstGeom>
          <a:solidFill>
            <a:srgbClr val="3860B2"/>
          </a:solidFill>
          <a:ln w="12700">
            <a:solidFill>
              <a:srgbClr val="3860B2"/>
            </a:solidFill>
            <a:prstDash val="solid"/>
          </a:ln>
        </p:spPr>
      </p:sp>
      <p:sp>
        <p:nvSpPr>
          <p:cNvPr id="5" name="Text 2"/>
          <p:cNvSpPr txBox="1"/>
          <p:nvPr/>
        </p:nvSpPr>
        <p:spPr>
          <a:xfrm>
            <a:off x="548640" y="13716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325880" y="1353312"/>
            <a:ext cx="4206240" cy="31089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Purpose and users</a:t>
            </a:r>
            <a:endParaRPr lang="en-US" sz="1800" dirty="0"/>
          </a:p>
        </p:txBody>
      </p:sp>
      <p:sp>
        <p:nvSpPr>
          <p:cNvPr id="7" name="Text 4"/>
          <p:cNvSpPr txBox="1"/>
          <p:nvPr/>
        </p:nvSpPr>
        <p:spPr>
          <a:xfrm>
            <a:off x="1325880" y="1655064"/>
            <a:ext cx="5852160" cy="27432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Why the app exists, who uses it</a:t>
            </a:r>
            <a:endParaRPr lang="en-US" sz="1400" dirty="0"/>
          </a:p>
        </p:txBody>
      </p:sp>
      <p:sp>
        <p:nvSpPr>
          <p:cNvPr id="8" name="Text 5"/>
          <p:cNvSpPr txBox="1"/>
          <p:nvPr/>
        </p:nvSpPr>
        <p:spPr>
          <a:xfrm>
            <a:off x="7498080" y="1463040"/>
            <a:ext cx="91440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4 min</a:t>
            </a:r>
            <a:endParaRPr lang="en-US" sz="1800" dirty="0"/>
          </a:p>
        </p:txBody>
      </p:sp>
      <p:sp>
        <p:nvSpPr>
          <p:cNvPr id="9" name="Text 6"/>
          <p:cNvSpPr txBox="1"/>
          <p:nvPr/>
        </p:nvSpPr>
        <p:spPr>
          <a:xfrm>
            <a:off x="8412480" y="1499616"/>
            <a:ext cx="1371600" cy="32004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slides 3-4</a:t>
            </a:r>
            <a:endParaRPr lang="en-US" sz="1400" dirty="0"/>
          </a:p>
        </p:txBody>
      </p:sp>
      <p:sp>
        <p:nvSpPr>
          <p:cNvPr id="10" name="agenda number 2"/>
          <p:cNvSpPr/>
          <p:nvPr/>
        </p:nvSpPr>
        <p:spPr>
          <a:xfrm>
            <a:off x="548640" y="2084832"/>
            <a:ext cx="548640" cy="548640"/>
          </a:xfrm>
          <a:prstGeom prst="ellipse">
            <a:avLst/>
          </a:prstGeom>
          <a:solidFill>
            <a:srgbClr val="7A30A0"/>
          </a:solidFill>
          <a:ln w="12700">
            <a:solidFill>
              <a:srgbClr val="7A30A0"/>
            </a:solidFill>
            <a:prstDash val="solid"/>
          </a:ln>
        </p:spPr>
      </p:sp>
      <p:sp>
        <p:nvSpPr>
          <p:cNvPr id="11" name="Text 8"/>
          <p:cNvSpPr txBox="1"/>
          <p:nvPr/>
        </p:nvSpPr>
        <p:spPr>
          <a:xfrm>
            <a:off x="548640" y="208483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1325880" y="2066544"/>
            <a:ext cx="4206240" cy="31089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Workflow and app tour</a:t>
            </a:r>
            <a:endParaRPr lang="en-US" sz="1800" dirty="0"/>
          </a:p>
        </p:txBody>
      </p:sp>
      <p:sp>
        <p:nvSpPr>
          <p:cNvPr id="13" name="Text 10"/>
          <p:cNvSpPr txBox="1"/>
          <p:nvPr/>
        </p:nvSpPr>
        <p:spPr>
          <a:xfrm>
            <a:off x="1325880" y="2368296"/>
            <a:ext cx="5852160" cy="27432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Statuses, dashboards, requests, media files, review, export</a:t>
            </a:r>
            <a:endParaRPr lang="en-US" sz="1400" dirty="0"/>
          </a:p>
        </p:txBody>
      </p:sp>
      <p:sp>
        <p:nvSpPr>
          <p:cNvPr id="14" name="Text 11"/>
          <p:cNvSpPr txBox="1"/>
          <p:nvPr/>
        </p:nvSpPr>
        <p:spPr>
          <a:xfrm>
            <a:off x="7498080" y="2176272"/>
            <a:ext cx="91440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10 min</a:t>
            </a:r>
            <a:endParaRPr lang="en-US" sz="1800" dirty="0"/>
          </a:p>
        </p:txBody>
      </p:sp>
      <p:sp>
        <p:nvSpPr>
          <p:cNvPr id="15" name="Text 12"/>
          <p:cNvSpPr txBox="1"/>
          <p:nvPr/>
        </p:nvSpPr>
        <p:spPr>
          <a:xfrm>
            <a:off x="8412480" y="2212848"/>
            <a:ext cx="1371600" cy="32004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slides 5-9</a:t>
            </a:r>
            <a:endParaRPr lang="en-US" sz="1400" dirty="0"/>
          </a:p>
        </p:txBody>
      </p:sp>
      <p:sp>
        <p:nvSpPr>
          <p:cNvPr id="16" name="agenda number 3"/>
          <p:cNvSpPr/>
          <p:nvPr/>
        </p:nvSpPr>
        <p:spPr>
          <a:xfrm>
            <a:off x="548640" y="2798064"/>
            <a:ext cx="548640" cy="548640"/>
          </a:xfrm>
          <a:prstGeom prst="ellipse">
            <a:avLst/>
          </a:prstGeom>
          <a:solidFill>
            <a:srgbClr val="2E9E6B"/>
          </a:solidFill>
          <a:ln w="12700">
            <a:solidFill>
              <a:srgbClr val="2E9E6B"/>
            </a:solidFill>
            <a:prstDash val="solid"/>
          </a:ln>
        </p:spPr>
      </p:sp>
      <p:sp>
        <p:nvSpPr>
          <p:cNvPr id="17" name="Text 14"/>
          <p:cNvSpPr txBox="1"/>
          <p:nvPr/>
        </p:nvSpPr>
        <p:spPr>
          <a:xfrm>
            <a:off x="548640" y="279806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5"/>
          <p:cNvSpPr txBox="1"/>
          <p:nvPr/>
        </p:nvSpPr>
        <p:spPr>
          <a:xfrm>
            <a:off x="1325880" y="2779776"/>
            <a:ext cx="4206240" cy="31089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Architecture</a:t>
            </a:r>
            <a:endParaRPr lang="en-US" sz="1800" dirty="0"/>
          </a:p>
        </p:txBody>
      </p:sp>
      <p:sp>
        <p:nvSpPr>
          <p:cNvPr id="19" name="Text 16"/>
          <p:cNvSpPr txBox="1"/>
          <p:nvPr/>
        </p:nvSpPr>
        <p:spPr>
          <a:xfrm>
            <a:off x="1325880" y="3081528"/>
            <a:ext cx="5852160" cy="27432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Power Apps, SharePoint lists, roles, e-mail flow</a:t>
            </a:r>
            <a:endParaRPr lang="en-US" sz="1400" dirty="0"/>
          </a:p>
        </p:txBody>
      </p:sp>
      <p:sp>
        <p:nvSpPr>
          <p:cNvPr id="20" name="Text 17"/>
          <p:cNvSpPr txBox="1"/>
          <p:nvPr/>
        </p:nvSpPr>
        <p:spPr>
          <a:xfrm>
            <a:off x="7498080" y="2889504"/>
            <a:ext cx="91440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3 min</a:t>
            </a:r>
            <a:endParaRPr lang="en-US" sz="1800" dirty="0"/>
          </a:p>
        </p:txBody>
      </p:sp>
      <p:sp>
        <p:nvSpPr>
          <p:cNvPr id="21" name="Text 18"/>
          <p:cNvSpPr txBox="1"/>
          <p:nvPr/>
        </p:nvSpPr>
        <p:spPr>
          <a:xfrm>
            <a:off x="8412480" y="2926080"/>
            <a:ext cx="1371600" cy="32004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slide 10</a:t>
            </a:r>
            <a:endParaRPr lang="en-US" sz="1400" dirty="0"/>
          </a:p>
        </p:txBody>
      </p:sp>
      <p:sp>
        <p:nvSpPr>
          <p:cNvPr id="22" name="agenda number 4"/>
          <p:cNvSpPr/>
          <p:nvPr/>
        </p:nvSpPr>
        <p:spPr>
          <a:xfrm>
            <a:off x="548640" y="3511296"/>
            <a:ext cx="548640" cy="548640"/>
          </a:xfrm>
          <a:prstGeom prst="ellipse">
            <a:avLst/>
          </a:prstGeom>
          <a:solidFill>
            <a:srgbClr val="0B1B6B"/>
          </a:solidFill>
          <a:ln w="12700">
            <a:solidFill>
              <a:srgbClr val="0B1B6B"/>
            </a:solidFill>
            <a:prstDash val="solid"/>
          </a:ln>
        </p:spPr>
      </p:sp>
      <p:sp>
        <p:nvSpPr>
          <p:cNvPr id="23" name="Text 20"/>
          <p:cNvSpPr txBox="1"/>
          <p:nvPr/>
        </p:nvSpPr>
        <p:spPr>
          <a:xfrm>
            <a:off x="548640" y="351129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Text 21"/>
          <p:cNvSpPr txBox="1"/>
          <p:nvPr/>
        </p:nvSpPr>
        <p:spPr>
          <a:xfrm>
            <a:off x="1325880" y="3493008"/>
            <a:ext cx="4206240" cy="31089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How it was built</a:t>
            </a:r>
            <a:endParaRPr lang="en-US" sz="1800" dirty="0"/>
          </a:p>
        </p:txBody>
      </p:sp>
      <p:sp>
        <p:nvSpPr>
          <p:cNvPr id="25" name="Text 22"/>
          <p:cNvSpPr txBox="1"/>
          <p:nvPr/>
        </p:nvSpPr>
        <p:spPr>
          <a:xfrm>
            <a:off x="1325880" y="3794760"/>
            <a:ext cx="5852160" cy="27432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Package-level editing, versions, delivery loop</a:t>
            </a:r>
            <a:endParaRPr lang="en-US" sz="1400" dirty="0"/>
          </a:p>
        </p:txBody>
      </p:sp>
      <p:sp>
        <p:nvSpPr>
          <p:cNvPr id="26" name="Text 23"/>
          <p:cNvSpPr txBox="1"/>
          <p:nvPr/>
        </p:nvSpPr>
        <p:spPr>
          <a:xfrm>
            <a:off x="7498080" y="3602736"/>
            <a:ext cx="91440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5 min</a:t>
            </a:r>
            <a:endParaRPr lang="en-US" sz="1800" dirty="0"/>
          </a:p>
        </p:txBody>
      </p:sp>
      <p:sp>
        <p:nvSpPr>
          <p:cNvPr id="27" name="Text 24"/>
          <p:cNvSpPr txBox="1"/>
          <p:nvPr/>
        </p:nvSpPr>
        <p:spPr>
          <a:xfrm>
            <a:off x="8412480" y="3639312"/>
            <a:ext cx="1371600" cy="32004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slides 11-12</a:t>
            </a:r>
            <a:endParaRPr lang="en-US" sz="1400" dirty="0"/>
          </a:p>
        </p:txBody>
      </p:sp>
      <p:sp>
        <p:nvSpPr>
          <p:cNvPr id="28" name="agenda number 5"/>
          <p:cNvSpPr/>
          <p:nvPr/>
        </p:nvSpPr>
        <p:spPr>
          <a:xfrm>
            <a:off x="548640" y="4224528"/>
            <a:ext cx="548640" cy="548640"/>
          </a:xfrm>
          <a:prstGeom prst="ellipse">
            <a:avLst/>
          </a:prstGeom>
          <a:solidFill>
            <a:srgbClr val="C0392B"/>
          </a:solidFill>
          <a:ln w="12700">
            <a:solidFill>
              <a:srgbClr val="C0392B"/>
            </a:solidFill>
            <a:prstDash val="solid"/>
          </a:ln>
        </p:spPr>
      </p:sp>
      <p:sp>
        <p:nvSpPr>
          <p:cNvPr id="29" name="Text 26"/>
          <p:cNvSpPr txBox="1"/>
          <p:nvPr/>
        </p:nvSpPr>
        <p:spPr>
          <a:xfrm>
            <a:off x="548640" y="422452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0" name="Text 27"/>
          <p:cNvSpPr txBox="1"/>
          <p:nvPr/>
        </p:nvSpPr>
        <p:spPr>
          <a:xfrm>
            <a:off x="1325880" y="4206240"/>
            <a:ext cx="4206240" cy="31089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How it was double-checked</a:t>
            </a:r>
            <a:endParaRPr lang="en-US" sz="1800" dirty="0"/>
          </a:p>
        </p:txBody>
      </p:sp>
      <p:sp>
        <p:nvSpPr>
          <p:cNvPr id="31" name="Text 28"/>
          <p:cNvSpPr txBox="1"/>
          <p:nvPr/>
        </p:nvSpPr>
        <p:spPr>
          <a:xfrm>
            <a:off x="1325880" y="4507992"/>
            <a:ext cx="5852160" cy="27432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Layers of checks, what they found</a:t>
            </a:r>
            <a:endParaRPr lang="en-US" sz="1400" dirty="0"/>
          </a:p>
        </p:txBody>
      </p:sp>
      <p:sp>
        <p:nvSpPr>
          <p:cNvPr id="32" name="Text 29"/>
          <p:cNvSpPr txBox="1"/>
          <p:nvPr/>
        </p:nvSpPr>
        <p:spPr>
          <a:xfrm>
            <a:off x="7498080" y="4315968"/>
            <a:ext cx="91440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5 min</a:t>
            </a:r>
            <a:endParaRPr lang="en-US" sz="1800" dirty="0"/>
          </a:p>
        </p:txBody>
      </p:sp>
      <p:sp>
        <p:nvSpPr>
          <p:cNvPr id="33" name="Text 30"/>
          <p:cNvSpPr txBox="1"/>
          <p:nvPr/>
        </p:nvSpPr>
        <p:spPr>
          <a:xfrm>
            <a:off x="8412480" y="4352544"/>
            <a:ext cx="1371600" cy="32004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slides 13-15</a:t>
            </a:r>
            <a:endParaRPr lang="en-US" sz="1400" dirty="0"/>
          </a:p>
        </p:txBody>
      </p:sp>
      <p:sp>
        <p:nvSpPr>
          <p:cNvPr id="34" name="agenda number 6"/>
          <p:cNvSpPr/>
          <p:nvPr/>
        </p:nvSpPr>
        <p:spPr>
          <a:xfrm>
            <a:off x="548640" y="4937760"/>
            <a:ext cx="548640" cy="548640"/>
          </a:xfrm>
          <a:prstGeom prst="ellipse">
            <a:avLst/>
          </a:prstGeom>
          <a:solidFill>
            <a:srgbClr val="8A93A6"/>
          </a:solidFill>
          <a:ln w="12700">
            <a:solidFill>
              <a:srgbClr val="8A93A6"/>
            </a:solidFill>
            <a:prstDash val="solid"/>
          </a:ln>
        </p:spPr>
      </p:sp>
      <p:sp>
        <p:nvSpPr>
          <p:cNvPr id="35" name="Text 32"/>
          <p:cNvSpPr txBox="1"/>
          <p:nvPr/>
        </p:nvSpPr>
        <p:spPr>
          <a:xfrm>
            <a:off x="548640" y="4937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6" name="Text 33"/>
          <p:cNvSpPr txBox="1"/>
          <p:nvPr/>
        </p:nvSpPr>
        <p:spPr>
          <a:xfrm>
            <a:off x="1325880" y="4919472"/>
            <a:ext cx="4206240" cy="31089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Questions, open points, next steps</a:t>
            </a:r>
            <a:endParaRPr lang="en-US" sz="1800" dirty="0"/>
          </a:p>
        </p:txBody>
      </p:sp>
      <p:sp>
        <p:nvSpPr>
          <p:cNvPr id="37" name="Text 34"/>
          <p:cNvSpPr txBox="1"/>
          <p:nvPr/>
        </p:nvSpPr>
        <p:spPr>
          <a:xfrm>
            <a:off x="1325880" y="5221224"/>
            <a:ext cx="5852160" cy="27432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Prepared answers, what is still open</a:t>
            </a:r>
            <a:endParaRPr lang="en-US" sz="1400" dirty="0"/>
          </a:p>
        </p:txBody>
      </p:sp>
      <p:sp>
        <p:nvSpPr>
          <p:cNvPr id="38" name="Text 35"/>
          <p:cNvSpPr txBox="1"/>
          <p:nvPr/>
        </p:nvSpPr>
        <p:spPr>
          <a:xfrm>
            <a:off x="7498080" y="5029200"/>
            <a:ext cx="91440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3 min</a:t>
            </a:r>
            <a:endParaRPr lang="en-US" sz="1800" dirty="0"/>
          </a:p>
        </p:txBody>
      </p:sp>
      <p:sp>
        <p:nvSpPr>
          <p:cNvPr id="39" name="Text 36"/>
          <p:cNvSpPr txBox="1"/>
          <p:nvPr/>
        </p:nvSpPr>
        <p:spPr>
          <a:xfrm>
            <a:off x="8412480" y="5065776"/>
            <a:ext cx="1371600" cy="320040"/>
          </a:xfrm>
          <a:prstGeom prst="rect">
            <a:avLst/>
          </a:prstGeom>
          <a:noFill/>
          <a:ln/>
        </p:spPr>
        <p:txBody>
          <a:bodyPr wrap="square" lIns="0" tIns="0" rIns="0" bIns="0" rtlCol="0" anchor="t"/>
          <a:lstStyle/>
          <a:p>
            <a:pPr indent="0" marL="0">
              <a:spcAft>
                <a:spcPts val="400"/>
              </a:spcAft>
              <a:buNone/>
            </a:pPr>
            <a:r>
              <a:rPr lang="en-US" sz="1400" dirty="0">
                <a:solidFill>
                  <a:schemeClr val="accent6"/>
                </a:solidFill>
              </a:rPr>
              <a:t>slides 16-17</a:t>
            </a:r>
            <a:endParaRPr lang="en-US" sz="1400" dirty="0"/>
          </a:p>
        </p:txBody>
      </p:sp>
      <p:sp>
        <p:nvSpPr>
          <p:cNvPr id="40" name="time block 1"/>
          <p:cNvSpPr/>
          <p:nvPr/>
        </p:nvSpPr>
        <p:spPr>
          <a:xfrm>
            <a:off x="548640" y="5806440"/>
            <a:ext cx="1438656" cy="347472"/>
          </a:xfrm>
          <a:prstGeom prst="rect">
            <a:avLst/>
          </a:prstGeom>
          <a:solidFill>
            <a:srgbClr val="3860B2"/>
          </a:solidFill>
          <a:ln w="12700">
            <a:solidFill>
              <a:srgbClr val="3860B2"/>
            </a:solidFill>
            <a:prstDash val="solid"/>
          </a:ln>
        </p:spPr>
      </p:sp>
      <p:sp>
        <p:nvSpPr>
          <p:cNvPr id="41" name="Text 38"/>
          <p:cNvSpPr txBox="1"/>
          <p:nvPr/>
        </p:nvSpPr>
        <p:spPr>
          <a:xfrm>
            <a:off x="548640" y="5806440"/>
            <a:ext cx="1438656"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2" name="time block 2"/>
          <p:cNvSpPr/>
          <p:nvPr/>
        </p:nvSpPr>
        <p:spPr>
          <a:xfrm>
            <a:off x="2023872" y="5806440"/>
            <a:ext cx="3651504" cy="347472"/>
          </a:xfrm>
          <a:prstGeom prst="rect">
            <a:avLst/>
          </a:prstGeom>
          <a:solidFill>
            <a:srgbClr val="7A30A0"/>
          </a:solidFill>
          <a:ln w="12700">
            <a:solidFill>
              <a:srgbClr val="7A30A0"/>
            </a:solidFill>
            <a:prstDash val="solid"/>
          </a:ln>
        </p:spPr>
      </p:sp>
      <p:sp>
        <p:nvSpPr>
          <p:cNvPr id="43" name="Text 40"/>
          <p:cNvSpPr txBox="1"/>
          <p:nvPr/>
        </p:nvSpPr>
        <p:spPr>
          <a:xfrm>
            <a:off x="2023872" y="5806440"/>
            <a:ext cx="3651504" cy="347472"/>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44" name="time block 3"/>
          <p:cNvSpPr/>
          <p:nvPr/>
        </p:nvSpPr>
        <p:spPr>
          <a:xfrm>
            <a:off x="5711952" y="5806440"/>
            <a:ext cx="1069848" cy="347472"/>
          </a:xfrm>
          <a:prstGeom prst="rect">
            <a:avLst/>
          </a:prstGeom>
          <a:solidFill>
            <a:srgbClr val="2E9E6B"/>
          </a:solidFill>
          <a:ln w="12700">
            <a:solidFill>
              <a:srgbClr val="2E9E6B"/>
            </a:solidFill>
            <a:prstDash val="solid"/>
          </a:ln>
        </p:spPr>
      </p:sp>
      <p:sp>
        <p:nvSpPr>
          <p:cNvPr id="45" name="Text 42"/>
          <p:cNvSpPr txBox="1"/>
          <p:nvPr/>
        </p:nvSpPr>
        <p:spPr>
          <a:xfrm>
            <a:off x="5711952" y="5806440"/>
            <a:ext cx="1069848"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6" name="time block 4"/>
          <p:cNvSpPr/>
          <p:nvPr/>
        </p:nvSpPr>
        <p:spPr>
          <a:xfrm>
            <a:off x="6818376" y="5806440"/>
            <a:ext cx="1807464" cy="347472"/>
          </a:xfrm>
          <a:prstGeom prst="rect">
            <a:avLst/>
          </a:prstGeom>
          <a:solidFill>
            <a:srgbClr val="0B1B6B"/>
          </a:solidFill>
          <a:ln w="12700">
            <a:solidFill>
              <a:srgbClr val="0B1B6B"/>
            </a:solidFill>
            <a:prstDash val="solid"/>
          </a:ln>
        </p:spPr>
      </p:sp>
      <p:sp>
        <p:nvSpPr>
          <p:cNvPr id="47" name="Text 44"/>
          <p:cNvSpPr txBox="1"/>
          <p:nvPr/>
        </p:nvSpPr>
        <p:spPr>
          <a:xfrm>
            <a:off x="6818376" y="5806440"/>
            <a:ext cx="1807464"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8" name="time block 5"/>
          <p:cNvSpPr/>
          <p:nvPr/>
        </p:nvSpPr>
        <p:spPr>
          <a:xfrm>
            <a:off x="8662416" y="5806440"/>
            <a:ext cx="1807464" cy="347472"/>
          </a:xfrm>
          <a:prstGeom prst="rect">
            <a:avLst/>
          </a:prstGeom>
          <a:solidFill>
            <a:srgbClr val="C0392B"/>
          </a:solidFill>
          <a:ln w="12700">
            <a:solidFill>
              <a:srgbClr val="C0392B"/>
            </a:solidFill>
            <a:prstDash val="solid"/>
          </a:ln>
        </p:spPr>
      </p:sp>
      <p:sp>
        <p:nvSpPr>
          <p:cNvPr id="49" name="Text 46"/>
          <p:cNvSpPr txBox="1"/>
          <p:nvPr/>
        </p:nvSpPr>
        <p:spPr>
          <a:xfrm>
            <a:off x="8662416" y="5806440"/>
            <a:ext cx="1807464"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50" name="time block 6"/>
          <p:cNvSpPr/>
          <p:nvPr/>
        </p:nvSpPr>
        <p:spPr>
          <a:xfrm>
            <a:off x="10506456" y="5806440"/>
            <a:ext cx="1069848" cy="347472"/>
          </a:xfrm>
          <a:prstGeom prst="rect">
            <a:avLst/>
          </a:prstGeom>
          <a:solidFill>
            <a:srgbClr val="8A93A6"/>
          </a:solidFill>
          <a:ln w="12700">
            <a:solidFill>
              <a:srgbClr val="8A93A6"/>
            </a:solidFill>
            <a:prstDash val="solid"/>
          </a:ln>
        </p:spPr>
      </p:sp>
      <p:sp>
        <p:nvSpPr>
          <p:cNvPr id="51" name="Text 48"/>
          <p:cNvSpPr txBox="1"/>
          <p:nvPr/>
        </p:nvSpPr>
        <p:spPr>
          <a:xfrm>
            <a:off x="10506456" y="5806440"/>
            <a:ext cx="1069848"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2" name="Text 49"/>
          <p:cNvSpPr txBox="1"/>
          <p:nvPr/>
        </p:nvSpPr>
        <p:spPr>
          <a:xfrm>
            <a:off x="548640" y="6172200"/>
            <a:ext cx="7315200" cy="228600"/>
          </a:xfrm>
          <a:prstGeom prst="rect">
            <a:avLst/>
          </a:prstGeom>
          <a:noFill/>
          <a:ln/>
        </p:spPr>
        <p:txBody>
          <a:bodyPr wrap="square" lIns="0" tIns="0" rIns="0" bIns="0" rtlCol="0" anchor="t"/>
          <a:lstStyle/>
          <a:p>
            <a:pPr indent="0" marL="0">
              <a:spcAft>
                <a:spcPts val="400"/>
              </a:spcAft>
              <a:buNone/>
            </a:pPr>
            <a:r>
              <a:rPr lang="en-US" sz="1000" dirty="0">
                <a:solidFill>
                  <a:schemeClr val="accent6"/>
                </a:solidFill>
              </a:rPr>
              <a:t>Time split of the 30 minutes (minutes per block)</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Submit, review and archive in one place</a:t>
            </a:r>
            <a:endParaRPr lang="en-US" sz="3400" dirty="0"/>
          </a:p>
        </p:txBody>
      </p:sp>
      <p:sp>
        <p:nvSpPr>
          <p:cNvPr id="4" name="Text 1"/>
          <p:cNvSpPr txBox="1"/>
          <p:nvPr/>
        </p:nvSpPr>
        <p:spPr>
          <a:xfrm>
            <a:off x="548640" y="1463040"/>
            <a:ext cx="5943600" cy="4206240"/>
          </a:xfrm>
          <a:prstGeom prst="rect">
            <a:avLst/>
          </a:prstGeom>
          <a:noFill/>
          <a:ln/>
        </p:spPr>
        <p:txBody>
          <a:bodyPr wrap="square" lIns="0" tIns="0" rIns="0" bIns="0" rtlCol="0" anchor="t"/>
          <a:lstStyle/>
          <a:p>
            <a:pPr marL="203200" indent="-203200">
              <a:spcAft>
                <a:spcPts val="1200"/>
              </a:spcAft>
              <a:buSzPct val="100000"/>
              <a:buChar char="•"/>
            </a:pPr>
            <a:r>
              <a:rPr lang="en-US" sz="1800" dirty="0">
                <a:solidFill>
                  <a:schemeClr val="tx1"/>
                </a:solidFill>
              </a:rPr>
              <a:t>DG COMM and associated services submit audiovisual productions for archiving</a:t>
            </a:r>
            <a:endParaRPr lang="en-US" sz="1800" dirty="0"/>
          </a:p>
          <a:p>
            <a:pPr marL="203200" indent="-203200">
              <a:spcAft>
                <a:spcPts val="1200"/>
              </a:spcAft>
              <a:buSzPct val="100000"/>
              <a:buChar char="•"/>
            </a:pPr>
            <a:r>
              <a:rPr lang="en-US" sz="1800" dirty="0">
                <a:solidFill>
                  <a:schemeClr val="tx1"/>
                </a:solidFill>
              </a:rPr>
              <a:t>One request groups one or more media files of ONE production type: Photo/Reportage, Video or Podcast</a:t>
            </a:r>
            <a:endParaRPr lang="en-US" sz="1800" dirty="0"/>
          </a:p>
          <a:p>
            <a:pPr marL="203200" indent="-203200">
              <a:spcAft>
                <a:spcPts val="1200"/>
              </a:spcAft>
              <a:buSzPct val="100000"/>
              <a:buChar char="•"/>
            </a:pPr>
            <a:r>
              <a:rPr lang="en-US" sz="1800" dirty="0">
                <a:solidFill>
                  <a:schemeClr val="tx1"/>
                </a:solidFill>
              </a:rPr>
              <a:t>Each request goes through a review workflow before it is approved for deposit</a:t>
            </a:r>
            <a:endParaRPr lang="en-US" sz="1800" dirty="0"/>
          </a:p>
          <a:p>
            <a:pPr marL="203200" indent="-203200">
              <a:spcAft>
                <a:spcPts val="1200"/>
              </a:spcAft>
              <a:buSzPct val="100000"/>
              <a:buChar char="•"/>
            </a:pPr>
            <a:r>
              <a:rPr lang="en-US" sz="1800" dirty="0">
                <a:solidFill>
                  <a:schemeClr val="tx1"/>
                </a:solidFill>
              </a:rPr>
              <a:t>Contacts, legal declarations, attachments and notes travel with the request</a:t>
            </a:r>
            <a:endParaRPr lang="en-US" sz="1800" dirty="0"/>
          </a:p>
          <a:p>
            <a:pPr marL="203200" indent="-203200">
              <a:spcAft>
                <a:spcPts val="1200"/>
              </a:spcAft>
              <a:buSzPct val="100000"/>
              <a:buChar char="•"/>
            </a:pPr>
            <a:r>
              <a:rPr lang="en-US" sz="1800" dirty="0">
                <a:solidFill>
                  <a:schemeClr val="tx1"/>
                </a:solidFill>
              </a:rPr>
              <a:t>Administrators can approve for publication or for archiving only</a:t>
            </a:r>
            <a:endParaRPr lang="en-US" sz="1800" dirty="0"/>
          </a:p>
        </p:txBody>
      </p:sp>
      <p:sp>
        <p:nvSpPr>
          <p:cNvPr id="5" name="stat card screens"/>
          <p:cNvSpPr/>
          <p:nvPr/>
        </p:nvSpPr>
        <p:spPr>
          <a:xfrm>
            <a:off x="7040880" y="1463040"/>
            <a:ext cx="21945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7040880" y="1783080"/>
            <a:ext cx="2194560" cy="868680"/>
          </a:xfrm>
          <a:prstGeom prst="rect">
            <a:avLst/>
          </a:prstGeom>
          <a:noFill/>
          <a:ln/>
        </p:spPr>
        <p:txBody>
          <a:bodyPr wrap="square" lIns="0" tIns="0" rIns="0" bIns="0" rtlCol="0" anchor="t"/>
          <a:lstStyle/>
          <a:p>
            <a:pPr algn="ctr" indent="0" marL="0">
              <a:spcAft>
                <a:spcPts val="400"/>
              </a:spcAft>
              <a:buNone/>
            </a:pPr>
            <a:r>
              <a:rPr lang="en-US" sz="4800" b="1" dirty="0">
                <a:solidFill>
                  <a:schemeClr val="tx2"/>
                </a:solidFill>
              </a:rPr>
              <a:t>15</a:t>
            </a:r>
            <a:endParaRPr lang="en-US" sz="4800" dirty="0"/>
          </a:p>
        </p:txBody>
      </p:sp>
      <p:sp>
        <p:nvSpPr>
          <p:cNvPr id="7" name="Text 4"/>
          <p:cNvSpPr txBox="1"/>
          <p:nvPr/>
        </p:nvSpPr>
        <p:spPr>
          <a:xfrm>
            <a:off x="7040880" y="2697480"/>
            <a:ext cx="219456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accent1"/>
                </a:solidFill>
              </a:rPr>
              <a:t>screens</a:t>
            </a:r>
            <a:endParaRPr lang="en-US" sz="1500" dirty="0"/>
          </a:p>
        </p:txBody>
      </p:sp>
      <p:sp>
        <p:nvSpPr>
          <p:cNvPr id="8" name="stat card controls"/>
          <p:cNvSpPr/>
          <p:nvPr/>
        </p:nvSpPr>
        <p:spPr>
          <a:xfrm>
            <a:off x="9418320" y="1463040"/>
            <a:ext cx="21945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9418320" y="1783080"/>
            <a:ext cx="2194560" cy="868680"/>
          </a:xfrm>
          <a:prstGeom prst="rect">
            <a:avLst/>
          </a:prstGeom>
          <a:noFill/>
          <a:ln/>
        </p:spPr>
        <p:txBody>
          <a:bodyPr wrap="square" lIns="0" tIns="0" rIns="0" bIns="0" rtlCol="0" anchor="t"/>
          <a:lstStyle/>
          <a:p>
            <a:pPr algn="ctr" indent="0" marL="0">
              <a:spcAft>
                <a:spcPts val="400"/>
              </a:spcAft>
              <a:buNone/>
            </a:pPr>
            <a:r>
              <a:rPr lang="en-US" sz="4800" b="1" dirty="0">
                <a:solidFill>
                  <a:schemeClr val="tx2"/>
                </a:solidFill>
              </a:rPr>
              <a:t>1,208</a:t>
            </a:r>
            <a:endParaRPr lang="en-US" sz="4800" dirty="0"/>
          </a:p>
        </p:txBody>
      </p:sp>
      <p:sp>
        <p:nvSpPr>
          <p:cNvPr id="10" name="Text 7"/>
          <p:cNvSpPr txBox="1"/>
          <p:nvPr/>
        </p:nvSpPr>
        <p:spPr>
          <a:xfrm>
            <a:off x="9418320" y="2697480"/>
            <a:ext cx="219456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accent1"/>
                </a:solidFill>
              </a:rPr>
              <a:t>controls</a:t>
            </a:r>
            <a:endParaRPr lang="en-US" sz="1500" dirty="0"/>
          </a:p>
        </p:txBody>
      </p:sp>
      <p:sp>
        <p:nvSpPr>
          <p:cNvPr id="11" name="stat card SharePoint lists"/>
          <p:cNvSpPr/>
          <p:nvPr/>
        </p:nvSpPr>
        <p:spPr>
          <a:xfrm>
            <a:off x="7040880" y="3657600"/>
            <a:ext cx="21945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9"/>
          <p:cNvSpPr txBox="1"/>
          <p:nvPr/>
        </p:nvSpPr>
        <p:spPr>
          <a:xfrm>
            <a:off x="7040880" y="3977640"/>
            <a:ext cx="2194560" cy="868680"/>
          </a:xfrm>
          <a:prstGeom prst="rect">
            <a:avLst/>
          </a:prstGeom>
          <a:noFill/>
          <a:ln/>
        </p:spPr>
        <p:txBody>
          <a:bodyPr wrap="square" lIns="0" tIns="0" rIns="0" bIns="0" rtlCol="0" anchor="t"/>
          <a:lstStyle/>
          <a:p>
            <a:pPr algn="ctr" indent="0" marL="0">
              <a:spcAft>
                <a:spcPts val="400"/>
              </a:spcAft>
              <a:buNone/>
            </a:pPr>
            <a:r>
              <a:rPr lang="en-US" sz="4800" b="1" dirty="0">
                <a:solidFill>
                  <a:schemeClr val="tx2"/>
                </a:solidFill>
              </a:rPr>
              <a:t>5</a:t>
            </a:r>
            <a:endParaRPr lang="en-US" sz="4800" dirty="0"/>
          </a:p>
        </p:txBody>
      </p:sp>
      <p:sp>
        <p:nvSpPr>
          <p:cNvPr id="13" name="Text 10"/>
          <p:cNvSpPr txBox="1"/>
          <p:nvPr/>
        </p:nvSpPr>
        <p:spPr>
          <a:xfrm>
            <a:off x="7040880" y="4892040"/>
            <a:ext cx="219456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accent1"/>
                </a:solidFill>
              </a:rPr>
              <a:t>SharePoint lists</a:t>
            </a:r>
            <a:endParaRPr lang="en-US" sz="1500" dirty="0"/>
          </a:p>
        </p:txBody>
      </p:sp>
      <p:sp>
        <p:nvSpPr>
          <p:cNvPr id="14" name="stat card production types"/>
          <p:cNvSpPr/>
          <p:nvPr/>
        </p:nvSpPr>
        <p:spPr>
          <a:xfrm>
            <a:off x="9418320" y="3657600"/>
            <a:ext cx="219456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9418320" y="3977640"/>
            <a:ext cx="2194560" cy="868680"/>
          </a:xfrm>
          <a:prstGeom prst="rect">
            <a:avLst/>
          </a:prstGeom>
          <a:noFill/>
          <a:ln/>
        </p:spPr>
        <p:txBody>
          <a:bodyPr wrap="square" lIns="0" tIns="0" rIns="0" bIns="0" rtlCol="0" anchor="t"/>
          <a:lstStyle/>
          <a:p>
            <a:pPr algn="ctr" indent="0" marL="0">
              <a:spcAft>
                <a:spcPts val="400"/>
              </a:spcAft>
              <a:buNone/>
            </a:pPr>
            <a:r>
              <a:rPr lang="en-US" sz="4800" b="1" dirty="0">
                <a:solidFill>
                  <a:schemeClr val="tx2"/>
                </a:solidFill>
              </a:rPr>
              <a:t>3</a:t>
            </a:r>
            <a:endParaRPr lang="en-US" sz="4800" dirty="0"/>
          </a:p>
        </p:txBody>
      </p:sp>
      <p:sp>
        <p:nvSpPr>
          <p:cNvPr id="16" name="Text 13"/>
          <p:cNvSpPr txBox="1"/>
          <p:nvPr/>
        </p:nvSpPr>
        <p:spPr>
          <a:xfrm>
            <a:off x="9418320" y="4892040"/>
            <a:ext cx="219456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accent1"/>
                </a:solidFill>
              </a:rPr>
              <a:t>production types</a:t>
            </a:r>
            <a:endParaRPr lang="en-US" sz="1500" dirty="0"/>
          </a:p>
        </p:txBody>
      </p:sp>
      <p:sp>
        <p:nvSpPr>
          <p:cNvPr id="17" name="Text 14"/>
          <p:cNvSpPr txBox="1"/>
          <p:nvPr/>
        </p:nvSpPr>
        <p:spPr>
          <a:xfrm>
            <a:off x="7040880" y="5943600"/>
            <a:ext cx="4572000" cy="274320"/>
          </a:xfrm>
          <a:prstGeom prst="rect">
            <a:avLst/>
          </a:prstGeom>
          <a:noFill/>
          <a:ln/>
        </p:spPr>
        <p:txBody>
          <a:bodyPr wrap="square" lIns="0" tIns="0" rIns="0" bIns="0" rtlCol="0" anchor="t"/>
          <a:lstStyle/>
          <a:p>
            <a:pPr indent="0" marL="0">
              <a:spcAft>
                <a:spcPts val="400"/>
              </a:spcAft>
              <a:buNone/>
            </a:pPr>
            <a:r>
              <a:rPr lang="en-US" sz="1000" dirty="0">
                <a:solidFill>
                  <a:schemeClr val="accent6"/>
                </a:solidFill>
              </a:rPr>
              <a:t>Counted from package FINAL38 (15 screens plus the App object)</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Two roles with different powers</a:t>
            </a:r>
            <a:endParaRPr lang="en-US" sz="3400" dirty="0"/>
          </a:p>
        </p:txBody>
      </p:sp>
      <p:sp>
        <p:nvSpPr>
          <p:cNvPr id="4" name="role card REQUESTOR"/>
          <p:cNvSpPr/>
          <p:nvPr/>
        </p:nvSpPr>
        <p:spPr>
          <a:xfrm>
            <a:off x="548640" y="1417320"/>
            <a:ext cx="5394960" cy="4480560"/>
          </a:xfrm>
          <a:prstGeom prst="roundRect">
            <a:avLst>
              <a:gd name="adj" fmla="val 16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REQUESTOR circle"/>
          <p:cNvSpPr/>
          <p:nvPr/>
        </p:nvSpPr>
        <p:spPr>
          <a:xfrm>
            <a:off x="868680" y="1691640"/>
            <a:ext cx="822960" cy="822960"/>
          </a:xfrm>
          <a:prstGeom prst="ellipse">
            <a:avLst/>
          </a:prstGeom>
          <a:solidFill>
            <a:srgbClr val="3860B2"/>
          </a:solidFill>
          <a:ln w="12700">
            <a:solidFill>
              <a:srgbClr val="3860B2"/>
            </a:solidFill>
            <a:prstDash val="solid"/>
          </a:ln>
        </p:spPr>
      </p:sp>
      <p:pic>
        <p:nvPicPr>
          <p:cNvPr id="6" name="REQUESTOR icon" descr="REQUESTOR">    </p:cNvPr>
          <p:cNvPicPr>
            <a:picLocks noChangeAspect="1"/>
          </p:cNvPicPr>
          <p:nvPr/>
        </p:nvPicPr>
        <p:blipFill>
          <a:blip r:embed="rId1"/>
          <a:stretch>
            <a:fillRect/>
          </a:stretch>
        </p:blipFill>
        <p:spPr>
          <a:xfrm>
            <a:off x="1066190" y="1889150"/>
            <a:ext cx="427939" cy="427939"/>
          </a:xfrm>
          <a:prstGeom prst="rect">
            <a:avLst/>
          </a:prstGeom>
        </p:spPr>
      </p:pic>
      <p:sp>
        <p:nvSpPr>
          <p:cNvPr id="7" name="Text 3"/>
          <p:cNvSpPr txBox="1"/>
          <p:nvPr/>
        </p:nvSpPr>
        <p:spPr>
          <a:xfrm>
            <a:off x="1874520" y="1920240"/>
            <a:ext cx="3840480" cy="411480"/>
          </a:xfrm>
          <a:prstGeom prst="rect">
            <a:avLst/>
          </a:prstGeom>
          <a:noFill/>
          <a:ln/>
        </p:spPr>
        <p:txBody>
          <a:bodyPr wrap="square" lIns="0" tIns="0" rIns="0" bIns="0" rtlCol="0" anchor="t"/>
          <a:lstStyle/>
          <a:p>
            <a:pPr indent="0" marL="0">
              <a:spcAft>
                <a:spcPts val="400"/>
              </a:spcAft>
              <a:buNone/>
            </a:pPr>
            <a:r>
              <a:rPr lang="en-US" sz="2400" b="1" dirty="0">
                <a:solidFill>
                  <a:schemeClr val="tx2"/>
                </a:solidFill>
              </a:rPr>
              <a:t>REQUESTOR</a:t>
            </a:r>
            <a:endParaRPr lang="en-US" sz="2400" dirty="0"/>
          </a:p>
        </p:txBody>
      </p:sp>
      <p:sp>
        <p:nvSpPr>
          <p:cNvPr id="8" name="Text 4"/>
          <p:cNvSpPr txBox="1"/>
          <p:nvPr/>
        </p:nvSpPr>
        <p:spPr>
          <a:xfrm>
            <a:off x="914400" y="2834640"/>
            <a:ext cx="4754880" cy="29260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Creates a request and adds media files</a:t>
            </a:r>
            <a:endParaRPr lang="en-US" sz="1600" dirty="0"/>
          </a:p>
          <a:p>
            <a:pPr marL="203200" indent="-203200">
              <a:spcAft>
                <a:spcPts val="1000"/>
              </a:spcAft>
              <a:buSzPct val="100000"/>
              <a:buChar char="•"/>
            </a:pPr>
            <a:r>
              <a:rPr lang="en-US" sz="1600" dirty="0">
                <a:solidFill>
                  <a:schemeClr val="tx1"/>
                </a:solidFill>
              </a:rPr>
              <a:t>Edits it while Draft or sent back; locked while Processing</a:t>
            </a:r>
            <a:endParaRPr lang="en-US" sz="1600" dirty="0"/>
          </a:p>
          <a:p>
            <a:pPr marL="203200" indent="-203200">
              <a:spcAft>
                <a:spcPts val="1000"/>
              </a:spcAft>
              <a:buSzPct val="100000"/>
              <a:buChar char="•"/>
            </a:pPr>
            <a:r>
              <a:rPr lang="en-US" sz="1600" dirty="0">
                <a:solidFill>
                  <a:schemeClr val="tx1"/>
                </a:solidFill>
              </a:rPr>
              <a:t>Writes requestor notes in the Message Center</a:t>
            </a:r>
            <a:endParaRPr lang="en-US" sz="1600" dirty="0"/>
          </a:p>
          <a:p>
            <a:pPr marL="203200" indent="-203200">
              <a:spcAft>
                <a:spcPts val="1000"/>
              </a:spcAft>
              <a:buSzPct val="100000"/>
              <a:buChar char="•"/>
            </a:pPr>
            <a:r>
              <a:rPr lang="en-US" sz="1600" dirty="0">
                <a:solidFill>
                  <a:schemeClr val="tx1"/>
                </a:solidFill>
              </a:rPr>
              <a:t>Sees only their own requests and their own dashboard</a:t>
            </a:r>
            <a:endParaRPr lang="en-US" sz="1600" dirty="0"/>
          </a:p>
          <a:p>
            <a:pPr marL="203200" indent="-203200">
              <a:spcAft>
                <a:spcPts val="1000"/>
              </a:spcAft>
              <a:buSzPct val="100000"/>
              <a:buChar char="•"/>
            </a:pPr>
            <a:r>
              <a:rPr lang="en-US" sz="1600" dirty="0">
                <a:solidFill>
                  <a:schemeClr val="tx1"/>
                </a:solidFill>
              </a:rPr>
              <a:t>Resubmits after a rejection or a request for information</a:t>
            </a:r>
            <a:endParaRPr lang="en-US" sz="1600" dirty="0"/>
          </a:p>
        </p:txBody>
      </p:sp>
      <p:sp>
        <p:nvSpPr>
          <p:cNvPr id="9" name="role card ADMINISTRATOR"/>
          <p:cNvSpPr/>
          <p:nvPr/>
        </p:nvSpPr>
        <p:spPr>
          <a:xfrm>
            <a:off x="6217920" y="1417320"/>
            <a:ext cx="5394960" cy="4480560"/>
          </a:xfrm>
          <a:prstGeom prst="roundRect">
            <a:avLst>
              <a:gd name="adj" fmla="val 16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ADMINISTRATOR circle"/>
          <p:cNvSpPr/>
          <p:nvPr/>
        </p:nvSpPr>
        <p:spPr>
          <a:xfrm>
            <a:off x="6537960" y="1691640"/>
            <a:ext cx="822960" cy="822960"/>
          </a:xfrm>
          <a:prstGeom prst="ellipse">
            <a:avLst/>
          </a:prstGeom>
          <a:solidFill>
            <a:srgbClr val="0B1B6B"/>
          </a:solidFill>
          <a:ln w="12700">
            <a:solidFill>
              <a:srgbClr val="0B1B6B"/>
            </a:solidFill>
            <a:prstDash val="solid"/>
          </a:ln>
        </p:spPr>
      </p:sp>
      <p:pic>
        <p:nvPicPr>
          <p:cNvPr id="11" name="ADMINISTRATOR icon" descr="ADMINISTRATOR">    </p:cNvPr>
          <p:cNvPicPr>
            <a:picLocks noChangeAspect="1"/>
          </p:cNvPicPr>
          <p:nvPr/>
        </p:nvPicPr>
        <p:blipFill>
          <a:blip r:embed="rId2"/>
          <a:stretch>
            <a:fillRect/>
          </a:stretch>
        </p:blipFill>
        <p:spPr>
          <a:xfrm>
            <a:off x="6735470" y="1889150"/>
            <a:ext cx="427939" cy="427939"/>
          </a:xfrm>
          <a:prstGeom prst="rect">
            <a:avLst/>
          </a:prstGeom>
        </p:spPr>
      </p:pic>
      <p:sp>
        <p:nvSpPr>
          <p:cNvPr id="12" name="Text 7"/>
          <p:cNvSpPr txBox="1"/>
          <p:nvPr/>
        </p:nvSpPr>
        <p:spPr>
          <a:xfrm>
            <a:off x="7543800" y="1920240"/>
            <a:ext cx="3840480" cy="411480"/>
          </a:xfrm>
          <a:prstGeom prst="rect">
            <a:avLst/>
          </a:prstGeom>
          <a:noFill/>
          <a:ln/>
        </p:spPr>
        <p:txBody>
          <a:bodyPr wrap="square" lIns="0" tIns="0" rIns="0" bIns="0" rtlCol="0" anchor="t"/>
          <a:lstStyle/>
          <a:p>
            <a:pPr indent="0" marL="0">
              <a:spcAft>
                <a:spcPts val="400"/>
              </a:spcAft>
              <a:buNone/>
            </a:pPr>
            <a:r>
              <a:rPr lang="en-US" sz="2400" b="1" dirty="0">
                <a:solidFill>
                  <a:schemeClr val="tx2"/>
                </a:solidFill>
              </a:rPr>
              <a:t>ADMINISTRATOR</a:t>
            </a:r>
            <a:endParaRPr lang="en-US" sz="2400" dirty="0"/>
          </a:p>
        </p:txBody>
      </p:sp>
      <p:sp>
        <p:nvSpPr>
          <p:cNvPr id="13" name="Text 8"/>
          <p:cNvSpPr txBox="1"/>
          <p:nvPr/>
        </p:nvSpPr>
        <p:spPr>
          <a:xfrm>
            <a:off x="6583680" y="2834640"/>
            <a:ext cx="4754880" cy="29260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Sees all requests except drafts; reviews them</a:t>
            </a:r>
            <a:endParaRPr lang="en-US" sz="1600" dirty="0"/>
          </a:p>
          <a:p>
            <a:pPr marL="203200" indent="-203200">
              <a:spcAft>
                <a:spcPts val="1000"/>
              </a:spcAft>
              <a:buSzPct val="100000"/>
              <a:buChar char="•"/>
            </a:pPr>
            <a:r>
              <a:rPr lang="en-US" sz="1600" dirty="0">
                <a:solidFill>
                  <a:schemeClr val="tx1"/>
                </a:solidFill>
              </a:rPr>
              <a:t>Approve, partially approve, reject or ask for information</a:t>
            </a:r>
            <a:endParaRPr lang="en-US" sz="1600" dirty="0"/>
          </a:p>
          <a:p>
            <a:pPr marL="203200" indent="-203200">
              <a:spcAft>
                <a:spcPts val="1000"/>
              </a:spcAft>
              <a:buSzPct val="100000"/>
              <a:buChar char="•"/>
            </a:pPr>
            <a:r>
              <a:rPr lang="en-US" sz="1600" dirty="0">
                <a:solidFill>
                  <a:schemeClr val="tx1"/>
                </a:solidFill>
              </a:rPr>
              <a:t>Assigns an assignee and a co-assignee (max 2 people)</a:t>
            </a:r>
            <a:endParaRPr lang="en-US" sz="1600" dirty="0"/>
          </a:p>
          <a:p>
            <a:pPr marL="203200" indent="-203200">
              <a:spcAft>
                <a:spcPts val="1000"/>
              </a:spcAft>
              <a:buSzPct val="100000"/>
              <a:buChar char="•"/>
            </a:pPr>
            <a:r>
              <a:rPr lang="en-US" sz="1600" dirty="0">
                <a:solidFill>
                  <a:schemeClr val="tx1"/>
                </a:solidFill>
              </a:rPr>
              <a:t>Approves media file by file; sets the Beluga reference</a:t>
            </a:r>
            <a:endParaRPr lang="en-US" sz="1600" dirty="0"/>
          </a:p>
          <a:p>
            <a:pPr marL="203200" indent="-203200">
              <a:spcAft>
                <a:spcPts val="1000"/>
              </a:spcAft>
              <a:buSzPct val="100000"/>
              <a:buChar char="•"/>
            </a:pPr>
            <a:r>
              <a:rPr lang="en-US" sz="1600" dirty="0">
                <a:solidFill>
                  <a:schemeClr val="tx1"/>
                </a:solidFill>
              </a:rPr>
              <a:t>Can approve for archiving only, with a reason sent to the requestor</a:t>
            </a:r>
            <a:endParaRPr lang="en-US" sz="1600" dirty="0"/>
          </a:p>
        </p:txBody>
      </p:sp>
      <p:sp>
        <p:nvSpPr>
          <p:cNvPr id="14" name="Text 9"/>
          <p:cNvSpPr txBox="1"/>
          <p:nvPr/>
        </p:nvSpPr>
        <p:spPr>
          <a:xfrm>
            <a:off x="548640" y="5989320"/>
            <a:ext cx="8229600" cy="274320"/>
          </a:xfrm>
          <a:prstGeom prst="rect">
            <a:avLst/>
          </a:prstGeom>
          <a:noFill/>
          <a:ln/>
        </p:spPr>
        <p:txBody>
          <a:bodyPr wrap="square" lIns="0" tIns="0" rIns="0" bIns="0" rtlCol="0" anchor="t"/>
          <a:lstStyle/>
          <a:p>
            <a:pPr indent="0" marL="0">
              <a:spcAft>
                <a:spcPts val="400"/>
              </a:spcAft>
              <a:buNone/>
            </a:pPr>
            <a:r>
              <a:rPr lang="en-US" sz="1000" dirty="0">
                <a:solidFill>
                  <a:schemeClr val="accent6"/>
                </a:solidFill>
              </a:rPr>
              <a:t>Role source: AV-CD-RolesPermissionsList (user e-mail to role); default REQUESTOR</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Request status flow</a:t>
            </a:r>
            <a:endParaRPr lang="en-US" sz="3400" dirty="0"/>
          </a:p>
        </p:txBody>
      </p:sp>
      <p:sp>
        <p:nvSpPr>
          <p:cNvPr id="4" name="status Draft"/>
          <p:cNvSpPr/>
          <p:nvPr/>
        </p:nvSpPr>
        <p:spPr>
          <a:xfrm>
            <a:off x="548640" y="2148840"/>
            <a:ext cx="1645920" cy="640080"/>
          </a:xfrm>
          <a:prstGeom prst="roundRect">
            <a:avLst>
              <a:gd name="adj" fmla="val 50000"/>
            </a:avLst>
          </a:prstGeom>
          <a:solidFill>
            <a:srgbClr val="8A93A6"/>
          </a:solidFill>
          <a:ln w="12700">
            <a:solidFill>
              <a:srgbClr val="8A93A6"/>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548640" y="2148840"/>
            <a:ext cx="1645920" cy="640080"/>
          </a:xfrm>
          <a:prstGeom prst="rect">
            <a:avLst/>
          </a:prstGeom>
          <a:noFill/>
          <a:ln/>
        </p:spPr>
        <p:txBody>
          <a:bodyPr wrap="square" lIns="0" tIns="0" rIns="0" bIns="0" rtlCol="0" anchor="ctr"/>
          <a:lstStyle/>
          <a:p>
            <a:pPr algn="ctr" indent="0" marL="0">
              <a:buNone/>
            </a:pPr>
            <a:r>
              <a:rPr lang="en-US" sz="1600" b="1" dirty="0">
                <a:solidFill>
                  <a:schemeClr val="bg1"/>
                </a:solidFill>
              </a:rPr>
              <a:t>Draft</a:t>
            </a:r>
            <a:endParaRPr lang="en-US" sz="1600" dirty="0"/>
          </a:p>
        </p:txBody>
      </p:sp>
      <p:sp>
        <p:nvSpPr>
          <p:cNvPr id="6" name="arrow submit"/>
          <p:cNvSpPr/>
          <p:nvPr/>
        </p:nvSpPr>
        <p:spPr>
          <a:xfrm>
            <a:off x="2194560" y="2468880"/>
            <a:ext cx="868680" cy="0"/>
          </a:xfrm>
          <a:prstGeom prst="line">
            <a:avLst/>
          </a:prstGeom>
          <a:noFill/>
          <a:ln w="25400">
            <a:solidFill>
              <a:srgbClr val="8A93A6"/>
            </a:solidFill>
            <a:prstDash val="solid"/>
            <a:tailEnd type="triangle"/>
          </a:ln>
        </p:spPr>
      </p:sp>
      <p:sp>
        <p:nvSpPr>
          <p:cNvPr id="7" name="Text 4"/>
          <p:cNvSpPr txBox="1"/>
          <p:nvPr/>
        </p:nvSpPr>
        <p:spPr>
          <a:xfrm>
            <a:off x="2240280" y="2011680"/>
            <a:ext cx="822960" cy="274320"/>
          </a:xfrm>
          <a:prstGeom prst="rect">
            <a:avLst/>
          </a:prstGeom>
          <a:noFill/>
          <a:ln/>
        </p:spPr>
        <p:txBody>
          <a:bodyPr wrap="square" lIns="0" tIns="0" rIns="0" bIns="0" rtlCol="0" anchor="t"/>
          <a:lstStyle/>
          <a:p>
            <a:pPr algn="ctr" indent="0" marL="0">
              <a:spcAft>
                <a:spcPts val="400"/>
              </a:spcAft>
              <a:buNone/>
            </a:pPr>
            <a:r>
              <a:rPr lang="en-US" sz="1200" dirty="0">
                <a:solidFill>
                  <a:schemeClr val="accent6"/>
                </a:solidFill>
              </a:rPr>
              <a:t>Submit</a:t>
            </a:r>
            <a:endParaRPr lang="en-US" sz="1200" dirty="0"/>
          </a:p>
        </p:txBody>
      </p:sp>
      <p:sp>
        <p:nvSpPr>
          <p:cNvPr id="8" name="status Processing"/>
          <p:cNvSpPr/>
          <p:nvPr/>
        </p:nvSpPr>
        <p:spPr>
          <a:xfrm>
            <a:off x="3063240" y="2148840"/>
            <a:ext cx="2011680" cy="640080"/>
          </a:xfrm>
          <a:prstGeom prst="roundRect">
            <a:avLst>
              <a:gd name="adj" fmla="val 50000"/>
            </a:avLst>
          </a:prstGeom>
          <a:solidFill>
            <a:srgbClr val="3860B2"/>
          </a:solidFill>
          <a:ln w="12700">
            <a:solidFill>
              <a:srgbClr val="3860B2"/>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3063240" y="2148840"/>
            <a:ext cx="2011680" cy="640080"/>
          </a:xfrm>
          <a:prstGeom prst="rect">
            <a:avLst/>
          </a:prstGeom>
          <a:noFill/>
          <a:ln/>
        </p:spPr>
        <p:txBody>
          <a:bodyPr wrap="square" lIns="0" tIns="0" rIns="0" bIns="0" rtlCol="0" anchor="ctr"/>
          <a:lstStyle/>
          <a:p>
            <a:pPr algn="ctr" indent="0" marL="0">
              <a:buNone/>
            </a:pPr>
            <a:r>
              <a:rPr lang="en-US" sz="1600" b="1" dirty="0">
                <a:solidFill>
                  <a:schemeClr val="bg1"/>
                </a:solidFill>
              </a:rPr>
              <a:t>Processing</a:t>
            </a:r>
            <a:endParaRPr lang="en-US" sz="1600" dirty="0"/>
          </a:p>
        </p:txBody>
      </p:sp>
      <p:sp>
        <p:nvSpPr>
          <p:cNvPr id="10" name="arrow approved"/>
          <p:cNvSpPr/>
          <p:nvPr/>
        </p:nvSpPr>
        <p:spPr>
          <a:xfrm>
            <a:off x="5074920" y="2468880"/>
            <a:ext cx="960120" cy="-960120"/>
          </a:xfrm>
          <a:prstGeom prst="line">
            <a:avLst/>
          </a:prstGeom>
          <a:noFill/>
          <a:ln w="25400">
            <a:solidFill>
              <a:srgbClr val="8A93A6"/>
            </a:solidFill>
            <a:prstDash val="solid"/>
            <a:tailEnd type="triangle"/>
          </a:ln>
        </p:spPr>
      </p:sp>
      <p:sp>
        <p:nvSpPr>
          <p:cNvPr id="11" name="arrow partial"/>
          <p:cNvSpPr/>
          <p:nvPr/>
        </p:nvSpPr>
        <p:spPr>
          <a:xfrm>
            <a:off x="5074920" y="2468880"/>
            <a:ext cx="960120" cy="0"/>
          </a:xfrm>
          <a:prstGeom prst="line">
            <a:avLst/>
          </a:prstGeom>
          <a:noFill/>
          <a:ln w="25400">
            <a:solidFill>
              <a:srgbClr val="8A93A6"/>
            </a:solidFill>
            <a:prstDash val="solid"/>
            <a:tailEnd type="triangle"/>
          </a:ln>
        </p:spPr>
      </p:sp>
      <p:sp>
        <p:nvSpPr>
          <p:cNvPr id="12" name="arrow rejected"/>
          <p:cNvSpPr/>
          <p:nvPr/>
        </p:nvSpPr>
        <p:spPr>
          <a:xfrm>
            <a:off x="5074920" y="2468880"/>
            <a:ext cx="960120" cy="960120"/>
          </a:xfrm>
          <a:prstGeom prst="line">
            <a:avLst/>
          </a:prstGeom>
          <a:noFill/>
          <a:ln w="25400">
            <a:solidFill>
              <a:srgbClr val="8A93A6"/>
            </a:solidFill>
            <a:prstDash val="solid"/>
            <a:tailEnd type="triangle"/>
          </a:ln>
        </p:spPr>
      </p:sp>
      <p:sp>
        <p:nvSpPr>
          <p:cNvPr id="13" name="status Approved"/>
          <p:cNvSpPr/>
          <p:nvPr/>
        </p:nvSpPr>
        <p:spPr>
          <a:xfrm>
            <a:off x="6035040" y="1188720"/>
            <a:ext cx="2377440" cy="640080"/>
          </a:xfrm>
          <a:prstGeom prst="roundRect">
            <a:avLst>
              <a:gd name="adj" fmla="val 50000"/>
            </a:avLst>
          </a:prstGeom>
          <a:solidFill>
            <a:srgbClr val="2E9E6B"/>
          </a:solidFill>
          <a:ln w="12700">
            <a:solidFill>
              <a:srgbClr val="2E9E6B"/>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6035040" y="1188720"/>
            <a:ext cx="2377440" cy="640080"/>
          </a:xfrm>
          <a:prstGeom prst="rect">
            <a:avLst/>
          </a:prstGeom>
          <a:noFill/>
          <a:ln/>
        </p:spPr>
        <p:txBody>
          <a:bodyPr wrap="square" lIns="0" tIns="0" rIns="0" bIns="0" rtlCol="0" anchor="ctr"/>
          <a:lstStyle/>
          <a:p>
            <a:pPr algn="ctr" indent="0" marL="0">
              <a:buNone/>
            </a:pPr>
            <a:r>
              <a:rPr lang="en-US" sz="1600" b="1" dirty="0">
                <a:solidFill>
                  <a:schemeClr val="bg1"/>
                </a:solidFill>
              </a:rPr>
              <a:t>Approved</a:t>
            </a:r>
            <a:endParaRPr lang="en-US" sz="1600" dirty="0"/>
          </a:p>
        </p:txBody>
      </p:sp>
      <p:sp>
        <p:nvSpPr>
          <p:cNvPr id="15" name="status Partially approved"/>
          <p:cNvSpPr/>
          <p:nvPr/>
        </p:nvSpPr>
        <p:spPr>
          <a:xfrm>
            <a:off x="6035040" y="2148840"/>
            <a:ext cx="2377440" cy="640080"/>
          </a:xfrm>
          <a:prstGeom prst="roundRect">
            <a:avLst>
              <a:gd name="adj" fmla="val 50000"/>
            </a:avLst>
          </a:prstGeom>
          <a:solidFill>
            <a:srgbClr val="2E9E6B"/>
          </a:solidFill>
          <a:ln w="12700">
            <a:solidFill>
              <a:srgbClr val="2E9E6B"/>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6035040" y="2148840"/>
            <a:ext cx="2377440" cy="640080"/>
          </a:xfrm>
          <a:prstGeom prst="rect">
            <a:avLst/>
          </a:prstGeom>
          <a:noFill/>
          <a:ln/>
        </p:spPr>
        <p:txBody>
          <a:bodyPr wrap="square" lIns="0" tIns="0" rIns="0" bIns="0" rtlCol="0" anchor="ctr"/>
          <a:lstStyle/>
          <a:p>
            <a:pPr algn="ctr" indent="0" marL="0">
              <a:buNone/>
            </a:pPr>
            <a:r>
              <a:rPr lang="en-US" sz="1600" b="1" dirty="0">
                <a:solidFill>
                  <a:schemeClr val="bg1"/>
                </a:solidFill>
              </a:rPr>
              <a:t>Partially approved</a:t>
            </a:r>
            <a:endParaRPr lang="en-US" sz="1600" dirty="0"/>
          </a:p>
        </p:txBody>
      </p:sp>
      <p:sp>
        <p:nvSpPr>
          <p:cNvPr id="17" name="status Rejected"/>
          <p:cNvSpPr/>
          <p:nvPr/>
        </p:nvSpPr>
        <p:spPr>
          <a:xfrm>
            <a:off x="6035040" y="3108960"/>
            <a:ext cx="2377440" cy="640080"/>
          </a:xfrm>
          <a:prstGeom prst="roundRect">
            <a:avLst>
              <a:gd name="adj" fmla="val 50000"/>
            </a:avLst>
          </a:prstGeom>
          <a:solidFill>
            <a:srgbClr val="C0392B"/>
          </a:solidFill>
          <a:ln w="12700">
            <a:solidFill>
              <a:srgbClr val="C0392B"/>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6035040" y="3108960"/>
            <a:ext cx="2377440" cy="640080"/>
          </a:xfrm>
          <a:prstGeom prst="rect">
            <a:avLst/>
          </a:prstGeom>
          <a:noFill/>
          <a:ln/>
        </p:spPr>
        <p:txBody>
          <a:bodyPr wrap="square" lIns="0" tIns="0" rIns="0" bIns="0" rtlCol="0" anchor="ctr"/>
          <a:lstStyle/>
          <a:p>
            <a:pPr algn="ctr" indent="0" marL="0">
              <a:buNone/>
            </a:pPr>
            <a:r>
              <a:rPr lang="en-US" sz="1600" b="1" dirty="0">
                <a:solidFill>
                  <a:schemeClr val="bg1"/>
                </a:solidFill>
              </a:rPr>
              <a:t>Rejected</a:t>
            </a:r>
            <a:endParaRPr lang="en-US" sz="1600" dirty="0"/>
          </a:p>
        </p:txBody>
      </p:sp>
      <p:sp>
        <p:nvSpPr>
          <p:cNvPr id="19" name="status Published"/>
          <p:cNvSpPr/>
          <p:nvPr/>
        </p:nvSpPr>
        <p:spPr>
          <a:xfrm>
            <a:off x="9052560" y="2148840"/>
            <a:ext cx="2560320" cy="640080"/>
          </a:xfrm>
          <a:prstGeom prst="roundRect">
            <a:avLst>
              <a:gd name="adj" fmla="val 50000"/>
            </a:avLst>
          </a:prstGeom>
          <a:solidFill>
            <a:srgbClr val="7A30A0"/>
          </a:solidFill>
          <a:ln w="12700">
            <a:solidFill>
              <a:srgbClr val="7A30A0"/>
            </a:solidFill>
            <a:prstDash val="solid"/>
          </a:ln>
          <a:effectLst>
            <a:outerShdw sx="100000" sy="100000" kx="0" ky="0" algn="bl" rotWithShape="0" blurRad="101600" dist="25400" dir="5400000">
              <a:srgbClr val="000000">
                <a:alpha val="12000"/>
              </a:srgbClr>
            </a:outerShdw>
          </a:effectLst>
        </p:spPr>
      </p:sp>
      <p:sp>
        <p:nvSpPr>
          <p:cNvPr id="20" name="Text 17"/>
          <p:cNvSpPr txBox="1"/>
          <p:nvPr/>
        </p:nvSpPr>
        <p:spPr>
          <a:xfrm>
            <a:off x="9052560" y="2148840"/>
            <a:ext cx="2560320" cy="640080"/>
          </a:xfrm>
          <a:prstGeom prst="rect">
            <a:avLst/>
          </a:prstGeom>
          <a:noFill/>
          <a:ln/>
        </p:spPr>
        <p:txBody>
          <a:bodyPr wrap="square" lIns="0" tIns="0" rIns="0" bIns="0" rtlCol="0" anchor="ctr"/>
          <a:lstStyle/>
          <a:p>
            <a:pPr algn="ctr" indent="0" marL="0">
              <a:buNone/>
            </a:pPr>
            <a:r>
              <a:rPr lang="en-US" sz="1600" b="1" dirty="0">
                <a:solidFill>
                  <a:schemeClr val="bg1"/>
                </a:solidFill>
              </a:rPr>
              <a:t>Published *</a:t>
            </a:r>
            <a:endParaRPr lang="en-US" sz="1600" dirty="0"/>
          </a:p>
        </p:txBody>
      </p:sp>
      <p:sp>
        <p:nvSpPr>
          <p:cNvPr id="21" name="arrow publish a"/>
          <p:cNvSpPr/>
          <p:nvPr/>
        </p:nvSpPr>
        <p:spPr>
          <a:xfrm>
            <a:off x="8412480" y="1508760"/>
            <a:ext cx="640080" cy="822960"/>
          </a:xfrm>
          <a:prstGeom prst="line">
            <a:avLst/>
          </a:prstGeom>
          <a:noFill/>
          <a:ln w="25400">
            <a:solidFill>
              <a:srgbClr val="8A93A6"/>
            </a:solidFill>
            <a:prstDash val="solid"/>
            <a:tailEnd type="triangle"/>
          </a:ln>
        </p:spPr>
      </p:sp>
      <p:sp>
        <p:nvSpPr>
          <p:cNvPr id="22" name="arrow publish b"/>
          <p:cNvSpPr/>
          <p:nvPr/>
        </p:nvSpPr>
        <p:spPr>
          <a:xfrm>
            <a:off x="8412480" y="2468880"/>
            <a:ext cx="640080" cy="0"/>
          </a:xfrm>
          <a:prstGeom prst="line">
            <a:avLst/>
          </a:prstGeom>
          <a:noFill/>
          <a:ln w="25400">
            <a:solidFill>
              <a:srgbClr val="8A93A6"/>
            </a:solidFill>
            <a:prstDash val="solid"/>
            <a:tailEnd type="triangle"/>
          </a:ln>
        </p:spPr>
      </p:sp>
      <p:sp>
        <p:nvSpPr>
          <p:cNvPr id="23" name="status Pending"/>
          <p:cNvSpPr/>
          <p:nvPr/>
        </p:nvSpPr>
        <p:spPr>
          <a:xfrm>
            <a:off x="3063240" y="3566160"/>
            <a:ext cx="2011680" cy="640080"/>
          </a:xfrm>
          <a:prstGeom prst="roundRect">
            <a:avLst>
              <a:gd name="adj" fmla="val 50000"/>
            </a:avLst>
          </a:prstGeom>
          <a:solidFill>
            <a:srgbClr val="FFCC00"/>
          </a:solidFill>
          <a:ln w="12700">
            <a:solidFill>
              <a:srgbClr val="FFCC00"/>
            </a:solidFill>
            <a:prstDash val="solid"/>
          </a:ln>
          <a:effectLst>
            <a:outerShdw sx="100000" sy="100000" kx="0" ky="0" algn="bl" rotWithShape="0" blurRad="101600" dist="25400" dir="5400000">
              <a:srgbClr val="000000">
                <a:alpha val="12000"/>
              </a:srgbClr>
            </a:outerShdw>
          </a:effectLst>
        </p:spPr>
      </p:sp>
      <p:sp>
        <p:nvSpPr>
          <p:cNvPr id="24" name="Text 21"/>
          <p:cNvSpPr txBox="1"/>
          <p:nvPr/>
        </p:nvSpPr>
        <p:spPr>
          <a:xfrm>
            <a:off x="3063240" y="3566160"/>
            <a:ext cx="2011680" cy="640080"/>
          </a:xfrm>
          <a:prstGeom prst="rect">
            <a:avLst/>
          </a:prstGeom>
          <a:noFill/>
          <a:ln/>
        </p:spPr>
        <p:txBody>
          <a:bodyPr wrap="square" lIns="0" tIns="0" rIns="0" bIns="0" rtlCol="0" anchor="ctr"/>
          <a:lstStyle/>
          <a:p>
            <a:pPr algn="ctr" indent="0" marL="0">
              <a:buNone/>
            </a:pPr>
            <a:r>
              <a:rPr lang="en-US" sz="1600" b="1" dirty="0">
                <a:solidFill>
                  <a:schemeClr val="tx1"/>
                </a:solidFill>
              </a:rPr>
              <a:t>Pending</a:t>
            </a:r>
            <a:endParaRPr lang="en-US" sz="1600" dirty="0"/>
          </a:p>
        </p:txBody>
      </p:sp>
      <p:sp>
        <p:nvSpPr>
          <p:cNvPr id="25" name="arrow need info"/>
          <p:cNvSpPr/>
          <p:nvPr/>
        </p:nvSpPr>
        <p:spPr>
          <a:xfrm>
            <a:off x="3657600" y="2788920"/>
            <a:ext cx="0" cy="777240"/>
          </a:xfrm>
          <a:prstGeom prst="line">
            <a:avLst/>
          </a:prstGeom>
          <a:noFill/>
          <a:ln w="25400">
            <a:solidFill>
              <a:srgbClr val="8A93A6"/>
            </a:solidFill>
            <a:prstDash val="solid"/>
            <a:tailEnd type="triangle"/>
          </a:ln>
        </p:spPr>
      </p:sp>
      <p:sp>
        <p:nvSpPr>
          <p:cNvPr id="26" name="Text 23"/>
          <p:cNvSpPr txBox="1"/>
          <p:nvPr/>
        </p:nvSpPr>
        <p:spPr>
          <a:xfrm>
            <a:off x="2377440" y="3063240"/>
            <a:ext cx="1188720" cy="274320"/>
          </a:xfrm>
          <a:prstGeom prst="rect">
            <a:avLst/>
          </a:prstGeom>
          <a:noFill/>
          <a:ln/>
        </p:spPr>
        <p:txBody>
          <a:bodyPr wrap="square" lIns="0" tIns="0" rIns="0" bIns="0" rtlCol="0" anchor="t"/>
          <a:lstStyle/>
          <a:p>
            <a:pPr algn="r" indent="0" marL="0">
              <a:spcAft>
                <a:spcPts val="400"/>
              </a:spcAft>
              <a:buNone/>
            </a:pPr>
            <a:r>
              <a:rPr lang="en-US" sz="1200" dirty="0">
                <a:solidFill>
                  <a:schemeClr val="accent6"/>
                </a:solidFill>
              </a:rPr>
              <a:t>Need info</a:t>
            </a:r>
            <a:endParaRPr lang="en-US" sz="1200" dirty="0"/>
          </a:p>
        </p:txBody>
      </p:sp>
      <p:sp>
        <p:nvSpPr>
          <p:cNvPr id="27" name="arrow resubmit"/>
          <p:cNvSpPr/>
          <p:nvPr/>
        </p:nvSpPr>
        <p:spPr>
          <a:xfrm>
            <a:off x="4480560" y="3566160"/>
            <a:ext cx="0" cy="-777240"/>
          </a:xfrm>
          <a:prstGeom prst="line">
            <a:avLst/>
          </a:prstGeom>
          <a:noFill/>
          <a:ln w="25400">
            <a:solidFill>
              <a:srgbClr val="8A93A6"/>
            </a:solidFill>
            <a:prstDash val="solid"/>
            <a:tailEnd type="triangle"/>
          </a:ln>
        </p:spPr>
      </p:sp>
      <p:sp>
        <p:nvSpPr>
          <p:cNvPr id="28" name="Text 25"/>
          <p:cNvSpPr txBox="1"/>
          <p:nvPr/>
        </p:nvSpPr>
        <p:spPr>
          <a:xfrm>
            <a:off x="4572000" y="3063240"/>
            <a:ext cx="1280160" cy="27432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Resubmit</a:t>
            </a:r>
            <a:endParaRPr lang="en-US" sz="1200" dirty="0"/>
          </a:p>
        </p:txBody>
      </p:sp>
      <p:sp>
        <p:nvSpPr>
          <p:cNvPr id="29" name="Text 26"/>
          <p:cNvSpPr txBox="1"/>
          <p:nvPr/>
        </p:nvSpPr>
        <p:spPr>
          <a:xfrm>
            <a:off x="548640" y="6144768"/>
            <a:ext cx="9144000" cy="228600"/>
          </a:xfrm>
          <a:prstGeom prst="rect">
            <a:avLst/>
          </a:prstGeom>
          <a:noFill/>
          <a:ln/>
        </p:spPr>
        <p:txBody>
          <a:bodyPr wrap="square" lIns="0" tIns="0" rIns="0" bIns="0" rtlCol="0" anchor="t"/>
          <a:lstStyle/>
          <a:p>
            <a:pPr indent="0" marL="0">
              <a:spcAft>
                <a:spcPts val="400"/>
              </a:spcAft>
              <a:buNone/>
            </a:pPr>
            <a:r>
              <a:rPr lang="en-US" sz="1000" dirty="0">
                <a:solidFill>
                  <a:schemeClr val="accent6"/>
                </a:solidFill>
              </a:rPr>
              <a:t>* The Publish button exists in the app but is hidden; the Published status feeds the KPIs</a:t>
            </a:r>
            <a:endParaRPr lang="en-US" sz="1000" dirty="0"/>
          </a:p>
        </p:txBody>
      </p:sp>
      <p:sp>
        <p:nvSpPr>
          <p:cNvPr id="30" name="media file card"/>
          <p:cNvSpPr/>
          <p:nvPr/>
        </p:nvSpPr>
        <p:spPr>
          <a:xfrm>
            <a:off x="548640" y="4617720"/>
            <a:ext cx="53949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1" name="Text 28"/>
          <p:cNvSpPr txBox="1"/>
          <p:nvPr/>
        </p:nvSpPr>
        <p:spPr>
          <a:xfrm>
            <a:off x="777240" y="4709160"/>
            <a:ext cx="4937760"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Media file states</a:t>
            </a:r>
            <a:endParaRPr lang="en-US" sz="1600" dirty="0"/>
          </a:p>
        </p:txBody>
      </p:sp>
      <p:sp>
        <p:nvSpPr>
          <p:cNvPr id="32" name="Text 29"/>
          <p:cNvSpPr txBox="1"/>
          <p:nvPr/>
        </p:nvSpPr>
        <p:spPr>
          <a:xfrm>
            <a:off x="777240" y="5074920"/>
            <a:ext cx="4937760"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Draft, then Pending Approval when saved, then approved one by one by the administrator</a:t>
            </a:r>
            <a:endParaRPr lang="en-US" sz="1400" dirty="0"/>
          </a:p>
        </p:txBody>
      </p:sp>
      <p:sp>
        <p:nvSpPr>
          <p:cNvPr id="33" name="archive only card"/>
          <p:cNvSpPr/>
          <p:nvPr/>
        </p:nvSpPr>
        <p:spPr>
          <a:xfrm>
            <a:off x="6217920" y="4617720"/>
            <a:ext cx="53949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4" name="Text 31"/>
          <p:cNvSpPr txBox="1"/>
          <p:nvPr/>
        </p:nvSpPr>
        <p:spPr>
          <a:xfrm>
            <a:off x="6446520" y="4709160"/>
            <a:ext cx="4937760"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Archiving only, not publication</a:t>
            </a:r>
            <a:endParaRPr lang="en-US" sz="1600" dirty="0"/>
          </a:p>
        </p:txBody>
      </p:sp>
      <p:sp>
        <p:nvSpPr>
          <p:cNvPr id="35" name="Text 32"/>
          <p:cNvSpPr txBox="1"/>
          <p:nvPr/>
        </p:nvSpPr>
        <p:spPr>
          <a:xfrm>
            <a:off x="6446520" y="5074920"/>
            <a:ext cx="4937760"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Ticked on the request; the administrator can approve as archive-only with a reason that reaches the requestor</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Tour 1: dashboards and request list</a:t>
            </a:r>
            <a:endParaRPr lang="en-US" sz="3400" dirty="0"/>
          </a:p>
        </p:txBody>
      </p:sp>
      <p:sp>
        <p:nvSpPr>
          <p:cNvPr id="4" name="tour1 card Role dashboards"/>
          <p:cNvSpPr/>
          <p:nvPr/>
        </p:nvSpPr>
        <p:spPr>
          <a:xfrm>
            <a:off x="548640" y="1417320"/>
            <a:ext cx="3566160" cy="4617720"/>
          </a:xfrm>
          <a:prstGeom prst="roundRect">
            <a:avLst>
              <a:gd name="adj" fmla="val 205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Role dashboards circle"/>
          <p:cNvSpPr/>
          <p:nvPr/>
        </p:nvSpPr>
        <p:spPr>
          <a:xfrm>
            <a:off x="822960" y="1691640"/>
            <a:ext cx="777240" cy="777240"/>
          </a:xfrm>
          <a:prstGeom prst="ellipse">
            <a:avLst/>
          </a:prstGeom>
          <a:solidFill>
            <a:srgbClr val="0B1B6B"/>
          </a:solidFill>
          <a:ln w="12700">
            <a:solidFill>
              <a:srgbClr val="0B1B6B"/>
            </a:solidFill>
            <a:prstDash val="solid"/>
          </a:ln>
        </p:spPr>
      </p:sp>
      <p:pic>
        <p:nvPicPr>
          <p:cNvPr id="6" name="Role dashboards icon" descr="Role dashboards">    </p:cNvPr>
          <p:cNvPicPr>
            <a:picLocks noChangeAspect="1"/>
          </p:cNvPicPr>
          <p:nvPr/>
        </p:nvPicPr>
        <p:blipFill>
          <a:blip r:embed="rId1"/>
          <a:stretch>
            <a:fillRect/>
          </a:stretch>
        </p:blipFill>
        <p:spPr>
          <a:xfrm>
            <a:off x="1009498" y="1878178"/>
            <a:ext cx="404165" cy="404165"/>
          </a:xfrm>
          <a:prstGeom prst="rect">
            <a:avLst/>
          </a:prstGeom>
        </p:spPr>
      </p:pic>
      <p:sp>
        <p:nvSpPr>
          <p:cNvPr id="7" name="Text 3"/>
          <p:cNvSpPr txBox="1"/>
          <p:nvPr/>
        </p:nvSpPr>
        <p:spPr>
          <a:xfrm>
            <a:off x="1737360" y="1874520"/>
            <a:ext cx="2286000" cy="4572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Role dashboards</a:t>
            </a:r>
            <a:endParaRPr lang="en-US" sz="1900" dirty="0"/>
          </a:p>
        </p:txBody>
      </p:sp>
      <p:sp>
        <p:nvSpPr>
          <p:cNvPr id="8" name="Text 4"/>
          <p:cNvSpPr txBox="1"/>
          <p:nvPr/>
        </p:nvSpPr>
        <p:spPr>
          <a:xfrm>
            <a:off x="822960" y="2834640"/>
            <a:ext cx="3108960" cy="310896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chemeClr val="tx1"/>
                </a:solidFill>
              </a:rPr>
              <a:t>Three lists per role: needs my attention, latest updates, final validations</a:t>
            </a:r>
            <a:endParaRPr lang="en-US" sz="1700" dirty="0"/>
          </a:p>
          <a:p>
            <a:pPr marL="203200" indent="-203200">
              <a:spcAft>
                <a:spcPts val="1200"/>
              </a:spcAft>
              <a:buSzPct val="100000"/>
              <a:buChar char="•"/>
            </a:pPr>
            <a:r>
              <a:rPr lang="en-US" sz="1700" dirty="0">
                <a:solidFill>
                  <a:schemeClr val="tx1"/>
                </a:solidFill>
              </a:rPr>
              <a:t>Row badges: notes, days left to the shooting date</a:t>
            </a:r>
            <a:endParaRPr lang="en-US" sz="1700" dirty="0"/>
          </a:p>
          <a:p>
            <a:pPr marL="203200" indent="-203200">
              <a:spcAft>
                <a:spcPts val="1200"/>
              </a:spcAft>
              <a:buSzPct val="100000"/>
              <a:buChar char="•"/>
            </a:pPr>
            <a:r>
              <a:rPr lang="en-US" sz="1700" dirty="0">
                <a:solidFill>
                  <a:schemeClr val="tx1"/>
                </a:solidFill>
              </a:rPr>
              <a:t>A request ID opens the details in view-only mode</a:t>
            </a:r>
            <a:endParaRPr lang="en-US" sz="1700" dirty="0"/>
          </a:p>
        </p:txBody>
      </p:sp>
      <p:sp>
        <p:nvSpPr>
          <p:cNvPr id="9" name="tour1 card Administrator KPIs"/>
          <p:cNvSpPr/>
          <p:nvPr/>
        </p:nvSpPr>
        <p:spPr>
          <a:xfrm>
            <a:off x="4297680" y="1417320"/>
            <a:ext cx="3566160" cy="4617720"/>
          </a:xfrm>
          <a:prstGeom prst="roundRect">
            <a:avLst>
              <a:gd name="adj" fmla="val 205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Administrator KPIs circle"/>
          <p:cNvSpPr/>
          <p:nvPr/>
        </p:nvSpPr>
        <p:spPr>
          <a:xfrm>
            <a:off x="4572000" y="1691640"/>
            <a:ext cx="777240" cy="777240"/>
          </a:xfrm>
          <a:prstGeom prst="ellipse">
            <a:avLst/>
          </a:prstGeom>
          <a:solidFill>
            <a:srgbClr val="0B1B6B"/>
          </a:solidFill>
          <a:ln w="12700">
            <a:solidFill>
              <a:srgbClr val="0B1B6B"/>
            </a:solidFill>
            <a:prstDash val="solid"/>
          </a:ln>
        </p:spPr>
      </p:sp>
      <p:pic>
        <p:nvPicPr>
          <p:cNvPr id="11" name="Administrator KPIs icon" descr="Administrator KPIs">    </p:cNvPr>
          <p:cNvPicPr>
            <a:picLocks noChangeAspect="1"/>
          </p:cNvPicPr>
          <p:nvPr/>
        </p:nvPicPr>
        <p:blipFill>
          <a:blip r:embed="rId2"/>
          <a:stretch>
            <a:fillRect/>
          </a:stretch>
        </p:blipFill>
        <p:spPr>
          <a:xfrm>
            <a:off x="4758538" y="1878178"/>
            <a:ext cx="404165" cy="404165"/>
          </a:xfrm>
          <a:prstGeom prst="rect">
            <a:avLst/>
          </a:prstGeom>
        </p:spPr>
      </p:pic>
      <p:sp>
        <p:nvSpPr>
          <p:cNvPr id="12" name="Text 7"/>
          <p:cNvSpPr txBox="1"/>
          <p:nvPr/>
        </p:nvSpPr>
        <p:spPr>
          <a:xfrm>
            <a:off x="5486400" y="1874520"/>
            <a:ext cx="2286000" cy="4572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Administrator KPIs</a:t>
            </a:r>
            <a:endParaRPr lang="en-US" sz="1900" dirty="0"/>
          </a:p>
        </p:txBody>
      </p:sp>
      <p:sp>
        <p:nvSpPr>
          <p:cNvPr id="13" name="Text 8"/>
          <p:cNvSpPr txBox="1"/>
          <p:nvPr/>
        </p:nvSpPr>
        <p:spPr>
          <a:xfrm>
            <a:off x="4572000" y="2834640"/>
            <a:ext cx="3108960" cy="310896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chemeClr val="tx1"/>
                </a:solidFill>
              </a:rPr>
              <a:t>Rejected requests, this month and all</a:t>
            </a:r>
            <a:endParaRPr lang="en-US" sz="1700" dirty="0"/>
          </a:p>
          <a:p>
            <a:pPr marL="203200" indent="-203200">
              <a:spcAft>
                <a:spcPts val="1200"/>
              </a:spcAft>
              <a:buSzPct val="100000"/>
              <a:buChar char="•"/>
            </a:pPr>
            <a:r>
              <a:rPr lang="en-US" sz="1700" dirty="0">
                <a:solidFill>
                  <a:schemeClr val="tx1"/>
                </a:solidFill>
              </a:rPr>
              <a:t>Success rate: Published divided by Approved</a:t>
            </a:r>
            <a:endParaRPr lang="en-US" sz="1700" dirty="0"/>
          </a:p>
          <a:p>
            <a:pPr marL="203200" indent="-203200">
              <a:spcAft>
                <a:spcPts val="1200"/>
              </a:spcAft>
              <a:buSzPct val="100000"/>
              <a:buChar char="•"/>
            </a:pPr>
            <a:r>
              <a:rPr lang="en-US" sz="1700" dirty="0">
                <a:solidFill>
                  <a:schemeClr val="tx1"/>
                </a:solidFill>
              </a:rPr>
              <a:t>Average time to published media and a monthly trend, this year versus previous</a:t>
            </a:r>
            <a:endParaRPr lang="en-US" sz="1700" dirty="0"/>
          </a:p>
        </p:txBody>
      </p:sp>
      <p:sp>
        <p:nvSpPr>
          <p:cNvPr id="14" name="tour1 card Request list"/>
          <p:cNvSpPr/>
          <p:nvPr/>
        </p:nvSpPr>
        <p:spPr>
          <a:xfrm>
            <a:off x="8046720" y="1417320"/>
            <a:ext cx="3566160" cy="4617720"/>
          </a:xfrm>
          <a:prstGeom prst="roundRect">
            <a:avLst>
              <a:gd name="adj" fmla="val 205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Request list circle"/>
          <p:cNvSpPr/>
          <p:nvPr/>
        </p:nvSpPr>
        <p:spPr>
          <a:xfrm>
            <a:off x="8321040" y="1691640"/>
            <a:ext cx="777240" cy="777240"/>
          </a:xfrm>
          <a:prstGeom prst="ellipse">
            <a:avLst/>
          </a:prstGeom>
          <a:solidFill>
            <a:srgbClr val="0B1B6B"/>
          </a:solidFill>
          <a:ln w="12700">
            <a:solidFill>
              <a:srgbClr val="0B1B6B"/>
            </a:solidFill>
            <a:prstDash val="solid"/>
          </a:ln>
        </p:spPr>
      </p:sp>
      <p:pic>
        <p:nvPicPr>
          <p:cNvPr id="16" name="Request list icon" descr="Request list">    </p:cNvPr>
          <p:cNvPicPr>
            <a:picLocks noChangeAspect="1"/>
          </p:cNvPicPr>
          <p:nvPr/>
        </p:nvPicPr>
        <p:blipFill>
          <a:blip r:embed="rId3"/>
          <a:stretch>
            <a:fillRect/>
          </a:stretch>
        </p:blipFill>
        <p:spPr>
          <a:xfrm>
            <a:off x="8507578" y="1878178"/>
            <a:ext cx="404165" cy="404165"/>
          </a:xfrm>
          <a:prstGeom prst="rect">
            <a:avLst/>
          </a:prstGeom>
        </p:spPr>
      </p:pic>
      <p:sp>
        <p:nvSpPr>
          <p:cNvPr id="17" name="Text 11"/>
          <p:cNvSpPr txBox="1"/>
          <p:nvPr/>
        </p:nvSpPr>
        <p:spPr>
          <a:xfrm>
            <a:off x="9235440" y="1874520"/>
            <a:ext cx="2286000" cy="457200"/>
          </a:xfrm>
          <a:prstGeom prst="rect">
            <a:avLst/>
          </a:prstGeom>
          <a:noFill/>
          <a:ln/>
        </p:spPr>
        <p:txBody>
          <a:bodyPr wrap="square" lIns="0" tIns="0" rIns="0" bIns="0" rtlCol="0" anchor="t"/>
          <a:lstStyle/>
          <a:p>
            <a:pPr indent="0" marL="0">
              <a:spcAft>
                <a:spcPts val="400"/>
              </a:spcAft>
              <a:buNone/>
            </a:pPr>
            <a:r>
              <a:rPr lang="en-US" sz="1900" b="1" dirty="0">
                <a:solidFill>
                  <a:schemeClr val="tx2"/>
                </a:solidFill>
              </a:rPr>
              <a:t>Request list</a:t>
            </a:r>
            <a:endParaRPr lang="en-US" sz="1900" dirty="0"/>
          </a:p>
        </p:txBody>
      </p:sp>
      <p:sp>
        <p:nvSpPr>
          <p:cNvPr id="18" name="Text 12"/>
          <p:cNvSpPr txBox="1"/>
          <p:nvPr/>
        </p:nvSpPr>
        <p:spPr>
          <a:xfrm>
            <a:off x="8321040" y="2834640"/>
            <a:ext cx="3108960" cy="310896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chemeClr val="tx1"/>
                </a:solidFill>
              </a:rPr>
              <a:t>Status chips with counts, production type, date range (last 31 days by default)</a:t>
            </a:r>
            <a:endParaRPr lang="en-US" sz="1700" dirty="0"/>
          </a:p>
          <a:p>
            <a:pPr marL="203200" indent="-203200">
              <a:spcAft>
                <a:spcPts val="1200"/>
              </a:spcAft>
              <a:buSzPct val="100000"/>
              <a:buChar char="•"/>
            </a:pPr>
            <a:r>
              <a:rPr lang="en-US" sz="1700" dirty="0">
                <a:solidFill>
                  <a:schemeClr val="tx1"/>
                </a:solidFill>
              </a:rPr>
              <a:t>Filters: requestor, assignee, DG, Beluga reference, title, request ID</a:t>
            </a:r>
            <a:endParaRPr lang="en-US" sz="1700" dirty="0"/>
          </a:p>
          <a:p>
            <a:pPr marL="203200" indent="-203200">
              <a:spcAft>
                <a:spcPts val="1200"/>
              </a:spcAft>
              <a:buSzPct val="100000"/>
              <a:buChar char="•"/>
            </a:pPr>
            <a:r>
              <a:rPr lang="en-US" sz="1700" dirty="0">
                <a:solidFill>
                  <a:schemeClr val="tx1"/>
                </a:solidFill>
              </a:rPr>
              <a:t>Opens on the first status that has requests for the role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Tour 2: the request details</a:t>
            </a:r>
            <a:endParaRPr lang="en-US" sz="3400" dirty="0"/>
          </a:p>
        </p:txBody>
      </p:sp>
      <p:sp>
        <p:nvSpPr>
          <p:cNvPr id="4" name="tour2 card Production type first"/>
          <p:cNvSpPr/>
          <p:nvPr/>
        </p:nvSpPr>
        <p:spPr>
          <a:xfrm>
            <a:off x="548640" y="141732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Production type first circle"/>
          <p:cNvSpPr/>
          <p:nvPr/>
        </p:nvSpPr>
        <p:spPr>
          <a:xfrm>
            <a:off x="777240" y="1691640"/>
            <a:ext cx="822960" cy="822960"/>
          </a:xfrm>
          <a:prstGeom prst="ellipse">
            <a:avLst/>
          </a:prstGeom>
          <a:solidFill>
            <a:srgbClr val="3860B2"/>
          </a:solidFill>
          <a:ln w="12700">
            <a:solidFill>
              <a:srgbClr val="3860B2"/>
            </a:solidFill>
            <a:prstDash val="solid"/>
          </a:ln>
        </p:spPr>
      </p:sp>
      <p:pic>
        <p:nvPicPr>
          <p:cNvPr id="6" name="Production type first icon" descr="Production type first">    </p:cNvPr>
          <p:cNvPicPr>
            <a:picLocks noChangeAspect="1"/>
          </p:cNvPicPr>
          <p:nvPr/>
        </p:nvPicPr>
        <p:blipFill>
          <a:blip r:embed="rId1"/>
          <a:stretch>
            <a:fillRect/>
          </a:stretch>
        </p:blipFill>
        <p:spPr>
          <a:xfrm>
            <a:off x="974750" y="1889150"/>
            <a:ext cx="427939" cy="427939"/>
          </a:xfrm>
          <a:prstGeom prst="rect">
            <a:avLst/>
          </a:prstGeom>
        </p:spPr>
      </p:pic>
      <p:sp>
        <p:nvSpPr>
          <p:cNvPr id="7" name="Text 3"/>
          <p:cNvSpPr txBox="1"/>
          <p:nvPr/>
        </p:nvSpPr>
        <p:spPr>
          <a:xfrm>
            <a:off x="1828800" y="1600200"/>
            <a:ext cx="393192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Production type first</a:t>
            </a:r>
            <a:endParaRPr lang="en-US" sz="1800" dirty="0"/>
          </a:p>
        </p:txBody>
      </p:sp>
      <p:sp>
        <p:nvSpPr>
          <p:cNvPr id="8" name="Text 4"/>
          <p:cNvSpPr txBox="1"/>
          <p:nvPr/>
        </p:nvSpPr>
        <p:spPr>
          <a:xfrm>
            <a:off x="1828800" y="1984248"/>
            <a:ext cx="393192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One request equals one media type; chosen in a picker before anything else</a:t>
            </a:r>
            <a:endParaRPr lang="en-US" sz="1400" dirty="0"/>
          </a:p>
        </p:txBody>
      </p:sp>
      <p:sp>
        <p:nvSpPr>
          <p:cNvPr id="9" name="tour2 card Two contacts"/>
          <p:cNvSpPr/>
          <p:nvPr/>
        </p:nvSpPr>
        <p:spPr>
          <a:xfrm>
            <a:off x="6217920" y="141732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Two contacts circle"/>
          <p:cNvSpPr/>
          <p:nvPr/>
        </p:nvSpPr>
        <p:spPr>
          <a:xfrm>
            <a:off x="6446520" y="1691640"/>
            <a:ext cx="822960" cy="822960"/>
          </a:xfrm>
          <a:prstGeom prst="ellipse">
            <a:avLst/>
          </a:prstGeom>
          <a:solidFill>
            <a:srgbClr val="3860B2"/>
          </a:solidFill>
          <a:ln w="12700">
            <a:solidFill>
              <a:srgbClr val="3860B2"/>
            </a:solidFill>
            <a:prstDash val="solid"/>
          </a:ln>
        </p:spPr>
      </p:sp>
      <p:pic>
        <p:nvPicPr>
          <p:cNvPr id="11" name="Two contacts icon" descr="Two contacts">    </p:cNvPr>
          <p:cNvPicPr>
            <a:picLocks noChangeAspect="1"/>
          </p:cNvPicPr>
          <p:nvPr/>
        </p:nvPicPr>
        <p:blipFill>
          <a:blip r:embed="rId2"/>
          <a:stretch>
            <a:fillRect/>
          </a:stretch>
        </p:blipFill>
        <p:spPr>
          <a:xfrm>
            <a:off x="6644030" y="1889150"/>
            <a:ext cx="427939" cy="427939"/>
          </a:xfrm>
          <a:prstGeom prst="rect">
            <a:avLst/>
          </a:prstGeom>
        </p:spPr>
      </p:pic>
      <p:sp>
        <p:nvSpPr>
          <p:cNvPr id="12" name="Text 7"/>
          <p:cNvSpPr txBox="1"/>
          <p:nvPr/>
        </p:nvSpPr>
        <p:spPr>
          <a:xfrm>
            <a:off x="7498080" y="1600200"/>
            <a:ext cx="393192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Two contacts</a:t>
            </a:r>
            <a:endParaRPr lang="en-US" sz="1800" dirty="0"/>
          </a:p>
        </p:txBody>
      </p:sp>
      <p:sp>
        <p:nvSpPr>
          <p:cNvPr id="13" name="Text 8"/>
          <p:cNvSpPr txBox="1"/>
          <p:nvPr/>
        </p:nvSpPr>
        <p:spPr>
          <a:xfrm>
            <a:off x="7498080" y="1984248"/>
            <a:ext cx="393192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Official DG/Agency and contractor, or a manual e-mail when not in the directory</a:t>
            </a:r>
            <a:endParaRPr lang="en-US" sz="1400" dirty="0"/>
          </a:p>
        </p:txBody>
      </p:sp>
      <p:sp>
        <p:nvSpPr>
          <p:cNvPr id="14" name="tour2 card Message Center"/>
          <p:cNvSpPr/>
          <p:nvPr/>
        </p:nvSpPr>
        <p:spPr>
          <a:xfrm>
            <a:off x="548640" y="297180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Message Center circle"/>
          <p:cNvSpPr/>
          <p:nvPr/>
        </p:nvSpPr>
        <p:spPr>
          <a:xfrm>
            <a:off x="777240" y="3246120"/>
            <a:ext cx="822960" cy="822960"/>
          </a:xfrm>
          <a:prstGeom prst="ellipse">
            <a:avLst/>
          </a:prstGeom>
          <a:solidFill>
            <a:srgbClr val="3860B2"/>
          </a:solidFill>
          <a:ln w="12700">
            <a:solidFill>
              <a:srgbClr val="3860B2"/>
            </a:solidFill>
            <a:prstDash val="solid"/>
          </a:ln>
        </p:spPr>
      </p:sp>
      <p:pic>
        <p:nvPicPr>
          <p:cNvPr id="16" name="Message Center icon" descr="Message Center">    </p:cNvPr>
          <p:cNvPicPr>
            <a:picLocks noChangeAspect="1"/>
          </p:cNvPicPr>
          <p:nvPr/>
        </p:nvPicPr>
        <p:blipFill>
          <a:blip r:embed="rId3"/>
          <a:stretch>
            <a:fillRect/>
          </a:stretch>
        </p:blipFill>
        <p:spPr>
          <a:xfrm>
            <a:off x="974750" y="3443630"/>
            <a:ext cx="427939" cy="427939"/>
          </a:xfrm>
          <a:prstGeom prst="rect">
            <a:avLst/>
          </a:prstGeom>
        </p:spPr>
      </p:pic>
      <p:sp>
        <p:nvSpPr>
          <p:cNvPr id="17" name="Text 11"/>
          <p:cNvSpPr txBox="1"/>
          <p:nvPr/>
        </p:nvSpPr>
        <p:spPr>
          <a:xfrm>
            <a:off x="1828800" y="3154680"/>
            <a:ext cx="393192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Message Center</a:t>
            </a:r>
            <a:endParaRPr lang="en-US" sz="1800" dirty="0"/>
          </a:p>
        </p:txBody>
      </p:sp>
      <p:sp>
        <p:nvSpPr>
          <p:cNvPr id="18" name="Text 12"/>
          <p:cNvSpPr txBox="1"/>
          <p:nvPr/>
        </p:nvSpPr>
        <p:spPr>
          <a:xfrm>
            <a:off x="1828800" y="3538728"/>
            <a:ext cx="393192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Notes thread between requestor and administrator</a:t>
            </a:r>
            <a:endParaRPr lang="en-US" sz="1400" dirty="0"/>
          </a:p>
        </p:txBody>
      </p:sp>
      <p:sp>
        <p:nvSpPr>
          <p:cNvPr id="19" name="tour2 card Media files list"/>
          <p:cNvSpPr/>
          <p:nvPr/>
        </p:nvSpPr>
        <p:spPr>
          <a:xfrm>
            <a:off x="6217920" y="297180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Media files list circle"/>
          <p:cNvSpPr/>
          <p:nvPr/>
        </p:nvSpPr>
        <p:spPr>
          <a:xfrm>
            <a:off x="6446520" y="3246120"/>
            <a:ext cx="822960" cy="822960"/>
          </a:xfrm>
          <a:prstGeom prst="ellipse">
            <a:avLst/>
          </a:prstGeom>
          <a:solidFill>
            <a:srgbClr val="3860B2"/>
          </a:solidFill>
          <a:ln w="12700">
            <a:solidFill>
              <a:srgbClr val="3860B2"/>
            </a:solidFill>
            <a:prstDash val="solid"/>
          </a:ln>
        </p:spPr>
      </p:sp>
      <p:pic>
        <p:nvPicPr>
          <p:cNvPr id="21" name="Media files list icon" descr="Media files list">    </p:cNvPr>
          <p:cNvPicPr>
            <a:picLocks noChangeAspect="1"/>
          </p:cNvPicPr>
          <p:nvPr/>
        </p:nvPicPr>
        <p:blipFill>
          <a:blip r:embed="rId4"/>
          <a:stretch>
            <a:fillRect/>
          </a:stretch>
        </p:blipFill>
        <p:spPr>
          <a:xfrm>
            <a:off x="6644030" y="3443630"/>
            <a:ext cx="427939" cy="427939"/>
          </a:xfrm>
          <a:prstGeom prst="rect">
            <a:avLst/>
          </a:prstGeom>
        </p:spPr>
      </p:pic>
      <p:sp>
        <p:nvSpPr>
          <p:cNvPr id="22" name="Text 15"/>
          <p:cNvSpPr txBox="1"/>
          <p:nvPr/>
        </p:nvSpPr>
        <p:spPr>
          <a:xfrm>
            <a:off x="7498080" y="3154680"/>
            <a:ext cx="393192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Media files list</a:t>
            </a:r>
            <a:endParaRPr lang="en-US" sz="1800" dirty="0"/>
          </a:p>
        </p:txBody>
      </p:sp>
      <p:sp>
        <p:nvSpPr>
          <p:cNvPr id="23" name="Text 16"/>
          <p:cNvSpPr txBox="1"/>
          <p:nvPr/>
        </p:nvSpPr>
        <p:spPr>
          <a:xfrm>
            <a:off x="7498080" y="3538728"/>
            <a:ext cx="393192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Badge per file: grey = no Beluga ID, dark grey = archiving, green = link to the portal</a:t>
            </a:r>
            <a:endParaRPr lang="en-US" sz="1400" dirty="0"/>
          </a:p>
        </p:txBody>
      </p:sp>
      <p:sp>
        <p:nvSpPr>
          <p:cNvPr id="24" name="tour2 card Archiving only"/>
          <p:cNvSpPr/>
          <p:nvPr/>
        </p:nvSpPr>
        <p:spPr>
          <a:xfrm>
            <a:off x="548640" y="452628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Archiving only circle"/>
          <p:cNvSpPr/>
          <p:nvPr/>
        </p:nvSpPr>
        <p:spPr>
          <a:xfrm>
            <a:off x="777240" y="4800600"/>
            <a:ext cx="822960" cy="822960"/>
          </a:xfrm>
          <a:prstGeom prst="ellipse">
            <a:avLst/>
          </a:prstGeom>
          <a:solidFill>
            <a:srgbClr val="3860B2"/>
          </a:solidFill>
          <a:ln w="12700">
            <a:solidFill>
              <a:srgbClr val="3860B2"/>
            </a:solidFill>
            <a:prstDash val="solid"/>
          </a:ln>
        </p:spPr>
      </p:sp>
      <p:pic>
        <p:nvPicPr>
          <p:cNvPr id="26" name="Archiving only icon" descr="Archiving only">    </p:cNvPr>
          <p:cNvPicPr>
            <a:picLocks noChangeAspect="1"/>
          </p:cNvPicPr>
          <p:nvPr/>
        </p:nvPicPr>
        <p:blipFill>
          <a:blip r:embed="rId5"/>
          <a:stretch>
            <a:fillRect/>
          </a:stretch>
        </p:blipFill>
        <p:spPr>
          <a:xfrm>
            <a:off x="974750" y="4998110"/>
            <a:ext cx="427939" cy="427939"/>
          </a:xfrm>
          <a:prstGeom prst="rect">
            <a:avLst/>
          </a:prstGeom>
        </p:spPr>
      </p:pic>
      <p:sp>
        <p:nvSpPr>
          <p:cNvPr id="27" name="Text 19"/>
          <p:cNvSpPr txBox="1"/>
          <p:nvPr/>
        </p:nvSpPr>
        <p:spPr>
          <a:xfrm>
            <a:off x="1828800" y="4709160"/>
            <a:ext cx="393192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Archiving only</a:t>
            </a:r>
            <a:endParaRPr lang="en-US" sz="1800" dirty="0"/>
          </a:p>
        </p:txBody>
      </p:sp>
      <p:sp>
        <p:nvSpPr>
          <p:cNvPr id="28" name="Text 20"/>
          <p:cNvSpPr txBox="1"/>
          <p:nvPr/>
        </p:nvSpPr>
        <p:spPr>
          <a:xfrm>
            <a:off x="1828800" y="5093208"/>
            <a:ext cx="393192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Checkbox saved with the request; drives the badge and the approval option</a:t>
            </a:r>
            <a:endParaRPr lang="en-US" sz="1400" dirty="0"/>
          </a:p>
        </p:txBody>
      </p:sp>
      <p:sp>
        <p:nvSpPr>
          <p:cNvPr id="29" name="tour2 card Yellow = mandatory"/>
          <p:cNvSpPr/>
          <p:nvPr/>
        </p:nvSpPr>
        <p:spPr>
          <a:xfrm>
            <a:off x="6217920" y="4526280"/>
            <a:ext cx="539496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0" name="Yellow = mandatory circle"/>
          <p:cNvSpPr/>
          <p:nvPr/>
        </p:nvSpPr>
        <p:spPr>
          <a:xfrm>
            <a:off x="6446520" y="4800600"/>
            <a:ext cx="822960" cy="822960"/>
          </a:xfrm>
          <a:prstGeom prst="ellipse">
            <a:avLst/>
          </a:prstGeom>
          <a:solidFill>
            <a:srgbClr val="3860B2"/>
          </a:solidFill>
          <a:ln w="12700">
            <a:solidFill>
              <a:srgbClr val="3860B2"/>
            </a:solidFill>
            <a:prstDash val="solid"/>
          </a:ln>
        </p:spPr>
      </p:sp>
      <p:pic>
        <p:nvPicPr>
          <p:cNvPr id="31" name="Yellow = mandatory icon" descr="Yellow = mandatory">    </p:cNvPr>
          <p:cNvPicPr>
            <a:picLocks noChangeAspect="1"/>
          </p:cNvPicPr>
          <p:nvPr/>
        </p:nvPicPr>
        <p:blipFill>
          <a:blip r:embed="rId6"/>
          <a:stretch>
            <a:fillRect/>
          </a:stretch>
        </p:blipFill>
        <p:spPr>
          <a:xfrm>
            <a:off x="6644030" y="4998110"/>
            <a:ext cx="427939" cy="427939"/>
          </a:xfrm>
          <a:prstGeom prst="rect">
            <a:avLst/>
          </a:prstGeom>
        </p:spPr>
      </p:pic>
      <p:sp>
        <p:nvSpPr>
          <p:cNvPr id="32" name="Text 23"/>
          <p:cNvSpPr txBox="1"/>
          <p:nvPr/>
        </p:nvSpPr>
        <p:spPr>
          <a:xfrm>
            <a:off x="7498080" y="4709160"/>
            <a:ext cx="3931920" cy="3657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Yellow = mandatory</a:t>
            </a:r>
            <a:endParaRPr lang="en-US" sz="1800" dirty="0"/>
          </a:p>
        </p:txBody>
      </p:sp>
      <p:sp>
        <p:nvSpPr>
          <p:cNvPr id="33" name="Text 24"/>
          <p:cNvSpPr txBox="1"/>
          <p:nvPr/>
        </p:nvSpPr>
        <p:spPr>
          <a:xfrm>
            <a:off x="7498080" y="5093208"/>
            <a:ext cx="3931920" cy="731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Empty mandatory fields are outlined in yellow; Add media waits for the draft save</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Tour 3: a media file in four tabs</a:t>
            </a:r>
            <a:endParaRPr lang="en-US" sz="3400" dirty="0"/>
          </a:p>
        </p:txBody>
      </p:sp>
      <p:sp>
        <p:nvSpPr>
          <p:cNvPr id="4" name="tab card Info"/>
          <p:cNvSpPr/>
          <p:nvPr/>
        </p:nvSpPr>
        <p:spPr>
          <a:xfrm>
            <a:off x="548640" y="1417320"/>
            <a:ext cx="2651760" cy="4023360"/>
          </a:xfrm>
          <a:prstGeom prst="roundRect">
            <a:avLst>
              <a:gd name="adj" fmla="val 27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tab number 1"/>
          <p:cNvSpPr/>
          <p:nvPr/>
        </p:nvSpPr>
        <p:spPr>
          <a:xfrm>
            <a:off x="822960" y="1691640"/>
            <a:ext cx="640080" cy="640080"/>
          </a:xfrm>
          <a:prstGeom prst="ellipse">
            <a:avLst/>
          </a:prstGeom>
          <a:solidFill>
            <a:srgbClr val="0B1B6B"/>
          </a:solidFill>
          <a:ln w="12700">
            <a:solidFill>
              <a:srgbClr val="0B1B6B"/>
            </a:solidFill>
            <a:prstDash val="solid"/>
          </a:ln>
        </p:spPr>
      </p:sp>
      <p:sp>
        <p:nvSpPr>
          <p:cNvPr id="6" name="Text 3"/>
          <p:cNvSpPr txBox="1"/>
          <p:nvPr/>
        </p:nvSpPr>
        <p:spPr>
          <a:xfrm>
            <a:off x="822960" y="1691640"/>
            <a:ext cx="640080" cy="640080"/>
          </a:xfrm>
          <a:prstGeom prst="rect">
            <a:avLst/>
          </a:prstGeom>
          <a:noFill/>
          <a:ln/>
        </p:spPr>
        <p:txBody>
          <a:bodyPr wrap="square" lIns="0" tIns="0" rIns="0" bIns="0" rtlCol="0" anchor="ctr"/>
          <a:lstStyle/>
          <a:p>
            <a:pPr algn="ctr" indent="0" marL="0">
              <a:buNone/>
            </a:pPr>
            <a:r>
              <a:rPr lang="en-US" sz="2200" b="1" dirty="0">
                <a:solidFill>
                  <a:schemeClr val="accent2"/>
                </a:solidFill>
              </a:rPr>
              <a:t>1</a:t>
            </a:r>
            <a:endParaRPr lang="en-US" sz="2200" dirty="0"/>
          </a:p>
        </p:txBody>
      </p:sp>
      <p:sp>
        <p:nvSpPr>
          <p:cNvPr id="7" name="Text 4"/>
          <p:cNvSpPr txBox="1"/>
          <p:nvPr/>
        </p:nvSpPr>
        <p:spPr>
          <a:xfrm>
            <a:off x="1600200" y="1810512"/>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Info</a:t>
            </a:r>
            <a:endParaRPr lang="en-US" sz="1800" dirty="0"/>
          </a:p>
        </p:txBody>
      </p:sp>
      <p:sp>
        <p:nvSpPr>
          <p:cNvPr id="8" name="Text 5"/>
          <p:cNvSpPr txBox="1"/>
          <p:nvPr/>
        </p:nvSpPr>
        <p:spPr>
          <a:xfrm>
            <a:off x="822960" y="2606040"/>
            <a:ext cx="2194560" cy="27432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Title, description</a:t>
            </a:r>
            <a:endParaRPr lang="en-US" sz="1500" dirty="0"/>
          </a:p>
          <a:p>
            <a:pPr marL="203200" indent="-203200">
              <a:spcAft>
                <a:spcPts val="900"/>
              </a:spcAft>
              <a:buSzPct val="100000"/>
              <a:buChar char="•"/>
            </a:pPr>
            <a:r>
              <a:rPr lang="en-US" sz="1500" dirty="0">
                <a:solidFill>
                  <a:schemeClr val="tx1"/>
                </a:solidFill>
              </a:rPr>
              <a:t>FTP path (Photo)</a:t>
            </a:r>
            <a:endParaRPr lang="en-US" sz="1500" dirty="0"/>
          </a:p>
          <a:p>
            <a:pPr marL="203200" indent="-203200">
              <a:spcAft>
                <a:spcPts val="900"/>
              </a:spcAft>
              <a:buSzPct val="100000"/>
              <a:buChar char="•"/>
            </a:pPr>
            <a:r>
              <a:rPr lang="en-US" sz="1500" dirty="0">
                <a:solidFill>
                  <a:schemeClr val="tx1"/>
                </a:solidFill>
              </a:rPr>
              <a:t>Beluga reference (optional)</a:t>
            </a:r>
            <a:endParaRPr lang="en-US" sz="1500" dirty="0"/>
          </a:p>
          <a:p>
            <a:pPr marL="203200" indent="-203200">
              <a:spcAft>
                <a:spcPts val="900"/>
              </a:spcAft>
              <a:buSzPct val="100000"/>
              <a:buChar char="•"/>
            </a:pPr>
            <a:r>
              <a:rPr lang="en-US" sz="1500" dirty="0">
                <a:solidFill>
                  <a:schemeClr val="tx1"/>
                </a:solidFill>
              </a:rPr>
              <a:t>Copy from a previous media file</a:t>
            </a:r>
            <a:endParaRPr lang="en-US" sz="1500" dirty="0"/>
          </a:p>
        </p:txBody>
      </p:sp>
      <p:sp>
        <p:nvSpPr>
          <p:cNvPr id="9" name="tab card Metadata"/>
          <p:cNvSpPr/>
          <p:nvPr/>
        </p:nvSpPr>
        <p:spPr>
          <a:xfrm>
            <a:off x="3383280" y="1417320"/>
            <a:ext cx="2651760" cy="4023360"/>
          </a:xfrm>
          <a:prstGeom prst="roundRect">
            <a:avLst>
              <a:gd name="adj" fmla="val 27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tab number 2"/>
          <p:cNvSpPr/>
          <p:nvPr/>
        </p:nvSpPr>
        <p:spPr>
          <a:xfrm>
            <a:off x="3657600" y="1691640"/>
            <a:ext cx="640080" cy="640080"/>
          </a:xfrm>
          <a:prstGeom prst="ellipse">
            <a:avLst/>
          </a:prstGeom>
          <a:solidFill>
            <a:srgbClr val="0B1B6B"/>
          </a:solidFill>
          <a:ln w="12700">
            <a:solidFill>
              <a:srgbClr val="0B1B6B"/>
            </a:solidFill>
            <a:prstDash val="solid"/>
          </a:ln>
        </p:spPr>
      </p:sp>
      <p:sp>
        <p:nvSpPr>
          <p:cNvPr id="11" name="Text 8"/>
          <p:cNvSpPr txBox="1"/>
          <p:nvPr/>
        </p:nvSpPr>
        <p:spPr>
          <a:xfrm>
            <a:off x="3657600" y="1691640"/>
            <a:ext cx="640080" cy="640080"/>
          </a:xfrm>
          <a:prstGeom prst="rect">
            <a:avLst/>
          </a:prstGeom>
          <a:noFill/>
          <a:ln/>
        </p:spPr>
        <p:txBody>
          <a:bodyPr wrap="square" lIns="0" tIns="0" rIns="0" bIns="0" rtlCol="0" anchor="ctr"/>
          <a:lstStyle/>
          <a:p>
            <a:pPr algn="ctr" indent="0" marL="0">
              <a:buNone/>
            </a:pPr>
            <a:r>
              <a:rPr lang="en-US" sz="2200" b="1" dirty="0">
                <a:solidFill>
                  <a:schemeClr val="accent2"/>
                </a:solidFill>
              </a:rPr>
              <a:t>2</a:t>
            </a:r>
            <a:endParaRPr lang="en-US" sz="2200" dirty="0"/>
          </a:p>
        </p:txBody>
      </p:sp>
      <p:sp>
        <p:nvSpPr>
          <p:cNvPr id="12" name="Text 9"/>
          <p:cNvSpPr txBox="1"/>
          <p:nvPr/>
        </p:nvSpPr>
        <p:spPr>
          <a:xfrm>
            <a:off x="4434840" y="1810512"/>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Metadata</a:t>
            </a:r>
            <a:endParaRPr lang="en-US" sz="1800" dirty="0"/>
          </a:p>
        </p:txBody>
      </p:sp>
      <p:sp>
        <p:nvSpPr>
          <p:cNvPr id="13" name="Text 10"/>
          <p:cNvSpPr txBox="1"/>
          <p:nvPr/>
        </p:nvSpPr>
        <p:spPr>
          <a:xfrm>
            <a:off x="3657600" y="2606040"/>
            <a:ext cx="2194560" cy="27432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Dates and place</a:t>
            </a:r>
            <a:endParaRPr lang="en-US" sz="1500" dirty="0"/>
          </a:p>
          <a:p>
            <a:pPr marL="203200" indent="-203200">
              <a:spcAft>
                <a:spcPts val="900"/>
              </a:spcAft>
              <a:buSzPct val="100000"/>
              <a:buChar char="•"/>
            </a:pPr>
            <a:r>
              <a:rPr lang="en-US" sz="1500" dirty="0">
                <a:solidFill>
                  <a:schemeClr val="tx1"/>
                </a:solidFill>
              </a:rPr>
              <a:t>Producer, credits, authority</a:t>
            </a:r>
            <a:endParaRPr lang="en-US" sz="1500" dirty="0"/>
          </a:p>
          <a:p>
            <a:pPr marL="203200" indent="-203200">
              <a:spcAft>
                <a:spcPts val="900"/>
              </a:spcAft>
              <a:buSzPct val="100000"/>
              <a:buChar char="•"/>
            </a:pPr>
            <a:r>
              <a:rPr lang="en-US" sz="1500" dirty="0">
                <a:solidFill>
                  <a:schemeClr val="tx1"/>
                </a:solidFill>
              </a:rPr>
              <a:t>Podcast: episode data and audio</a:t>
            </a:r>
            <a:endParaRPr lang="en-US" sz="1500" dirty="0"/>
          </a:p>
          <a:p>
            <a:pPr marL="203200" indent="-203200">
              <a:spcAft>
                <a:spcPts val="900"/>
              </a:spcAft>
              <a:buSzPct val="100000"/>
              <a:buChar char="•"/>
            </a:pPr>
            <a:r>
              <a:rPr lang="en-US" sz="1500" dirty="0">
                <a:solidFill>
                  <a:schemeClr val="tx1"/>
                </a:solidFill>
              </a:rPr>
              <a:t>Yellow border while mandatory fields are empty</a:t>
            </a:r>
            <a:endParaRPr lang="en-US" sz="1500" dirty="0"/>
          </a:p>
        </p:txBody>
      </p:sp>
      <p:sp>
        <p:nvSpPr>
          <p:cNvPr id="14" name="tab card Legal and Docs"/>
          <p:cNvSpPr/>
          <p:nvPr/>
        </p:nvSpPr>
        <p:spPr>
          <a:xfrm>
            <a:off x="6217920" y="1417320"/>
            <a:ext cx="2651760" cy="4023360"/>
          </a:xfrm>
          <a:prstGeom prst="roundRect">
            <a:avLst>
              <a:gd name="adj" fmla="val 27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tab number 3"/>
          <p:cNvSpPr/>
          <p:nvPr/>
        </p:nvSpPr>
        <p:spPr>
          <a:xfrm>
            <a:off x="6492240" y="1691640"/>
            <a:ext cx="640080" cy="640080"/>
          </a:xfrm>
          <a:prstGeom prst="ellipse">
            <a:avLst/>
          </a:prstGeom>
          <a:solidFill>
            <a:srgbClr val="0B1B6B"/>
          </a:solidFill>
          <a:ln w="12700">
            <a:solidFill>
              <a:srgbClr val="0B1B6B"/>
            </a:solidFill>
            <a:prstDash val="solid"/>
          </a:ln>
        </p:spPr>
      </p:sp>
      <p:sp>
        <p:nvSpPr>
          <p:cNvPr id="16" name="Text 13"/>
          <p:cNvSpPr txBox="1"/>
          <p:nvPr/>
        </p:nvSpPr>
        <p:spPr>
          <a:xfrm>
            <a:off x="6492240" y="1691640"/>
            <a:ext cx="640080" cy="640080"/>
          </a:xfrm>
          <a:prstGeom prst="rect">
            <a:avLst/>
          </a:prstGeom>
          <a:noFill/>
          <a:ln/>
        </p:spPr>
        <p:txBody>
          <a:bodyPr wrap="square" lIns="0" tIns="0" rIns="0" bIns="0" rtlCol="0" anchor="ctr"/>
          <a:lstStyle/>
          <a:p>
            <a:pPr algn="ctr" indent="0" marL="0">
              <a:buNone/>
            </a:pPr>
            <a:r>
              <a:rPr lang="en-US" sz="2200" b="1" dirty="0">
                <a:solidFill>
                  <a:schemeClr val="accent2"/>
                </a:solidFill>
              </a:rPr>
              <a:t>3</a:t>
            </a:r>
            <a:endParaRPr lang="en-US" sz="2200" dirty="0"/>
          </a:p>
        </p:txBody>
      </p:sp>
      <p:sp>
        <p:nvSpPr>
          <p:cNvPr id="17" name="Text 14"/>
          <p:cNvSpPr txBox="1"/>
          <p:nvPr/>
        </p:nvSpPr>
        <p:spPr>
          <a:xfrm>
            <a:off x="7269480" y="1810512"/>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Legal and Docs</a:t>
            </a:r>
            <a:endParaRPr lang="en-US" sz="1800" dirty="0"/>
          </a:p>
        </p:txBody>
      </p:sp>
      <p:sp>
        <p:nvSpPr>
          <p:cNvPr id="18" name="Text 15"/>
          <p:cNvSpPr txBox="1"/>
          <p:nvPr/>
        </p:nvSpPr>
        <p:spPr>
          <a:xfrm>
            <a:off x="6492240" y="2606040"/>
            <a:ext cx="2194560" cy="27432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Contract case 1 to 6</a:t>
            </a:r>
            <a:endParaRPr lang="en-US" sz="1500" dirty="0"/>
          </a:p>
          <a:p>
            <a:pPr marL="203200" indent="-203200">
              <a:spcAft>
                <a:spcPts val="900"/>
              </a:spcAft>
              <a:buSzPct val="100000"/>
              <a:buChar char="•"/>
            </a:pPr>
            <a:r>
              <a:rPr lang="en-US" sz="1500" dirty="0">
                <a:solidFill>
                  <a:schemeClr val="tx1"/>
                </a:solidFill>
              </a:rPr>
              <a:t>Rights declarations</a:t>
            </a:r>
            <a:endParaRPr lang="en-US" sz="1500" dirty="0"/>
          </a:p>
          <a:p>
            <a:pPr marL="203200" indent="-203200">
              <a:spcAft>
                <a:spcPts val="900"/>
              </a:spcAft>
              <a:buSzPct val="100000"/>
              <a:buChar char="•"/>
            </a:pPr>
            <a:r>
              <a:rPr lang="en-US" sz="1500" dirty="0">
                <a:solidFill>
                  <a:schemeClr val="tx1"/>
                </a:solidFill>
              </a:rPr>
              <a:t>Attachments: contracts, releases, VTT</a:t>
            </a:r>
            <a:endParaRPr lang="en-US" sz="1500" dirty="0"/>
          </a:p>
          <a:p>
            <a:pPr marL="203200" indent="-203200">
              <a:spcAft>
                <a:spcPts val="900"/>
              </a:spcAft>
              <a:buSzPct val="100000"/>
              <a:buChar char="•"/>
            </a:pPr>
            <a:r>
              <a:rPr lang="en-US" sz="1500" dirty="0">
                <a:solidFill>
                  <a:schemeClr val="tx1"/>
                </a:solidFill>
              </a:rPr>
              <a:t>Panel yellow while empty</a:t>
            </a:r>
            <a:endParaRPr lang="en-US" sz="1500" dirty="0"/>
          </a:p>
        </p:txBody>
      </p:sp>
      <p:sp>
        <p:nvSpPr>
          <p:cNvPr id="19" name="tab card Validations"/>
          <p:cNvSpPr/>
          <p:nvPr/>
        </p:nvSpPr>
        <p:spPr>
          <a:xfrm>
            <a:off x="9052560" y="1417320"/>
            <a:ext cx="2651760" cy="4023360"/>
          </a:xfrm>
          <a:prstGeom prst="roundRect">
            <a:avLst>
              <a:gd name="adj" fmla="val 275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tab number 4"/>
          <p:cNvSpPr/>
          <p:nvPr/>
        </p:nvSpPr>
        <p:spPr>
          <a:xfrm>
            <a:off x="9326880" y="1691640"/>
            <a:ext cx="640080" cy="640080"/>
          </a:xfrm>
          <a:prstGeom prst="ellipse">
            <a:avLst/>
          </a:prstGeom>
          <a:solidFill>
            <a:srgbClr val="0B1B6B"/>
          </a:solidFill>
          <a:ln w="12700">
            <a:solidFill>
              <a:srgbClr val="0B1B6B"/>
            </a:solidFill>
            <a:prstDash val="solid"/>
          </a:ln>
        </p:spPr>
      </p:sp>
      <p:sp>
        <p:nvSpPr>
          <p:cNvPr id="21" name="Text 18"/>
          <p:cNvSpPr txBox="1"/>
          <p:nvPr/>
        </p:nvSpPr>
        <p:spPr>
          <a:xfrm>
            <a:off x="9326880" y="1691640"/>
            <a:ext cx="640080" cy="640080"/>
          </a:xfrm>
          <a:prstGeom prst="rect">
            <a:avLst/>
          </a:prstGeom>
          <a:noFill/>
          <a:ln/>
        </p:spPr>
        <p:txBody>
          <a:bodyPr wrap="square" lIns="0" tIns="0" rIns="0" bIns="0" rtlCol="0" anchor="ctr"/>
          <a:lstStyle/>
          <a:p>
            <a:pPr algn="ctr" indent="0" marL="0">
              <a:buNone/>
            </a:pPr>
            <a:r>
              <a:rPr lang="en-US" sz="2200" b="1" dirty="0">
                <a:solidFill>
                  <a:schemeClr val="accent2"/>
                </a:solidFill>
              </a:rPr>
              <a:t>4</a:t>
            </a:r>
            <a:endParaRPr lang="en-US" sz="2200" dirty="0"/>
          </a:p>
        </p:txBody>
      </p:sp>
      <p:sp>
        <p:nvSpPr>
          <p:cNvPr id="22" name="Text 19"/>
          <p:cNvSpPr txBox="1"/>
          <p:nvPr/>
        </p:nvSpPr>
        <p:spPr>
          <a:xfrm>
            <a:off x="10104120" y="1810512"/>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Validations</a:t>
            </a:r>
            <a:endParaRPr lang="en-US" sz="1800" dirty="0"/>
          </a:p>
        </p:txBody>
      </p:sp>
      <p:sp>
        <p:nvSpPr>
          <p:cNvPr id="23" name="Text 20"/>
          <p:cNvSpPr txBox="1"/>
          <p:nvPr/>
        </p:nvSpPr>
        <p:spPr>
          <a:xfrm>
            <a:off x="9326880" y="2606040"/>
            <a:ext cx="2194560" cy="27432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Live checklist, per media type</a:t>
            </a:r>
            <a:endParaRPr lang="en-US" sz="1500" dirty="0"/>
          </a:p>
          <a:p>
            <a:pPr marL="203200" indent="-203200">
              <a:spcAft>
                <a:spcPts val="900"/>
              </a:spcAft>
              <a:buSzPct val="100000"/>
              <a:buChar char="•"/>
            </a:pPr>
            <a:r>
              <a:rPr lang="en-US" sz="1500" dirty="0">
                <a:solidFill>
                  <a:schemeClr val="tx1"/>
                </a:solidFill>
              </a:rPr>
              <a:t>Each failed check says what to do</a:t>
            </a:r>
            <a:endParaRPr lang="en-US" sz="1500" dirty="0"/>
          </a:p>
          <a:p>
            <a:pPr marL="203200" indent="-203200">
              <a:spcAft>
                <a:spcPts val="900"/>
              </a:spcAft>
              <a:buSzPct val="100000"/>
              <a:buChar char="•"/>
            </a:pPr>
            <a:r>
              <a:rPr lang="en-US" sz="1500" dirty="0">
                <a:solidFill>
                  <a:schemeClr val="tx1"/>
                </a:solidFill>
              </a:rPr>
              <a:t>Save Media only when all pass</a:t>
            </a:r>
            <a:endParaRPr lang="en-US" sz="1500" dirty="0"/>
          </a:p>
          <a:p>
            <a:pPr marL="203200" indent="-203200">
              <a:spcAft>
                <a:spcPts val="900"/>
              </a:spcAft>
              <a:buSzPct val="100000"/>
              <a:buChar char="•"/>
            </a:pPr>
            <a:r>
              <a:rPr lang="en-US" sz="1500" dirty="0">
                <a:solidFill>
                  <a:schemeClr val="tx1"/>
                </a:solidFill>
              </a:rPr>
              <a:t>Sends the attachments with the save</a:t>
            </a:r>
            <a:endParaRPr lang="en-US" sz="1500" dirty="0"/>
          </a:p>
        </p:txBody>
      </p:sp>
      <p:sp>
        <p:nvSpPr>
          <p:cNvPr id="24" name="tab note"/>
          <p:cNvSpPr/>
          <p:nvPr/>
        </p:nvSpPr>
        <p:spPr>
          <a:xfrm>
            <a:off x="548640" y="5623560"/>
            <a:ext cx="11064240" cy="566928"/>
          </a:xfrm>
          <a:prstGeom prst="roundRect">
            <a:avLst>
              <a:gd name="adj" fmla="val 12903"/>
            </a:avLst>
          </a:prstGeom>
          <a:solidFill>
            <a:srgbClr val="0B1B6B"/>
          </a:solidFill>
          <a:ln w="12700">
            <a:solidFill>
              <a:srgbClr val="0B1B6B"/>
            </a:solidFill>
            <a:prstDash val="solid"/>
          </a:ln>
          <a:effectLst>
            <a:outerShdw sx="100000" sy="100000" kx="0" ky="0" algn="bl" rotWithShape="0" blurRad="101600" dist="25400" dir="5400000">
              <a:srgbClr val="000000">
                <a:alpha val="12000"/>
              </a:srgbClr>
            </a:outerShdw>
          </a:effectLst>
        </p:spPr>
      </p:sp>
      <p:sp>
        <p:nvSpPr>
          <p:cNvPr id="25" name="Text 22"/>
          <p:cNvSpPr txBox="1"/>
          <p:nvPr/>
        </p:nvSpPr>
        <p:spPr>
          <a:xfrm>
            <a:off x="822960" y="5742432"/>
            <a:ext cx="10607040" cy="36576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Save Media = one step: the media file and its staged attachments are written together</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Tour 4: review and export</a:t>
            </a:r>
            <a:endParaRPr lang="en-US" sz="3400" dirty="0"/>
          </a:p>
        </p:txBody>
      </p:sp>
      <p:sp>
        <p:nvSpPr>
          <p:cNvPr id="4" name="tour4 card Review (administrator)"/>
          <p:cNvSpPr/>
          <p:nvPr/>
        </p:nvSpPr>
        <p:spPr>
          <a:xfrm>
            <a:off x="548640" y="1417320"/>
            <a:ext cx="5394960" cy="4572000"/>
          </a:xfrm>
          <a:prstGeom prst="roundRect">
            <a:avLst>
              <a:gd name="adj" fmla="val 1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Review (administrator) circle"/>
          <p:cNvSpPr/>
          <p:nvPr/>
        </p:nvSpPr>
        <p:spPr>
          <a:xfrm>
            <a:off x="868680" y="1691640"/>
            <a:ext cx="822960" cy="822960"/>
          </a:xfrm>
          <a:prstGeom prst="ellipse">
            <a:avLst/>
          </a:prstGeom>
          <a:solidFill>
            <a:srgbClr val="0B1B6B"/>
          </a:solidFill>
          <a:ln w="12700">
            <a:solidFill>
              <a:srgbClr val="0B1B6B"/>
            </a:solidFill>
            <a:prstDash val="solid"/>
          </a:ln>
        </p:spPr>
      </p:sp>
      <p:pic>
        <p:nvPicPr>
          <p:cNvPr id="6" name="Review (administrator) icon" descr="Review (administrator)">    </p:cNvPr>
          <p:cNvPicPr>
            <a:picLocks noChangeAspect="1"/>
          </p:cNvPicPr>
          <p:nvPr/>
        </p:nvPicPr>
        <p:blipFill>
          <a:blip r:embed="rId1"/>
          <a:stretch>
            <a:fillRect/>
          </a:stretch>
        </p:blipFill>
        <p:spPr>
          <a:xfrm>
            <a:off x="1066190" y="1889150"/>
            <a:ext cx="427939" cy="427939"/>
          </a:xfrm>
          <a:prstGeom prst="rect">
            <a:avLst/>
          </a:prstGeom>
        </p:spPr>
      </p:pic>
      <p:sp>
        <p:nvSpPr>
          <p:cNvPr id="7" name="Text 3"/>
          <p:cNvSpPr txBox="1"/>
          <p:nvPr/>
        </p:nvSpPr>
        <p:spPr>
          <a:xfrm>
            <a:off x="1874520" y="1920240"/>
            <a:ext cx="3840480" cy="411480"/>
          </a:xfrm>
          <a:prstGeom prst="rect">
            <a:avLst/>
          </a:prstGeom>
          <a:noFill/>
          <a:ln/>
        </p:spPr>
        <p:txBody>
          <a:bodyPr wrap="square" lIns="0" tIns="0" rIns="0" bIns="0" rtlCol="0" anchor="t"/>
          <a:lstStyle/>
          <a:p>
            <a:pPr indent="0" marL="0">
              <a:spcAft>
                <a:spcPts val="400"/>
              </a:spcAft>
              <a:buNone/>
            </a:pPr>
            <a:r>
              <a:rPr lang="en-US" sz="2200" b="1" dirty="0">
                <a:solidFill>
                  <a:schemeClr val="tx2"/>
                </a:solidFill>
              </a:rPr>
              <a:t>Review (administrator)</a:t>
            </a:r>
            <a:endParaRPr lang="en-US" sz="2200" dirty="0"/>
          </a:p>
        </p:txBody>
      </p:sp>
      <p:sp>
        <p:nvSpPr>
          <p:cNvPr id="8" name="Text 4"/>
          <p:cNvSpPr txBox="1"/>
          <p:nvPr/>
        </p:nvSpPr>
        <p:spPr>
          <a:xfrm>
            <a:off x="914400" y="2834640"/>
            <a:ext cx="4754880" cy="3017520"/>
          </a:xfrm>
          <a:prstGeom prst="rect">
            <a:avLst/>
          </a:prstGeom>
          <a:noFill/>
          <a:ln/>
        </p:spPr>
        <p:txBody>
          <a:bodyPr wrap="square" lIns="0" tIns="0" rIns="0" bIns="0" rtlCol="0" anchor="t"/>
          <a:lstStyle/>
          <a:p>
            <a:pPr marL="203200" indent="-203200">
              <a:spcAft>
                <a:spcPts val="1200"/>
              </a:spcAft>
              <a:buSzPct val="100000"/>
              <a:buChar char="•"/>
            </a:pPr>
            <a:r>
              <a:rPr lang="en-US" sz="1800" dirty="0">
                <a:solidFill>
                  <a:schemeClr val="tx1"/>
                </a:solidFill>
              </a:rPr>
              <a:t>Queue of submitted requests, filter by mine</a:t>
            </a:r>
            <a:endParaRPr lang="en-US" sz="1800" dirty="0"/>
          </a:p>
          <a:p>
            <a:pPr marL="203200" indent="-203200">
              <a:spcAft>
                <a:spcPts val="1200"/>
              </a:spcAft>
              <a:buSzPct val="100000"/>
              <a:buChar char="•"/>
            </a:pPr>
            <a:r>
              <a:rPr lang="en-US" sz="1800" dirty="0">
                <a:solidFill>
                  <a:schemeClr val="tx1"/>
                </a:solidFill>
              </a:rPr>
              <a:t>Assignee and co-assignee, saved when changed</a:t>
            </a:r>
            <a:endParaRPr lang="en-US" sz="1800" dirty="0"/>
          </a:p>
          <a:p>
            <a:pPr marL="203200" indent="-203200">
              <a:spcAft>
                <a:spcPts val="1200"/>
              </a:spcAft>
              <a:buSzPct val="100000"/>
              <a:buChar char="•"/>
            </a:pPr>
            <a:r>
              <a:rPr lang="en-US" sz="1800" dirty="0">
                <a:solidFill>
                  <a:schemeClr val="tx1"/>
                </a:solidFill>
              </a:rPr>
              <a:t>Approve, partially approve (ticked files), reject, need info</a:t>
            </a:r>
            <a:endParaRPr lang="en-US" sz="1800" dirty="0"/>
          </a:p>
          <a:p>
            <a:pPr marL="203200" indent="-203200">
              <a:spcAft>
                <a:spcPts val="1200"/>
              </a:spcAft>
              <a:buSzPct val="100000"/>
              <a:buChar char="•"/>
            </a:pPr>
            <a:r>
              <a:rPr lang="en-US" sz="1800" dirty="0">
                <a:solidFill>
                  <a:schemeClr val="tx1"/>
                </a:solidFill>
              </a:rPr>
              <a:t>Reviewer comment required to reject or send back</a:t>
            </a:r>
            <a:endParaRPr lang="en-US" sz="1800" dirty="0"/>
          </a:p>
          <a:p>
            <a:pPr marL="203200" indent="-203200">
              <a:spcAft>
                <a:spcPts val="1200"/>
              </a:spcAft>
              <a:buSzPct val="100000"/>
              <a:buChar char="•"/>
            </a:pPr>
            <a:r>
              <a:rPr lang="en-US" sz="1800" dirty="0">
                <a:solidFill>
                  <a:schemeClr val="tx1"/>
                </a:solidFill>
              </a:rPr>
              <a:t>Archive-only approval with a reason for the requestor</a:t>
            </a:r>
            <a:endParaRPr lang="en-US" sz="1800" dirty="0"/>
          </a:p>
        </p:txBody>
      </p:sp>
      <p:sp>
        <p:nvSpPr>
          <p:cNvPr id="9" name="tour4 card Export and print"/>
          <p:cNvSpPr/>
          <p:nvPr/>
        </p:nvSpPr>
        <p:spPr>
          <a:xfrm>
            <a:off x="6217920" y="1417320"/>
            <a:ext cx="5394960" cy="4572000"/>
          </a:xfrm>
          <a:prstGeom prst="roundRect">
            <a:avLst>
              <a:gd name="adj" fmla="val 1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Export and print circle"/>
          <p:cNvSpPr/>
          <p:nvPr/>
        </p:nvSpPr>
        <p:spPr>
          <a:xfrm>
            <a:off x="6537960" y="1691640"/>
            <a:ext cx="822960" cy="822960"/>
          </a:xfrm>
          <a:prstGeom prst="ellipse">
            <a:avLst/>
          </a:prstGeom>
          <a:solidFill>
            <a:srgbClr val="3860B2"/>
          </a:solidFill>
          <a:ln w="12700">
            <a:solidFill>
              <a:srgbClr val="3860B2"/>
            </a:solidFill>
            <a:prstDash val="solid"/>
          </a:ln>
        </p:spPr>
      </p:sp>
      <p:pic>
        <p:nvPicPr>
          <p:cNvPr id="11" name="Export and print icon" descr="Export and print">    </p:cNvPr>
          <p:cNvPicPr>
            <a:picLocks noChangeAspect="1"/>
          </p:cNvPicPr>
          <p:nvPr/>
        </p:nvPicPr>
        <p:blipFill>
          <a:blip r:embed="rId2"/>
          <a:stretch>
            <a:fillRect/>
          </a:stretch>
        </p:blipFill>
        <p:spPr>
          <a:xfrm>
            <a:off x="6735470" y="1889150"/>
            <a:ext cx="427939" cy="427939"/>
          </a:xfrm>
          <a:prstGeom prst="rect">
            <a:avLst/>
          </a:prstGeom>
        </p:spPr>
      </p:pic>
      <p:sp>
        <p:nvSpPr>
          <p:cNvPr id="12" name="Text 7"/>
          <p:cNvSpPr txBox="1"/>
          <p:nvPr/>
        </p:nvSpPr>
        <p:spPr>
          <a:xfrm>
            <a:off x="7543800" y="1920240"/>
            <a:ext cx="3840480" cy="411480"/>
          </a:xfrm>
          <a:prstGeom prst="rect">
            <a:avLst/>
          </a:prstGeom>
          <a:noFill/>
          <a:ln/>
        </p:spPr>
        <p:txBody>
          <a:bodyPr wrap="square" lIns="0" tIns="0" rIns="0" bIns="0" rtlCol="0" anchor="t"/>
          <a:lstStyle/>
          <a:p>
            <a:pPr indent="0" marL="0">
              <a:spcAft>
                <a:spcPts val="400"/>
              </a:spcAft>
              <a:buNone/>
            </a:pPr>
            <a:r>
              <a:rPr lang="en-US" sz="2200" b="1" dirty="0">
                <a:solidFill>
                  <a:schemeClr val="tx2"/>
                </a:solidFill>
              </a:rPr>
              <a:t>Export and print</a:t>
            </a:r>
            <a:endParaRPr lang="en-US" sz="2200" dirty="0"/>
          </a:p>
        </p:txBody>
      </p:sp>
      <p:sp>
        <p:nvSpPr>
          <p:cNvPr id="13" name="Text 8"/>
          <p:cNvSpPr txBox="1"/>
          <p:nvPr/>
        </p:nvSpPr>
        <p:spPr>
          <a:xfrm>
            <a:off x="6583680" y="2834640"/>
            <a:ext cx="4754880" cy="3017520"/>
          </a:xfrm>
          <a:prstGeom prst="rect">
            <a:avLst/>
          </a:prstGeom>
          <a:noFill/>
          <a:ln/>
        </p:spPr>
        <p:txBody>
          <a:bodyPr wrap="square" lIns="0" tIns="0" rIns="0" bIns="0" rtlCol="0" anchor="t"/>
          <a:lstStyle/>
          <a:p>
            <a:pPr marL="203200" indent="-203200">
              <a:spcAft>
                <a:spcPts val="1200"/>
              </a:spcAft>
              <a:buSzPct val="100000"/>
              <a:buChar char="•"/>
            </a:pPr>
            <a:r>
              <a:rPr lang="en-US" sz="1800" dirty="0">
                <a:solidFill>
                  <a:schemeClr val="tx1"/>
                </a:solidFill>
              </a:rPr>
              <a:t>Own filters: title, request ID, type, status</a:t>
            </a:r>
            <a:endParaRPr lang="en-US" sz="1800" dirty="0"/>
          </a:p>
          <a:p>
            <a:pPr marL="203200" indent="-203200">
              <a:spcAft>
                <a:spcPts val="1200"/>
              </a:spcAft>
              <a:buSzPct val="100000"/>
              <a:buChar char="•"/>
            </a:pPr>
            <a:r>
              <a:rPr lang="en-US" sz="1800" dirty="0">
                <a:solidFill>
                  <a:schemeClr val="tx1"/>
                </a:solidFill>
              </a:rPr>
              <a:t>One A4 print view per production type</a:t>
            </a:r>
            <a:endParaRPr lang="en-US" sz="1800" dirty="0"/>
          </a:p>
          <a:p>
            <a:pPr marL="203200" indent="-203200">
              <a:spcAft>
                <a:spcPts val="1200"/>
              </a:spcAft>
              <a:buSzPct val="100000"/>
              <a:buChar char="•"/>
            </a:pPr>
            <a:r>
              <a:rPr lang="en-US" sz="1800" dirty="0">
                <a:solidFill>
                  <a:schemeClr val="tx1"/>
                </a:solidFill>
              </a:rPr>
              <a:t>PDF download of the selected view</a:t>
            </a:r>
            <a:endParaRPr lang="en-US" sz="1800" dirty="0"/>
          </a:p>
          <a:p>
            <a:pPr marL="203200" indent="-203200">
              <a:spcAft>
                <a:spcPts val="1200"/>
              </a:spcAft>
              <a:buSzPct val="100000"/>
              <a:buChar char="•"/>
            </a:pPr>
            <a:r>
              <a:rPr lang="en-US" sz="1800" dirty="0">
                <a:solidFill>
                  <a:schemeClr val="tx1"/>
                </a:solidFill>
              </a:rPr>
              <a:t>Loads the requests itself, role-aware</a:t>
            </a:r>
            <a:endParaRPr lang="en-US" sz="1800" dirty="0"/>
          </a:p>
          <a:p>
            <a:pPr marL="203200" indent="-203200">
              <a:spcAft>
                <a:spcPts val="1200"/>
              </a:spcAft>
              <a:buSzPct val="100000"/>
              <a:buChar char="•"/>
            </a:pPr>
            <a:r>
              <a:rPr lang="en-US" sz="1800" dirty="0">
                <a:solidFill>
                  <a:schemeClr val="tx1"/>
                </a:solidFill>
              </a:rPr>
              <a:t>Request ID search matches the request number</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Architecture: Power Apps on SharePoint</a:t>
            </a:r>
            <a:endParaRPr lang="en-US" sz="3400" dirty="0"/>
          </a:p>
        </p:txBody>
      </p:sp>
      <p:sp>
        <p:nvSpPr>
          <p:cNvPr id="4" name="box users"/>
          <p:cNvSpPr/>
          <p:nvPr/>
        </p:nvSpPr>
        <p:spPr>
          <a:xfrm>
            <a:off x="548640" y="1463040"/>
            <a:ext cx="2103120" cy="1188720"/>
          </a:xfrm>
          <a:prstGeom prst="roundRect">
            <a:avLst>
              <a:gd name="adj" fmla="val 6154"/>
            </a:avLst>
          </a:prstGeom>
          <a:solidFill>
            <a:srgbClr val="3860B2"/>
          </a:solidFill>
          <a:ln w="12700">
            <a:solidFill>
              <a:srgbClr val="3860B2"/>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685800" y="1572768"/>
            <a:ext cx="1828800" cy="365760"/>
          </a:xfrm>
          <a:prstGeom prst="rect">
            <a:avLst/>
          </a:prstGeom>
          <a:noFill/>
          <a:ln/>
        </p:spPr>
        <p:txBody>
          <a:bodyPr wrap="square" lIns="0" tIns="0" rIns="0" bIns="0" rtlCol="0" anchor="t"/>
          <a:lstStyle/>
          <a:p>
            <a:pPr algn="ctr" indent="0" marL="0">
              <a:spcAft>
                <a:spcPts val="400"/>
              </a:spcAft>
              <a:buNone/>
            </a:pPr>
            <a:r>
              <a:rPr lang="en-US" sz="1600" b="1" dirty="0">
                <a:solidFill>
                  <a:schemeClr val="bg1"/>
                </a:solidFill>
              </a:rPr>
              <a:t>Users</a:t>
            </a:r>
            <a:endParaRPr lang="en-US" sz="1600" dirty="0"/>
          </a:p>
        </p:txBody>
      </p:sp>
      <p:sp>
        <p:nvSpPr>
          <p:cNvPr id="6" name="Text 3"/>
          <p:cNvSpPr txBox="1"/>
          <p:nvPr/>
        </p:nvSpPr>
        <p:spPr>
          <a:xfrm>
            <a:off x="685800" y="1965960"/>
            <a:ext cx="1828800" cy="640080"/>
          </a:xfrm>
          <a:prstGeom prst="rect">
            <a:avLst/>
          </a:prstGeom>
          <a:noFill/>
          <a:ln/>
        </p:spPr>
        <p:txBody>
          <a:bodyPr wrap="square" lIns="0" tIns="0" rIns="0" bIns="0" rtlCol="0" anchor="t"/>
          <a:lstStyle/>
          <a:p>
            <a:pPr algn="ctr" indent="0" marL="0">
              <a:spcAft>
                <a:spcPts val="400"/>
              </a:spcAft>
              <a:buNone/>
            </a:pPr>
            <a:r>
              <a:rPr lang="en-US" sz="1200" dirty="0">
                <a:solidFill>
                  <a:schemeClr val="bg2"/>
                </a:solidFill>
              </a:rPr>
              <a:t>Browser or Teams; roles REQUESTOR and ADMINISTRATOR</a:t>
            </a:r>
            <a:endParaRPr lang="en-US" sz="1200" dirty="0"/>
          </a:p>
        </p:txBody>
      </p:sp>
      <p:sp>
        <p:nvSpPr>
          <p:cNvPr id="7" name="box app"/>
          <p:cNvSpPr/>
          <p:nvPr/>
        </p:nvSpPr>
        <p:spPr>
          <a:xfrm>
            <a:off x="3291840" y="1463040"/>
            <a:ext cx="2743200" cy="1188720"/>
          </a:xfrm>
          <a:prstGeom prst="roundRect">
            <a:avLst>
              <a:gd name="adj" fmla="val 6154"/>
            </a:avLst>
          </a:prstGeom>
          <a:solidFill>
            <a:srgbClr val="0B1B6B"/>
          </a:solidFill>
          <a:ln w="12700">
            <a:solidFill>
              <a:srgbClr val="0B1B6B"/>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3429000" y="1572768"/>
            <a:ext cx="2468880" cy="365760"/>
          </a:xfrm>
          <a:prstGeom prst="rect">
            <a:avLst/>
          </a:prstGeom>
          <a:noFill/>
          <a:ln/>
        </p:spPr>
        <p:txBody>
          <a:bodyPr wrap="square" lIns="0" tIns="0" rIns="0" bIns="0" rtlCol="0" anchor="t"/>
          <a:lstStyle/>
          <a:p>
            <a:pPr algn="ctr" indent="0" marL="0">
              <a:spcAft>
                <a:spcPts val="400"/>
              </a:spcAft>
              <a:buNone/>
            </a:pPr>
            <a:r>
              <a:rPr lang="en-US" sz="1600" b="1" dirty="0">
                <a:solidFill>
                  <a:schemeClr val="bg1"/>
                </a:solidFill>
              </a:rPr>
              <a:t>Power Apps canvas app</a:t>
            </a:r>
            <a:endParaRPr lang="en-US" sz="1600" dirty="0"/>
          </a:p>
        </p:txBody>
      </p:sp>
      <p:sp>
        <p:nvSpPr>
          <p:cNvPr id="9" name="Text 6"/>
          <p:cNvSpPr txBox="1"/>
          <p:nvPr/>
        </p:nvSpPr>
        <p:spPr>
          <a:xfrm>
            <a:off x="3429000" y="1965960"/>
            <a:ext cx="2468880" cy="640080"/>
          </a:xfrm>
          <a:prstGeom prst="rect">
            <a:avLst/>
          </a:prstGeom>
          <a:noFill/>
          <a:ln/>
        </p:spPr>
        <p:txBody>
          <a:bodyPr wrap="square" lIns="0" tIns="0" rIns="0" bIns="0" rtlCol="0" anchor="t"/>
          <a:lstStyle/>
          <a:p>
            <a:pPr algn="ctr" indent="0" marL="0">
              <a:spcAft>
                <a:spcPts val="400"/>
              </a:spcAft>
              <a:buNone/>
            </a:pPr>
            <a:r>
              <a:rPr lang="en-US" sz="1200" dirty="0">
                <a:solidFill>
                  <a:schemeClr val="bg2"/>
                </a:solidFill>
              </a:rPr>
              <a:t>15 screens, 1,208 controls, 52,810 formula rules</a:t>
            </a:r>
            <a:endParaRPr lang="en-US" sz="1200" dirty="0"/>
          </a:p>
        </p:txBody>
      </p:sp>
      <p:sp>
        <p:nvSpPr>
          <p:cNvPr id="10" name="box o365"/>
          <p:cNvSpPr/>
          <p:nvPr/>
        </p:nvSpPr>
        <p:spPr>
          <a:xfrm>
            <a:off x="3291840" y="3566160"/>
            <a:ext cx="2743200" cy="1188720"/>
          </a:xfrm>
          <a:prstGeom prst="roundRect">
            <a:avLst>
              <a:gd name="adj" fmla="val 6154"/>
            </a:avLst>
          </a:prstGeom>
          <a:solidFill>
            <a:srgbClr val="3860B2"/>
          </a:solidFill>
          <a:ln w="12700">
            <a:solidFill>
              <a:srgbClr val="3860B2"/>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3429000" y="3675888"/>
            <a:ext cx="2468880" cy="365760"/>
          </a:xfrm>
          <a:prstGeom prst="rect">
            <a:avLst/>
          </a:prstGeom>
          <a:noFill/>
          <a:ln/>
        </p:spPr>
        <p:txBody>
          <a:bodyPr wrap="square" lIns="0" tIns="0" rIns="0" bIns="0" rtlCol="0" anchor="t"/>
          <a:lstStyle/>
          <a:p>
            <a:pPr algn="ctr" indent="0" marL="0">
              <a:spcAft>
                <a:spcPts val="400"/>
              </a:spcAft>
              <a:buNone/>
            </a:pPr>
            <a:r>
              <a:rPr lang="en-US" sz="1600" b="1" dirty="0">
                <a:solidFill>
                  <a:schemeClr val="bg1"/>
                </a:solidFill>
              </a:rPr>
              <a:t>Office 365 Users</a:t>
            </a:r>
            <a:endParaRPr lang="en-US" sz="1600" dirty="0"/>
          </a:p>
        </p:txBody>
      </p:sp>
      <p:sp>
        <p:nvSpPr>
          <p:cNvPr id="12" name="Text 9"/>
          <p:cNvSpPr txBox="1"/>
          <p:nvPr/>
        </p:nvSpPr>
        <p:spPr>
          <a:xfrm>
            <a:off x="3429000" y="4069080"/>
            <a:ext cx="2468880" cy="640080"/>
          </a:xfrm>
          <a:prstGeom prst="rect">
            <a:avLst/>
          </a:prstGeom>
          <a:noFill/>
          <a:ln/>
        </p:spPr>
        <p:txBody>
          <a:bodyPr wrap="square" lIns="0" tIns="0" rIns="0" bIns="0" rtlCol="0" anchor="t"/>
          <a:lstStyle/>
          <a:p>
            <a:pPr algn="ctr" indent="0" marL="0">
              <a:spcAft>
                <a:spcPts val="400"/>
              </a:spcAft>
              <a:buNone/>
            </a:pPr>
            <a:r>
              <a:rPr lang="en-US" sz="1200" dirty="0">
                <a:solidFill>
                  <a:schemeClr val="bg2"/>
                </a:solidFill>
              </a:rPr>
              <a:t>People picker, profile, department</a:t>
            </a:r>
            <a:endParaRPr lang="en-US" sz="1200" dirty="0"/>
          </a:p>
        </p:txBody>
      </p:sp>
      <p:sp>
        <p:nvSpPr>
          <p:cNvPr id="13" name="box flow"/>
          <p:cNvSpPr/>
          <p:nvPr/>
        </p:nvSpPr>
        <p:spPr>
          <a:xfrm>
            <a:off x="548640" y="3566160"/>
            <a:ext cx="2103120" cy="1188720"/>
          </a:xfrm>
          <a:prstGeom prst="roundRect">
            <a:avLst>
              <a:gd name="adj" fmla="val 6154"/>
            </a:avLst>
          </a:prstGeom>
          <a:solidFill>
            <a:srgbClr val="EEF1F8"/>
          </a:solidFill>
          <a:ln w="25400">
            <a:solidFill>
              <a:srgbClr val="8A93A6"/>
            </a:solidFill>
            <a:prstDash val="dash"/>
          </a:ln>
        </p:spPr>
      </p:sp>
      <p:sp>
        <p:nvSpPr>
          <p:cNvPr id="14" name="Text 11"/>
          <p:cNvSpPr txBox="1"/>
          <p:nvPr/>
        </p:nvSpPr>
        <p:spPr>
          <a:xfrm>
            <a:off x="685800" y="3675888"/>
            <a:ext cx="1828800" cy="365760"/>
          </a:xfrm>
          <a:prstGeom prst="rect">
            <a:avLst/>
          </a:prstGeom>
          <a:noFill/>
          <a:ln/>
        </p:spPr>
        <p:txBody>
          <a:bodyPr wrap="square" lIns="0" tIns="0" rIns="0" bIns="0" rtlCol="0" anchor="t"/>
          <a:lstStyle/>
          <a:p>
            <a:pPr algn="ctr" indent="0" marL="0">
              <a:spcAft>
                <a:spcPts val="400"/>
              </a:spcAft>
              <a:buNone/>
            </a:pPr>
            <a:r>
              <a:rPr lang="en-US" sz="1600" b="1" dirty="0">
                <a:solidFill>
                  <a:schemeClr val="tx2"/>
                </a:solidFill>
              </a:rPr>
              <a:t>Power Automate</a:t>
            </a:r>
            <a:endParaRPr lang="en-US" sz="1600" dirty="0"/>
          </a:p>
        </p:txBody>
      </p:sp>
      <p:sp>
        <p:nvSpPr>
          <p:cNvPr id="15" name="Text 12"/>
          <p:cNvSpPr txBox="1"/>
          <p:nvPr/>
        </p:nvSpPr>
        <p:spPr>
          <a:xfrm>
            <a:off x="685800" y="4069080"/>
            <a:ext cx="1828800" cy="64008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rPr>
              <a:t>Specified: e-mail on archive-only approval (to be built)</a:t>
            </a:r>
            <a:endParaRPr lang="en-US" sz="1200" dirty="0"/>
          </a:p>
        </p:txBody>
      </p:sp>
      <p:sp>
        <p:nvSpPr>
          <p:cNvPr id="16" name="arrow users app"/>
          <p:cNvSpPr/>
          <p:nvPr/>
        </p:nvSpPr>
        <p:spPr>
          <a:xfrm>
            <a:off x="2651760" y="2057400"/>
            <a:ext cx="640080" cy="0"/>
          </a:xfrm>
          <a:prstGeom prst="line">
            <a:avLst/>
          </a:prstGeom>
          <a:noFill/>
          <a:ln w="25400">
            <a:solidFill>
              <a:srgbClr val="8A93A6"/>
            </a:solidFill>
            <a:prstDash val="solid"/>
            <a:tailEnd type="triangle"/>
          </a:ln>
        </p:spPr>
      </p:sp>
      <p:sp>
        <p:nvSpPr>
          <p:cNvPr id="17" name="arrow app o365"/>
          <p:cNvSpPr/>
          <p:nvPr/>
        </p:nvSpPr>
        <p:spPr>
          <a:xfrm>
            <a:off x="4663440" y="2651760"/>
            <a:ext cx="0" cy="914400"/>
          </a:xfrm>
          <a:prstGeom prst="line">
            <a:avLst/>
          </a:prstGeom>
          <a:noFill/>
          <a:ln w="25400">
            <a:solidFill>
              <a:srgbClr val="8A93A6"/>
            </a:solidFill>
            <a:prstDash val="solid"/>
            <a:tailEnd type="triangle"/>
          </a:ln>
        </p:spPr>
      </p:sp>
      <p:sp>
        <p:nvSpPr>
          <p:cNvPr id="18" name="box sharepoint"/>
          <p:cNvSpPr/>
          <p:nvPr/>
        </p:nvSpPr>
        <p:spPr>
          <a:xfrm>
            <a:off x="3291840" y="4983480"/>
            <a:ext cx="2743200" cy="1097280"/>
          </a:xfrm>
          <a:prstGeom prst="roundRect">
            <a:avLst>
              <a:gd name="adj" fmla="val 6667"/>
            </a:avLst>
          </a:prstGeom>
          <a:solidFill>
            <a:srgbClr val="2E9E6B"/>
          </a:solidFill>
          <a:ln w="12700">
            <a:solidFill>
              <a:srgbClr val="2E9E6B"/>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3429000" y="5093208"/>
            <a:ext cx="2468880" cy="365760"/>
          </a:xfrm>
          <a:prstGeom prst="rect">
            <a:avLst/>
          </a:prstGeom>
          <a:noFill/>
          <a:ln/>
        </p:spPr>
        <p:txBody>
          <a:bodyPr wrap="square" lIns="0" tIns="0" rIns="0" bIns="0" rtlCol="0" anchor="t"/>
          <a:lstStyle/>
          <a:p>
            <a:pPr algn="ctr" indent="0" marL="0">
              <a:spcAft>
                <a:spcPts val="400"/>
              </a:spcAft>
              <a:buNone/>
            </a:pPr>
            <a:r>
              <a:rPr lang="en-US" sz="1600" b="1" dirty="0">
                <a:solidFill>
                  <a:schemeClr val="bg1"/>
                </a:solidFill>
              </a:rPr>
              <a:t>SharePoint lists (5)</a:t>
            </a:r>
            <a:endParaRPr lang="en-US" sz="1600" dirty="0"/>
          </a:p>
        </p:txBody>
      </p:sp>
      <p:sp>
        <p:nvSpPr>
          <p:cNvPr id="20" name="Text 17"/>
          <p:cNvSpPr txBox="1"/>
          <p:nvPr/>
        </p:nvSpPr>
        <p:spPr>
          <a:xfrm>
            <a:off x="3429000" y="5486400"/>
            <a:ext cx="2468880" cy="548640"/>
          </a:xfrm>
          <a:prstGeom prst="rect">
            <a:avLst/>
          </a:prstGeom>
          <a:noFill/>
          <a:ln/>
        </p:spPr>
        <p:txBody>
          <a:bodyPr wrap="square" lIns="0" tIns="0" rIns="0" bIns="0" rtlCol="0" anchor="t"/>
          <a:lstStyle/>
          <a:p>
            <a:pPr algn="ctr" indent="0" marL="0">
              <a:spcAft>
                <a:spcPts val="400"/>
              </a:spcAft>
              <a:buNone/>
            </a:pPr>
            <a:r>
              <a:rPr lang="en-US" sz="1200" dirty="0">
                <a:solidFill>
                  <a:schemeClr val="bg2"/>
                </a:solidFill>
              </a:rPr>
              <a:t>Requests, Media files, Notes, Roles, Suspension dates</a:t>
            </a:r>
            <a:endParaRPr lang="en-US" sz="1200" dirty="0"/>
          </a:p>
        </p:txBody>
      </p:sp>
      <p:sp>
        <p:nvSpPr>
          <p:cNvPr id="21" name="arrow sp"/>
          <p:cNvSpPr/>
          <p:nvPr/>
        </p:nvSpPr>
        <p:spPr>
          <a:xfrm>
            <a:off x="4663440" y="4754880"/>
            <a:ext cx="0" cy="228600"/>
          </a:xfrm>
          <a:prstGeom prst="line">
            <a:avLst/>
          </a:prstGeom>
          <a:noFill/>
          <a:ln w="25400">
            <a:solidFill>
              <a:srgbClr val="8A93A6"/>
            </a:solidFill>
            <a:prstDash val="solid"/>
            <a:tailEnd type="triangle"/>
          </a:ln>
        </p:spPr>
      </p:sp>
      <p:sp>
        <p:nvSpPr>
          <p:cNvPr id="22" name="arrow flow sp a"/>
          <p:cNvSpPr/>
          <p:nvPr/>
        </p:nvSpPr>
        <p:spPr>
          <a:xfrm>
            <a:off x="1600200" y="4754880"/>
            <a:ext cx="0" cy="822960"/>
          </a:xfrm>
          <a:prstGeom prst="line">
            <a:avLst/>
          </a:prstGeom>
          <a:noFill/>
          <a:ln w="25400">
            <a:solidFill>
              <a:srgbClr val="8A93A6"/>
            </a:solidFill>
            <a:prstDash val="dash"/>
          </a:ln>
        </p:spPr>
      </p:sp>
      <p:sp>
        <p:nvSpPr>
          <p:cNvPr id="23" name="arrow flow sp b"/>
          <p:cNvSpPr/>
          <p:nvPr/>
        </p:nvSpPr>
        <p:spPr>
          <a:xfrm>
            <a:off x="1600200" y="5577840"/>
            <a:ext cx="1691640" cy="0"/>
          </a:xfrm>
          <a:prstGeom prst="line">
            <a:avLst/>
          </a:prstGeom>
          <a:noFill/>
          <a:ln w="25400">
            <a:solidFill>
              <a:srgbClr val="8A93A6"/>
            </a:solidFill>
            <a:prstDash val="dash"/>
            <a:tailEnd type="triangle"/>
          </a:ln>
        </p:spPr>
      </p:sp>
      <p:graphicFrame>
        <p:nvGraphicFramePr>
          <p:cNvPr id="24" name="Chart 0" descr=""/>
          <p:cNvGraphicFramePr/>
          <p:nvPr/>
        </p:nvGraphicFramePr>
        <p:xfrm>
          <a:off x="6675120" y="1417320"/>
          <a:ext cx="4937760" cy="4480560"/>
        </p:xfrm>
        <a:graphic xmlns:a="http://schemas.openxmlformats.org/drawingml/2006/main">
          <a:graphicData uri="http://schemas.openxmlformats.org/drawingml/2006/chart">
            <c:chart xmlns:c="http://schemas.openxmlformats.org/drawingml/2006/chart" r:id="rId1"/>
          </a:graphicData>
        </a:graphic>
      </p:graphicFrame>
      <p:sp>
        <p:nvSpPr>
          <p:cNvPr id="25" name="Text 21"/>
          <p:cNvSpPr txBox="1"/>
          <p:nvPr/>
        </p:nvSpPr>
        <p:spPr>
          <a:xfrm>
            <a:off x="6675120" y="5943600"/>
            <a:ext cx="4572000" cy="274320"/>
          </a:xfrm>
          <a:prstGeom prst="rect">
            <a:avLst/>
          </a:prstGeom>
          <a:noFill/>
          <a:ln/>
        </p:spPr>
        <p:txBody>
          <a:bodyPr wrap="square" lIns="0" tIns="0" rIns="0" bIns="0" rtlCol="0" anchor="t"/>
          <a:lstStyle/>
          <a:p>
            <a:pPr indent="0" marL="0">
              <a:spcAft>
                <a:spcPts val="400"/>
              </a:spcAft>
              <a:buNone/>
            </a:pPr>
            <a:r>
              <a:rPr lang="en-US" sz="1000" dirty="0">
                <a:solidFill>
                  <a:schemeClr val="accent6"/>
                </a:solidFill>
              </a:rPr>
              <a:t>Schema cached in package FINAL38 (display columns)</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How it was built: edit, pack, verify</a:t>
            </a:r>
            <a:endParaRPr lang="en-US" sz="3400" dirty="0"/>
          </a:p>
        </p:txBody>
      </p:sp>
      <p:sp>
        <p:nvSpPr>
          <p:cNvPr id="4" name="step card Change request"/>
          <p:cNvSpPr/>
          <p:nvPr/>
        </p:nvSpPr>
        <p:spPr>
          <a:xfrm>
            <a:off x="548640" y="1463040"/>
            <a:ext cx="1737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Change request circle"/>
          <p:cNvSpPr/>
          <p:nvPr/>
        </p:nvSpPr>
        <p:spPr>
          <a:xfrm>
            <a:off x="1005840" y="1645920"/>
            <a:ext cx="822960" cy="822960"/>
          </a:xfrm>
          <a:prstGeom prst="ellipse">
            <a:avLst/>
          </a:prstGeom>
          <a:solidFill>
            <a:srgbClr val="0B1B6B"/>
          </a:solidFill>
          <a:ln w="12700">
            <a:solidFill>
              <a:srgbClr val="0B1B6B"/>
            </a:solidFill>
            <a:prstDash val="solid"/>
          </a:ln>
        </p:spPr>
      </p:sp>
      <p:pic>
        <p:nvPicPr>
          <p:cNvPr id="6" name="Change request icon" descr="Change request">    </p:cNvPr>
          <p:cNvPicPr>
            <a:picLocks noChangeAspect="1"/>
          </p:cNvPicPr>
          <p:nvPr/>
        </p:nvPicPr>
        <p:blipFill>
          <a:blip r:embed="rId1"/>
          <a:stretch>
            <a:fillRect/>
          </a:stretch>
        </p:blipFill>
        <p:spPr>
          <a:xfrm>
            <a:off x="1203350" y="1843430"/>
            <a:ext cx="427939" cy="427939"/>
          </a:xfrm>
          <a:prstGeom prst="rect">
            <a:avLst/>
          </a:prstGeom>
        </p:spPr>
      </p:pic>
      <p:sp>
        <p:nvSpPr>
          <p:cNvPr id="7" name="Text 3"/>
          <p:cNvSpPr txBox="1"/>
          <p:nvPr/>
        </p:nvSpPr>
        <p:spPr>
          <a:xfrm>
            <a:off x="640080" y="2606040"/>
            <a:ext cx="155448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tx2"/>
                </a:solidFill>
              </a:rPr>
              <a:t>Change request</a:t>
            </a:r>
            <a:endParaRPr lang="en-US" sz="1500" dirty="0"/>
          </a:p>
        </p:txBody>
      </p:sp>
      <p:sp>
        <p:nvSpPr>
          <p:cNvPr id="8" name="Text 4"/>
          <p:cNvSpPr txBox="1"/>
          <p:nvPr/>
        </p:nvSpPr>
        <p:spPr>
          <a:xfrm>
            <a:off x="658368" y="2971800"/>
            <a:ext cx="1517904" cy="105156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rPr>
              <a:t>Short request from the owner, often with a screenshot</a:t>
            </a:r>
            <a:endParaRPr lang="en-US" sz="1200" dirty="0"/>
          </a:p>
        </p:txBody>
      </p:sp>
      <p:sp>
        <p:nvSpPr>
          <p:cNvPr id="9" name="step arrow 0"/>
          <p:cNvSpPr/>
          <p:nvPr/>
        </p:nvSpPr>
        <p:spPr>
          <a:xfrm>
            <a:off x="2286000" y="2743200"/>
            <a:ext cx="137160" cy="0"/>
          </a:xfrm>
          <a:prstGeom prst="line">
            <a:avLst/>
          </a:prstGeom>
          <a:noFill/>
          <a:ln w="25400">
            <a:solidFill>
              <a:srgbClr val="8A93A6"/>
            </a:solidFill>
            <a:prstDash val="solid"/>
            <a:tailEnd type="triangle"/>
          </a:ln>
        </p:spPr>
      </p:sp>
      <p:sp>
        <p:nvSpPr>
          <p:cNvPr id="10" name="step card Build script"/>
          <p:cNvSpPr/>
          <p:nvPr/>
        </p:nvSpPr>
        <p:spPr>
          <a:xfrm>
            <a:off x="2423160" y="1463040"/>
            <a:ext cx="1737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Build script circle"/>
          <p:cNvSpPr/>
          <p:nvPr/>
        </p:nvSpPr>
        <p:spPr>
          <a:xfrm>
            <a:off x="2880360" y="1645920"/>
            <a:ext cx="822960" cy="822960"/>
          </a:xfrm>
          <a:prstGeom prst="ellipse">
            <a:avLst/>
          </a:prstGeom>
          <a:solidFill>
            <a:srgbClr val="0B1B6B"/>
          </a:solidFill>
          <a:ln w="12700">
            <a:solidFill>
              <a:srgbClr val="0B1B6B"/>
            </a:solidFill>
            <a:prstDash val="solid"/>
          </a:ln>
        </p:spPr>
      </p:sp>
      <p:pic>
        <p:nvPicPr>
          <p:cNvPr id="12" name="Build script icon" descr="Build script">    </p:cNvPr>
          <p:cNvPicPr>
            <a:picLocks noChangeAspect="1"/>
          </p:cNvPicPr>
          <p:nvPr/>
        </p:nvPicPr>
        <p:blipFill>
          <a:blip r:embed="rId2"/>
          <a:stretch>
            <a:fillRect/>
          </a:stretch>
        </p:blipFill>
        <p:spPr>
          <a:xfrm>
            <a:off x="3077870" y="1843430"/>
            <a:ext cx="427939" cy="427939"/>
          </a:xfrm>
          <a:prstGeom prst="rect">
            <a:avLst/>
          </a:prstGeom>
        </p:spPr>
      </p:pic>
      <p:sp>
        <p:nvSpPr>
          <p:cNvPr id="13" name="Text 8"/>
          <p:cNvSpPr txBox="1"/>
          <p:nvPr/>
        </p:nvSpPr>
        <p:spPr>
          <a:xfrm>
            <a:off x="2514600" y="2606040"/>
            <a:ext cx="155448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tx2"/>
                </a:solidFill>
              </a:rPr>
              <a:t>Build script</a:t>
            </a:r>
            <a:endParaRPr lang="en-US" sz="1500" dirty="0"/>
          </a:p>
        </p:txBody>
      </p:sp>
      <p:sp>
        <p:nvSpPr>
          <p:cNvPr id="14" name="Text 9"/>
          <p:cNvSpPr txBox="1"/>
          <p:nvPr/>
        </p:nvSpPr>
        <p:spPr>
          <a:xfrm>
            <a:off x="2532888" y="2971800"/>
            <a:ext cx="1517904" cy="105156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rPr>
              <a:t>Edits Controls JSON and the YAML mirror, with guards on old values</a:t>
            </a:r>
            <a:endParaRPr lang="en-US" sz="1200" dirty="0"/>
          </a:p>
        </p:txBody>
      </p:sp>
      <p:sp>
        <p:nvSpPr>
          <p:cNvPr id="15" name="step arrow 1"/>
          <p:cNvSpPr/>
          <p:nvPr/>
        </p:nvSpPr>
        <p:spPr>
          <a:xfrm>
            <a:off x="4160520" y="2743200"/>
            <a:ext cx="137160" cy="0"/>
          </a:xfrm>
          <a:prstGeom prst="line">
            <a:avLst/>
          </a:prstGeom>
          <a:noFill/>
          <a:ln w="25400">
            <a:solidFill>
              <a:srgbClr val="8A93A6"/>
            </a:solidFill>
            <a:prstDash val="solid"/>
            <a:tailEnd type="triangle"/>
          </a:ln>
        </p:spPr>
      </p:sp>
      <p:sp>
        <p:nvSpPr>
          <p:cNvPr id="16" name="step card Pack"/>
          <p:cNvSpPr/>
          <p:nvPr/>
        </p:nvSpPr>
        <p:spPr>
          <a:xfrm>
            <a:off x="4297680" y="1463040"/>
            <a:ext cx="1737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7" name="Pack circle"/>
          <p:cNvSpPr/>
          <p:nvPr/>
        </p:nvSpPr>
        <p:spPr>
          <a:xfrm>
            <a:off x="4754880" y="1645920"/>
            <a:ext cx="822960" cy="822960"/>
          </a:xfrm>
          <a:prstGeom prst="ellipse">
            <a:avLst/>
          </a:prstGeom>
          <a:solidFill>
            <a:srgbClr val="0B1B6B"/>
          </a:solidFill>
          <a:ln w="12700">
            <a:solidFill>
              <a:srgbClr val="0B1B6B"/>
            </a:solidFill>
            <a:prstDash val="solid"/>
          </a:ln>
        </p:spPr>
      </p:sp>
      <p:pic>
        <p:nvPicPr>
          <p:cNvPr id="18" name="Pack icon" descr="Pack">    </p:cNvPr>
          <p:cNvPicPr>
            <a:picLocks noChangeAspect="1"/>
          </p:cNvPicPr>
          <p:nvPr/>
        </p:nvPicPr>
        <p:blipFill>
          <a:blip r:embed="rId3"/>
          <a:stretch>
            <a:fillRect/>
          </a:stretch>
        </p:blipFill>
        <p:spPr>
          <a:xfrm>
            <a:off x="4952390" y="1843430"/>
            <a:ext cx="427939" cy="427939"/>
          </a:xfrm>
          <a:prstGeom prst="rect">
            <a:avLst/>
          </a:prstGeom>
        </p:spPr>
      </p:pic>
      <p:sp>
        <p:nvSpPr>
          <p:cNvPr id="19" name="Text 13"/>
          <p:cNvSpPr txBox="1"/>
          <p:nvPr/>
        </p:nvSpPr>
        <p:spPr>
          <a:xfrm>
            <a:off x="4389120" y="2606040"/>
            <a:ext cx="155448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tx2"/>
                </a:solidFill>
              </a:rPr>
              <a:t>Pack</a:t>
            </a:r>
            <a:endParaRPr lang="en-US" sz="1500" dirty="0"/>
          </a:p>
        </p:txBody>
      </p:sp>
      <p:sp>
        <p:nvSpPr>
          <p:cNvPr id="20" name="Text 14"/>
          <p:cNvSpPr txBox="1"/>
          <p:nvPr/>
        </p:nvSpPr>
        <p:spPr>
          <a:xfrm>
            <a:off x="4407408" y="2971800"/>
            <a:ext cx="1517904" cy="105156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rPr>
              <a:t>Rebuilt as .msapp against a Studio-written reference</a:t>
            </a:r>
            <a:endParaRPr lang="en-US" sz="1200" dirty="0"/>
          </a:p>
        </p:txBody>
      </p:sp>
      <p:sp>
        <p:nvSpPr>
          <p:cNvPr id="21" name="step arrow 2"/>
          <p:cNvSpPr/>
          <p:nvPr/>
        </p:nvSpPr>
        <p:spPr>
          <a:xfrm>
            <a:off x="6035040" y="2743200"/>
            <a:ext cx="137160" cy="0"/>
          </a:xfrm>
          <a:prstGeom prst="line">
            <a:avLst/>
          </a:prstGeom>
          <a:noFill/>
          <a:ln w="25400">
            <a:solidFill>
              <a:srgbClr val="8A93A6"/>
            </a:solidFill>
            <a:prstDash val="solid"/>
            <a:tailEnd type="triangle"/>
          </a:ln>
        </p:spPr>
      </p:sp>
      <p:sp>
        <p:nvSpPr>
          <p:cNvPr id="22" name="step card Verify"/>
          <p:cNvSpPr/>
          <p:nvPr/>
        </p:nvSpPr>
        <p:spPr>
          <a:xfrm>
            <a:off x="6172200" y="1463040"/>
            <a:ext cx="1737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3" name="Verify circle"/>
          <p:cNvSpPr/>
          <p:nvPr/>
        </p:nvSpPr>
        <p:spPr>
          <a:xfrm>
            <a:off x="6629400" y="1645920"/>
            <a:ext cx="822960" cy="822960"/>
          </a:xfrm>
          <a:prstGeom prst="ellipse">
            <a:avLst/>
          </a:prstGeom>
          <a:solidFill>
            <a:srgbClr val="0B1B6B"/>
          </a:solidFill>
          <a:ln w="12700">
            <a:solidFill>
              <a:srgbClr val="0B1B6B"/>
            </a:solidFill>
            <a:prstDash val="solid"/>
          </a:ln>
        </p:spPr>
      </p:sp>
      <p:pic>
        <p:nvPicPr>
          <p:cNvPr id="24" name="Verify icon" descr="Verify">    </p:cNvPr>
          <p:cNvPicPr>
            <a:picLocks noChangeAspect="1"/>
          </p:cNvPicPr>
          <p:nvPr/>
        </p:nvPicPr>
        <p:blipFill>
          <a:blip r:embed="rId4"/>
          <a:stretch>
            <a:fillRect/>
          </a:stretch>
        </p:blipFill>
        <p:spPr>
          <a:xfrm>
            <a:off x="6826910" y="1843430"/>
            <a:ext cx="427939" cy="427939"/>
          </a:xfrm>
          <a:prstGeom prst="rect">
            <a:avLst/>
          </a:prstGeom>
        </p:spPr>
      </p:pic>
      <p:sp>
        <p:nvSpPr>
          <p:cNvPr id="25" name="Text 18"/>
          <p:cNvSpPr txBox="1"/>
          <p:nvPr/>
        </p:nvSpPr>
        <p:spPr>
          <a:xfrm>
            <a:off x="6263640" y="2606040"/>
            <a:ext cx="155448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tx2"/>
                </a:solidFill>
              </a:rPr>
              <a:t>Verify</a:t>
            </a:r>
            <a:endParaRPr lang="en-US" sz="1500" dirty="0"/>
          </a:p>
        </p:txBody>
      </p:sp>
      <p:sp>
        <p:nvSpPr>
          <p:cNvPr id="26" name="Text 19"/>
          <p:cNvSpPr txBox="1"/>
          <p:nvPr/>
        </p:nvSpPr>
        <p:spPr>
          <a:xfrm>
            <a:off x="6281928" y="2971800"/>
            <a:ext cx="1517904" cy="105156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rPr>
              <a:t>Script compares with the previous version; fails on any surprise</a:t>
            </a:r>
            <a:endParaRPr lang="en-US" sz="1200" dirty="0"/>
          </a:p>
        </p:txBody>
      </p:sp>
      <p:sp>
        <p:nvSpPr>
          <p:cNvPr id="27" name="step arrow 3"/>
          <p:cNvSpPr/>
          <p:nvPr/>
        </p:nvSpPr>
        <p:spPr>
          <a:xfrm>
            <a:off x="7909560" y="2743200"/>
            <a:ext cx="137160" cy="0"/>
          </a:xfrm>
          <a:prstGeom prst="line">
            <a:avLst/>
          </a:prstGeom>
          <a:noFill/>
          <a:ln w="25400">
            <a:solidFill>
              <a:srgbClr val="8A93A6"/>
            </a:solidFill>
            <a:prstDash val="solid"/>
            <a:tailEnd type="triangle"/>
          </a:ln>
        </p:spPr>
      </p:sp>
      <p:sp>
        <p:nvSpPr>
          <p:cNvPr id="28" name="step card Commit and send"/>
          <p:cNvSpPr/>
          <p:nvPr/>
        </p:nvSpPr>
        <p:spPr>
          <a:xfrm>
            <a:off x="8046720" y="1463040"/>
            <a:ext cx="1737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Commit and send circle"/>
          <p:cNvSpPr/>
          <p:nvPr/>
        </p:nvSpPr>
        <p:spPr>
          <a:xfrm>
            <a:off x="8503920" y="1645920"/>
            <a:ext cx="822960" cy="822960"/>
          </a:xfrm>
          <a:prstGeom prst="ellipse">
            <a:avLst/>
          </a:prstGeom>
          <a:solidFill>
            <a:srgbClr val="0B1B6B"/>
          </a:solidFill>
          <a:ln w="12700">
            <a:solidFill>
              <a:srgbClr val="0B1B6B"/>
            </a:solidFill>
            <a:prstDash val="solid"/>
          </a:ln>
        </p:spPr>
      </p:sp>
      <p:pic>
        <p:nvPicPr>
          <p:cNvPr id="30" name="Commit and send icon" descr="Commit and send">    </p:cNvPr>
          <p:cNvPicPr>
            <a:picLocks noChangeAspect="1"/>
          </p:cNvPicPr>
          <p:nvPr/>
        </p:nvPicPr>
        <p:blipFill>
          <a:blip r:embed="rId5"/>
          <a:stretch>
            <a:fillRect/>
          </a:stretch>
        </p:blipFill>
        <p:spPr>
          <a:xfrm>
            <a:off x="8701430" y="1843430"/>
            <a:ext cx="427939" cy="427939"/>
          </a:xfrm>
          <a:prstGeom prst="rect">
            <a:avLst/>
          </a:prstGeom>
        </p:spPr>
      </p:pic>
      <p:sp>
        <p:nvSpPr>
          <p:cNvPr id="31" name="Text 23"/>
          <p:cNvSpPr txBox="1"/>
          <p:nvPr/>
        </p:nvSpPr>
        <p:spPr>
          <a:xfrm>
            <a:off x="8138160" y="2606040"/>
            <a:ext cx="155448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tx2"/>
                </a:solidFill>
              </a:rPr>
              <a:t>Commit and send</a:t>
            </a:r>
            <a:endParaRPr lang="en-US" sz="1500" dirty="0"/>
          </a:p>
        </p:txBody>
      </p:sp>
      <p:sp>
        <p:nvSpPr>
          <p:cNvPr id="32" name="Text 24"/>
          <p:cNvSpPr txBox="1"/>
          <p:nvPr/>
        </p:nvSpPr>
        <p:spPr>
          <a:xfrm>
            <a:off x="8156448" y="2971800"/>
            <a:ext cx="1517904" cy="105156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rPr>
              <a:t>New version file, nothing overwritten</a:t>
            </a:r>
            <a:endParaRPr lang="en-US" sz="1200" dirty="0"/>
          </a:p>
        </p:txBody>
      </p:sp>
      <p:sp>
        <p:nvSpPr>
          <p:cNvPr id="33" name="step arrow 4"/>
          <p:cNvSpPr/>
          <p:nvPr/>
        </p:nvSpPr>
        <p:spPr>
          <a:xfrm>
            <a:off x="9784080" y="2743200"/>
            <a:ext cx="137160" cy="0"/>
          </a:xfrm>
          <a:prstGeom prst="line">
            <a:avLst/>
          </a:prstGeom>
          <a:noFill/>
          <a:ln w="25400">
            <a:solidFill>
              <a:srgbClr val="8A93A6"/>
            </a:solidFill>
            <a:prstDash val="solid"/>
            <a:tailEnd type="triangle"/>
          </a:ln>
        </p:spPr>
      </p:sp>
      <p:sp>
        <p:nvSpPr>
          <p:cNvPr id="34" name="step card Test in Studio"/>
          <p:cNvSpPr/>
          <p:nvPr/>
        </p:nvSpPr>
        <p:spPr>
          <a:xfrm>
            <a:off x="9921240" y="1463040"/>
            <a:ext cx="1737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5" name="Test in Studio circle"/>
          <p:cNvSpPr/>
          <p:nvPr/>
        </p:nvSpPr>
        <p:spPr>
          <a:xfrm>
            <a:off x="10378440" y="1645920"/>
            <a:ext cx="822960" cy="822960"/>
          </a:xfrm>
          <a:prstGeom prst="ellipse">
            <a:avLst/>
          </a:prstGeom>
          <a:solidFill>
            <a:srgbClr val="0B1B6B"/>
          </a:solidFill>
          <a:ln w="12700">
            <a:solidFill>
              <a:srgbClr val="0B1B6B"/>
            </a:solidFill>
            <a:prstDash val="solid"/>
          </a:ln>
        </p:spPr>
      </p:sp>
      <p:pic>
        <p:nvPicPr>
          <p:cNvPr id="36" name="Test in Studio icon" descr="Test in Studio">    </p:cNvPr>
          <p:cNvPicPr>
            <a:picLocks noChangeAspect="1"/>
          </p:cNvPicPr>
          <p:nvPr/>
        </p:nvPicPr>
        <p:blipFill>
          <a:blip r:embed="rId6"/>
          <a:stretch>
            <a:fillRect/>
          </a:stretch>
        </p:blipFill>
        <p:spPr>
          <a:xfrm>
            <a:off x="10575950" y="1843430"/>
            <a:ext cx="427939" cy="427939"/>
          </a:xfrm>
          <a:prstGeom prst="rect">
            <a:avLst/>
          </a:prstGeom>
        </p:spPr>
      </p:pic>
      <p:sp>
        <p:nvSpPr>
          <p:cNvPr id="37" name="Text 28"/>
          <p:cNvSpPr txBox="1"/>
          <p:nvPr/>
        </p:nvSpPr>
        <p:spPr>
          <a:xfrm>
            <a:off x="10012680" y="2606040"/>
            <a:ext cx="1554480" cy="365760"/>
          </a:xfrm>
          <a:prstGeom prst="rect">
            <a:avLst/>
          </a:prstGeom>
          <a:noFill/>
          <a:ln/>
        </p:spPr>
        <p:txBody>
          <a:bodyPr wrap="square" lIns="0" tIns="0" rIns="0" bIns="0" rtlCol="0" anchor="t"/>
          <a:lstStyle/>
          <a:p>
            <a:pPr algn="ctr" indent="0" marL="0">
              <a:spcAft>
                <a:spcPts val="400"/>
              </a:spcAft>
              <a:buNone/>
            </a:pPr>
            <a:r>
              <a:rPr lang="en-US" sz="1500" b="1" dirty="0">
                <a:solidFill>
                  <a:schemeClr val="tx2"/>
                </a:solidFill>
              </a:rPr>
              <a:t>Test in Studio</a:t>
            </a:r>
            <a:endParaRPr lang="en-US" sz="1500" dirty="0"/>
          </a:p>
        </p:txBody>
      </p:sp>
      <p:sp>
        <p:nvSpPr>
          <p:cNvPr id="38" name="Text 29"/>
          <p:cNvSpPr txBox="1"/>
          <p:nvPr/>
        </p:nvSpPr>
        <p:spPr>
          <a:xfrm>
            <a:off x="10030968" y="2971800"/>
            <a:ext cx="1517904" cy="105156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rPr>
              <a:t>Owner opens it and reports back</a:t>
            </a:r>
            <a:endParaRPr lang="en-US" sz="1200" dirty="0"/>
          </a:p>
        </p:txBody>
      </p:sp>
      <p:sp>
        <p:nvSpPr>
          <p:cNvPr id="39" name="package card"/>
          <p:cNvSpPr/>
          <p:nvPr/>
        </p:nvSpPr>
        <p:spPr>
          <a:xfrm>
            <a:off x="548640" y="4343400"/>
            <a:ext cx="539496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0" name="Text 31"/>
          <p:cNvSpPr txBox="1"/>
          <p:nvPr/>
        </p:nvSpPr>
        <p:spPr>
          <a:xfrm>
            <a:off x="777240" y="4434840"/>
            <a:ext cx="4937760"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What a package is</a:t>
            </a:r>
            <a:endParaRPr lang="en-US" sz="1600" dirty="0"/>
          </a:p>
        </p:txBody>
      </p:sp>
      <p:sp>
        <p:nvSpPr>
          <p:cNvPr id="41" name="Text 32"/>
          <p:cNvSpPr txBox="1"/>
          <p:nvPr/>
        </p:nvSpPr>
        <p:spPr>
          <a:xfrm>
            <a:off x="777240" y="4846320"/>
            <a:ext cx="4937760" cy="12344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An .msapp is a ZIP of JSON and YAML files</a:t>
            </a:r>
            <a:endParaRPr lang="en-US" sz="1400" dirty="0"/>
          </a:p>
          <a:p>
            <a:pPr marL="203200" indent="-203200">
              <a:spcAft>
                <a:spcPts val="400"/>
              </a:spcAft>
              <a:buSzPct val="100000"/>
              <a:buChar char="•"/>
            </a:pPr>
            <a:r>
              <a:rPr lang="en-US" sz="1400" dirty="0">
                <a:solidFill>
                  <a:schemeClr val="tx1"/>
                </a:solidFill>
              </a:rPr>
              <a:t>Controls/*.json is authoritative; Src/*.pa.yaml mirrors it</a:t>
            </a:r>
            <a:endParaRPr lang="en-US" sz="1400" dirty="0"/>
          </a:p>
          <a:p>
            <a:pPr marL="203200" indent="-203200">
              <a:spcAft>
                <a:spcPts val="400"/>
              </a:spcAft>
              <a:buSzPct val="100000"/>
              <a:buChar char="•"/>
            </a:pPr>
            <a:r>
              <a:rPr lang="en-US" sz="1400" dirty="0">
                <a:solidFill>
                  <a:schemeClr val="tx1"/>
                </a:solidFill>
              </a:rPr>
              <a:t>Both are edited together by the same script</a:t>
            </a:r>
            <a:endParaRPr lang="en-US" sz="1400" dirty="0"/>
          </a:p>
        </p:txBody>
      </p:sp>
      <p:sp>
        <p:nvSpPr>
          <p:cNvPr id="42" name="rules card"/>
          <p:cNvSpPr/>
          <p:nvPr/>
        </p:nvSpPr>
        <p:spPr>
          <a:xfrm>
            <a:off x="6217920" y="4343400"/>
            <a:ext cx="539496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3" name="Text 34"/>
          <p:cNvSpPr txBox="1"/>
          <p:nvPr/>
        </p:nvSpPr>
        <p:spPr>
          <a:xfrm>
            <a:off x="6446520" y="4434840"/>
            <a:ext cx="4937760" cy="320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Rules kept on every version</a:t>
            </a:r>
            <a:endParaRPr lang="en-US" sz="1600" dirty="0"/>
          </a:p>
        </p:txBody>
      </p:sp>
      <p:sp>
        <p:nvSpPr>
          <p:cNvPr id="44" name="Text 35"/>
          <p:cNvSpPr txBox="1"/>
          <p:nvPr/>
        </p:nvSpPr>
        <p:spPr>
          <a:xfrm>
            <a:off x="6446520" y="4846320"/>
            <a:ext cx="4937760" cy="12344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Control names, styling and roles stay</a:t>
            </a:r>
            <a:endParaRPr lang="en-US" sz="1400" dirty="0"/>
          </a:p>
          <a:p>
            <a:pPr marL="203200" indent="-203200">
              <a:spcAft>
                <a:spcPts val="400"/>
              </a:spcAft>
              <a:buSzPct val="100000"/>
              <a:buChar char="•"/>
            </a:pPr>
            <a:r>
              <a:rPr lang="en-US" sz="1400" dirty="0">
                <a:solidFill>
                  <a:schemeClr val="tx1"/>
                </a:solidFill>
              </a:rPr>
              <a:t>Text joined with &amp;; delegation flagged</a:t>
            </a:r>
            <a:endParaRPr lang="en-US" sz="1400" dirty="0"/>
          </a:p>
          <a:p>
            <a:pPr marL="203200" indent="-203200">
              <a:spcAft>
                <a:spcPts val="400"/>
              </a:spcAft>
              <a:buSzPct val="100000"/>
              <a:buChar char="•"/>
            </a:pPr>
            <a:r>
              <a:rPr lang="en-US" sz="1400" dirty="0">
                <a:solidFill>
                  <a:schemeClr val="tx1"/>
                </a:solidFill>
              </a:rPr>
              <a:t>Previous version untouched; no pull request unless asked</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Built in small, delivered versions</a:t>
            </a:r>
            <a:endParaRPr lang="en-US" sz="3400" dirty="0"/>
          </a:p>
        </p:txBody>
      </p:sp>
      <p:sp>
        <p:nvSpPr>
          <p:cNvPr id="4" name="phase dot 0"/>
          <p:cNvSpPr/>
          <p:nvPr/>
        </p:nvSpPr>
        <p:spPr>
          <a:xfrm>
            <a:off x="1371600" y="1554480"/>
            <a:ext cx="457200" cy="457200"/>
          </a:xfrm>
          <a:prstGeom prst="ellipse">
            <a:avLst/>
          </a:prstGeom>
          <a:solidFill>
            <a:srgbClr val="8A93A6"/>
          </a:solidFill>
          <a:ln w="12700">
            <a:solidFill>
              <a:srgbClr val="8A93A6"/>
            </a:solidFill>
            <a:prstDash val="solid"/>
          </a:ln>
        </p:spPr>
      </p:sp>
      <p:sp>
        <p:nvSpPr>
          <p:cNvPr id="5" name="phase line 0"/>
          <p:cNvSpPr/>
          <p:nvPr/>
        </p:nvSpPr>
        <p:spPr>
          <a:xfrm>
            <a:off x="1828800" y="1783080"/>
            <a:ext cx="1417320" cy="0"/>
          </a:xfrm>
          <a:prstGeom prst="line">
            <a:avLst/>
          </a:prstGeom>
          <a:noFill/>
          <a:ln w="25400">
            <a:solidFill>
              <a:srgbClr val="8A93A6"/>
            </a:solidFill>
            <a:prstDash val="solid"/>
          </a:ln>
        </p:spPr>
      </p:sp>
      <p:sp>
        <p:nvSpPr>
          <p:cNvPr id="6" name="phase card Foundation"/>
          <p:cNvSpPr/>
          <p:nvPr/>
        </p:nvSpPr>
        <p:spPr>
          <a:xfrm>
            <a:off x="548640" y="228600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2423160"/>
            <a:ext cx="1828800" cy="548640"/>
          </a:xfrm>
          <a:prstGeom prst="rect">
            <a:avLst/>
          </a:prstGeom>
          <a:noFill/>
          <a:ln/>
        </p:spPr>
        <p:txBody>
          <a:bodyPr wrap="square" lIns="0" tIns="0" rIns="0" bIns="0" rtlCol="0" anchor="t"/>
          <a:lstStyle/>
          <a:p>
            <a:pPr algn="ctr" indent="0" marL="0">
              <a:spcAft>
                <a:spcPts val="400"/>
              </a:spcAft>
              <a:buNone/>
            </a:pPr>
            <a:r>
              <a:rPr lang="en-US" sz="1600" b="1" dirty="0">
                <a:solidFill>
                  <a:schemeClr val="tx2"/>
                </a:solidFill>
              </a:rPr>
              <a:t>Foundation</a:t>
            </a:r>
            <a:endParaRPr lang="en-US" sz="1600" dirty="0"/>
          </a:p>
        </p:txBody>
      </p:sp>
      <p:sp>
        <p:nvSpPr>
          <p:cNvPr id="8" name="Text 5"/>
          <p:cNvSpPr txBox="1"/>
          <p:nvPr/>
        </p:nvSpPr>
        <p:spPr>
          <a:xfrm>
            <a:off x="685800" y="2971800"/>
            <a:ext cx="1828800" cy="320040"/>
          </a:xfrm>
          <a:prstGeom prst="rect">
            <a:avLst/>
          </a:prstGeom>
          <a:noFill/>
          <a:ln/>
        </p:spPr>
        <p:txBody>
          <a:bodyPr wrap="square" lIns="0" tIns="0" rIns="0" bIns="0" rtlCol="0" anchor="t"/>
          <a:lstStyle/>
          <a:p>
            <a:pPr algn="ctr" indent="0" marL="0">
              <a:spcAft>
                <a:spcPts val="400"/>
              </a:spcAft>
              <a:buNone/>
            </a:pPr>
            <a:r>
              <a:rPr lang="en-US" sz="1400" b="1" dirty="0">
                <a:solidFill>
                  <a:schemeClr val="accent1"/>
                </a:solidFill>
              </a:rPr>
              <a:t>v0 to v74</a:t>
            </a:r>
            <a:endParaRPr lang="en-US" sz="1400" dirty="0"/>
          </a:p>
        </p:txBody>
      </p:sp>
      <p:sp>
        <p:nvSpPr>
          <p:cNvPr id="9" name="Text 6"/>
          <p:cNvSpPr txBox="1"/>
          <p:nvPr/>
        </p:nvSpPr>
        <p:spPr>
          <a:xfrm>
            <a:off x="685800" y="3383280"/>
            <a:ext cx="1828800" cy="1371600"/>
          </a:xfrm>
          <a:prstGeom prst="rect">
            <a:avLst/>
          </a:prstGeom>
          <a:noFill/>
          <a:ln/>
        </p:spPr>
        <p:txBody>
          <a:bodyPr wrap="square" lIns="0" tIns="0" rIns="0" bIns="0" rtlCol="0" anchor="t"/>
          <a:lstStyle/>
          <a:p>
            <a:pPr algn="ctr" indent="0" marL="0">
              <a:spcAft>
                <a:spcPts val="400"/>
              </a:spcAft>
              <a:buNone/>
            </a:pPr>
            <a:r>
              <a:rPr lang="en-US" sz="1300" dirty="0">
                <a:solidFill>
                  <a:schemeClr val="tx1"/>
                </a:solidFill>
              </a:rPr>
              <a:t>Dashboards, request details, media tabs, print pages</a:t>
            </a:r>
            <a:endParaRPr lang="en-US" sz="1300" dirty="0"/>
          </a:p>
        </p:txBody>
      </p:sp>
      <p:sp>
        <p:nvSpPr>
          <p:cNvPr id="10" name="phase dot 1"/>
          <p:cNvSpPr/>
          <p:nvPr/>
        </p:nvSpPr>
        <p:spPr>
          <a:xfrm>
            <a:off x="3611880" y="1554480"/>
            <a:ext cx="457200" cy="457200"/>
          </a:xfrm>
          <a:prstGeom prst="ellipse">
            <a:avLst/>
          </a:prstGeom>
          <a:solidFill>
            <a:srgbClr val="3860B2"/>
          </a:solidFill>
          <a:ln w="12700">
            <a:solidFill>
              <a:srgbClr val="3860B2"/>
            </a:solidFill>
            <a:prstDash val="solid"/>
          </a:ln>
        </p:spPr>
      </p:sp>
      <p:sp>
        <p:nvSpPr>
          <p:cNvPr id="11" name="phase line 1"/>
          <p:cNvSpPr/>
          <p:nvPr/>
        </p:nvSpPr>
        <p:spPr>
          <a:xfrm>
            <a:off x="4069080" y="1783080"/>
            <a:ext cx="1417320" cy="0"/>
          </a:xfrm>
          <a:prstGeom prst="line">
            <a:avLst/>
          </a:prstGeom>
          <a:noFill/>
          <a:ln w="25400">
            <a:solidFill>
              <a:srgbClr val="8A93A6"/>
            </a:solidFill>
            <a:prstDash val="solid"/>
          </a:ln>
        </p:spPr>
      </p:sp>
      <p:sp>
        <p:nvSpPr>
          <p:cNvPr id="12" name="phase card Workflow"/>
          <p:cNvSpPr/>
          <p:nvPr/>
        </p:nvSpPr>
        <p:spPr>
          <a:xfrm>
            <a:off x="2788920" y="228600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2926080" y="2423160"/>
            <a:ext cx="1828800" cy="548640"/>
          </a:xfrm>
          <a:prstGeom prst="rect">
            <a:avLst/>
          </a:prstGeom>
          <a:noFill/>
          <a:ln/>
        </p:spPr>
        <p:txBody>
          <a:bodyPr wrap="square" lIns="0" tIns="0" rIns="0" bIns="0" rtlCol="0" anchor="t"/>
          <a:lstStyle/>
          <a:p>
            <a:pPr algn="ctr" indent="0" marL="0">
              <a:spcAft>
                <a:spcPts val="400"/>
              </a:spcAft>
              <a:buNone/>
            </a:pPr>
            <a:r>
              <a:rPr lang="en-US" sz="1600" b="1" dirty="0">
                <a:solidFill>
                  <a:schemeClr val="tx2"/>
                </a:solidFill>
              </a:rPr>
              <a:t>Workflow</a:t>
            </a:r>
            <a:endParaRPr lang="en-US" sz="1600" dirty="0"/>
          </a:p>
        </p:txBody>
      </p:sp>
      <p:sp>
        <p:nvSpPr>
          <p:cNvPr id="14" name="Text 11"/>
          <p:cNvSpPr txBox="1"/>
          <p:nvPr/>
        </p:nvSpPr>
        <p:spPr>
          <a:xfrm>
            <a:off x="2926080" y="2971800"/>
            <a:ext cx="1828800" cy="320040"/>
          </a:xfrm>
          <a:prstGeom prst="rect">
            <a:avLst/>
          </a:prstGeom>
          <a:noFill/>
          <a:ln/>
        </p:spPr>
        <p:txBody>
          <a:bodyPr wrap="square" lIns="0" tIns="0" rIns="0" bIns="0" rtlCol="0" anchor="t"/>
          <a:lstStyle/>
          <a:p>
            <a:pPr algn="ctr" indent="0" marL="0">
              <a:spcAft>
                <a:spcPts val="400"/>
              </a:spcAft>
              <a:buNone/>
            </a:pPr>
            <a:r>
              <a:rPr lang="en-US" sz="1400" b="1" dirty="0">
                <a:solidFill>
                  <a:schemeClr val="accent1"/>
                </a:solidFill>
              </a:rPr>
              <a:t>FINAL4 to 13</a:t>
            </a:r>
            <a:endParaRPr lang="en-US" sz="1400" dirty="0"/>
          </a:p>
        </p:txBody>
      </p:sp>
      <p:sp>
        <p:nvSpPr>
          <p:cNvPr id="15" name="Text 12"/>
          <p:cNvSpPr txBox="1"/>
          <p:nvPr/>
        </p:nvSpPr>
        <p:spPr>
          <a:xfrm>
            <a:off x="2926080" y="3383280"/>
            <a:ext cx="1828800" cy="1371600"/>
          </a:xfrm>
          <a:prstGeom prst="rect">
            <a:avLst/>
          </a:prstGeom>
          <a:noFill/>
          <a:ln/>
        </p:spPr>
        <p:txBody>
          <a:bodyPr wrap="square" lIns="0" tIns="0" rIns="0" bIns="0" rtlCol="0" anchor="t"/>
          <a:lstStyle/>
          <a:p>
            <a:pPr algn="ctr" indent="0" marL="0">
              <a:spcAft>
                <a:spcPts val="400"/>
              </a:spcAft>
              <a:buNone/>
            </a:pPr>
            <a:r>
              <a:rPr lang="en-US" sz="1300" dirty="0">
                <a:solidFill>
                  <a:schemeClr val="tx1"/>
                </a:solidFill>
              </a:rPr>
              <a:t>Notes, archiving only, co-assignee, export pages</a:t>
            </a:r>
            <a:endParaRPr lang="en-US" sz="1300" dirty="0"/>
          </a:p>
        </p:txBody>
      </p:sp>
      <p:sp>
        <p:nvSpPr>
          <p:cNvPr id="16" name="phase dot 2"/>
          <p:cNvSpPr/>
          <p:nvPr/>
        </p:nvSpPr>
        <p:spPr>
          <a:xfrm>
            <a:off x="5852160" y="1554480"/>
            <a:ext cx="457200" cy="457200"/>
          </a:xfrm>
          <a:prstGeom prst="ellipse">
            <a:avLst/>
          </a:prstGeom>
          <a:solidFill>
            <a:srgbClr val="7A30A0"/>
          </a:solidFill>
          <a:ln w="12700">
            <a:solidFill>
              <a:srgbClr val="7A30A0"/>
            </a:solidFill>
            <a:prstDash val="solid"/>
          </a:ln>
        </p:spPr>
      </p:sp>
      <p:sp>
        <p:nvSpPr>
          <p:cNvPr id="17" name="phase line 2"/>
          <p:cNvSpPr/>
          <p:nvPr/>
        </p:nvSpPr>
        <p:spPr>
          <a:xfrm>
            <a:off x="6309360" y="1783080"/>
            <a:ext cx="1417320" cy="0"/>
          </a:xfrm>
          <a:prstGeom prst="line">
            <a:avLst/>
          </a:prstGeom>
          <a:noFill/>
          <a:ln w="25400">
            <a:solidFill>
              <a:srgbClr val="8A93A6"/>
            </a:solidFill>
            <a:prstDash val="solid"/>
          </a:ln>
        </p:spPr>
      </p:sp>
      <p:sp>
        <p:nvSpPr>
          <p:cNvPr id="18" name="phase card Polish and legal"/>
          <p:cNvSpPr/>
          <p:nvPr/>
        </p:nvSpPr>
        <p:spPr>
          <a:xfrm>
            <a:off x="5029200" y="228600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5166360" y="2423160"/>
            <a:ext cx="1828800" cy="548640"/>
          </a:xfrm>
          <a:prstGeom prst="rect">
            <a:avLst/>
          </a:prstGeom>
          <a:noFill/>
          <a:ln/>
        </p:spPr>
        <p:txBody>
          <a:bodyPr wrap="square" lIns="0" tIns="0" rIns="0" bIns="0" rtlCol="0" anchor="t"/>
          <a:lstStyle/>
          <a:p>
            <a:pPr algn="ctr" indent="0" marL="0">
              <a:spcAft>
                <a:spcPts val="400"/>
              </a:spcAft>
              <a:buNone/>
            </a:pPr>
            <a:r>
              <a:rPr lang="en-US" sz="1600" b="1" dirty="0">
                <a:solidFill>
                  <a:schemeClr val="tx2"/>
                </a:solidFill>
              </a:rPr>
              <a:t>Polish and legal</a:t>
            </a:r>
            <a:endParaRPr lang="en-US" sz="1600" dirty="0"/>
          </a:p>
        </p:txBody>
      </p:sp>
      <p:sp>
        <p:nvSpPr>
          <p:cNvPr id="20" name="Text 17"/>
          <p:cNvSpPr txBox="1"/>
          <p:nvPr/>
        </p:nvSpPr>
        <p:spPr>
          <a:xfrm>
            <a:off x="5166360" y="2971800"/>
            <a:ext cx="1828800" cy="320040"/>
          </a:xfrm>
          <a:prstGeom prst="rect">
            <a:avLst/>
          </a:prstGeom>
          <a:noFill/>
          <a:ln/>
        </p:spPr>
        <p:txBody>
          <a:bodyPr wrap="square" lIns="0" tIns="0" rIns="0" bIns="0" rtlCol="0" anchor="t"/>
          <a:lstStyle/>
          <a:p>
            <a:pPr algn="ctr" indent="0" marL="0">
              <a:spcAft>
                <a:spcPts val="400"/>
              </a:spcAft>
              <a:buNone/>
            </a:pPr>
            <a:r>
              <a:rPr lang="en-US" sz="1400" b="1" dirty="0">
                <a:solidFill>
                  <a:schemeClr val="accent1"/>
                </a:solidFill>
              </a:rPr>
              <a:t>FINAL14 to 28</a:t>
            </a:r>
            <a:endParaRPr lang="en-US" sz="1400" dirty="0"/>
          </a:p>
        </p:txBody>
      </p:sp>
      <p:sp>
        <p:nvSpPr>
          <p:cNvPr id="21" name="Text 18"/>
          <p:cNvSpPr txBox="1"/>
          <p:nvPr/>
        </p:nvSpPr>
        <p:spPr>
          <a:xfrm>
            <a:off x="5166360" y="3383280"/>
            <a:ext cx="1828800" cy="1371600"/>
          </a:xfrm>
          <a:prstGeom prst="rect">
            <a:avLst/>
          </a:prstGeom>
          <a:noFill/>
          <a:ln/>
        </p:spPr>
        <p:txBody>
          <a:bodyPr wrap="square" lIns="0" tIns="0" rIns="0" bIns="0" rtlCol="0" anchor="t"/>
          <a:lstStyle/>
          <a:p>
            <a:pPr algn="ctr" indent="0" marL="0">
              <a:spcAft>
                <a:spcPts val="400"/>
              </a:spcAft>
              <a:buNone/>
            </a:pPr>
            <a:r>
              <a:rPr lang="en-US" sz="1300" dirty="0">
                <a:solidFill>
                  <a:schemeClr val="tx1"/>
                </a:solidFill>
              </a:rPr>
              <a:t>Beluga links, badges, archive-only approval, yellow fields, Legal tab</a:t>
            </a:r>
            <a:endParaRPr lang="en-US" sz="1300" dirty="0"/>
          </a:p>
        </p:txBody>
      </p:sp>
      <p:sp>
        <p:nvSpPr>
          <p:cNvPr id="22" name="phase dot 3"/>
          <p:cNvSpPr/>
          <p:nvPr/>
        </p:nvSpPr>
        <p:spPr>
          <a:xfrm>
            <a:off x="8092440" y="1554480"/>
            <a:ext cx="457200" cy="457200"/>
          </a:xfrm>
          <a:prstGeom prst="ellipse">
            <a:avLst/>
          </a:prstGeom>
          <a:solidFill>
            <a:srgbClr val="2E9E6B"/>
          </a:solidFill>
          <a:ln w="12700">
            <a:solidFill>
              <a:srgbClr val="2E9E6B"/>
            </a:solidFill>
            <a:prstDash val="solid"/>
          </a:ln>
        </p:spPr>
      </p:sp>
      <p:sp>
        <p:nvSpPr>
          <p:cNvPr id="23" name="phase line 3"/>
          <p:cNvSpPr/>
          <p:nvPr/>
        </p:nvSpPr>
        <p:spPr>
          <a:xfrm>
            <a:off x="8549640" y="1783080"/>
            <a:ext cx="1417320" cy="0"/>
          </a:xfrm>
          <a:prstGeom prst="line">
            <a:avLst/>
          </a:prstGeom>
          <a:noFill/>
          <a:ln w="25400">
            <a:solidFill>
              <a:srgbClr val="8A93A6"/>
            </a:solidFill>
            <a:prstDash val="solid"/>
          </a:ln>
        </p:spPr>
      </p:sp>
      <p:sp>
        <p:nvSpPr>
          <p:cNvPr id="24" name="phase card Owner merge"/>
          <p:cNvSpPr/>
          <p:nvPr/>
        </p:nvSpPr>
        <p:spPr>
          <a:xfrm>
            <a:off x="7269480" y="228600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Text 22"/>
          <p:cNvSpPr txBox="1"/>
          <p:nvPr/>
        </p:nvSpPr>
        <p:spPr>
          <a:xfrm>
            <a:off x="7406640" y="2423160"/>
            <a:ext cx="1828800" cy="548640"/>
          </a:xfrm>
          <a:prstGeom prst="rect">
            <a:avLst/>
          </a:prstGeom>
          <a:noFill/>
          <a:ln/>
        </p:spPr>
        <p:txBody>
          <a:bodyPr wrap="square" lIns="0" tIns="0" rIns="0" bIns="0" rtlCol="0" anchor="t"/>
          <a:lstStyle/>
          <a:p>
            <a:pPr algn="ctr" indent="0" marL="0">
              <a:spcAft>
                <a:spcPts val="400"/>
              </a:spcAft>
              <a:buNone/>
            </a:pPr>
            <a:r>
              <a:rPr lang="en-US" sz="1600" b="1" dirty="0">
                <a:solidFill>
                  <a:schemeClr val="tx2"/>
                </a:solidFill>
              </a:rPr>
              <a:t>Owner merge</a:t>
            </a:r>
            <a:endParaRPr lang="en-US" sz="1600" dirty="0"/>
          </a:p>
        </p:txBody>
      </p:sp>
      <p:sp>
        <p:nvSpPr>
          <p:cNvPr id="26" name="Text 23"/>
          <p:cNvSpPr txBox="1"/>
          <p:nvPr/>
        </p:nvSpPr>
        <p:spPr>
          <a:xfrm>
            <a:off x="7406640" y="2971800"/>
            <a:ext cx="1828800" cy="320040"/>
          </a:xfrm>
          <a:prstGeom prst="rect">
            <a:avLst/>
          </a:prstGeom>
          <a:noFill/>
          <a:ln/>
        </p:spPr>
        <p:txBody>
          <a:bodyPr wrap="square" lIns="0" tIns="0" rIns="0" bIns="0" rtlCol="0" anchor="t"/>
          <a:lstStyle/>
          <a:p>
            <a:pPr algn="ctr" indent="0" marL="0">
              <a:spcAft>
                <a:spcPts val="400"/>
              </a:spcAft>
              <a:buNone/>
            </a:pPr>
            <a:r>
              <a:rPr lang="en-US" sz="1400" b="1" dirty="0">
                <a:solidFill>
                  <a:schemeClr val="accent1"/>
                </a:solidFill>
              </a:rPr>
              <a:t>FINAL29 to 31</a:t>
            </a:r>
            <a:endParaRPr lang="en-US" sz="1400" dirty="0"/>
          </a:p>
        </p:txBody>
      </p:sp>
      <p:sp>
        <p:nvSpPr>
          <p:cNvPr id="27" name="Text 24"/>
          <p:cNvSpPr txBox="1"/>
          <p:nvPr/>
        </p:nvSpPr>
        <p:spPr>
          <a:xfrm>
            <a:off x="7406640" y="3383280"/>
            <a:ext cx="1828800" cy="1371600"/>
          </a:xfrm>
          <a:prstGeom prst="rect">
            <a:avLst/>
          </a:prstGeom>
          <a:noFill/>
          <a:ln/>
        </p:spPr>
        <p:txBody>
          <a:bodyPr wrap="square" lIns="0" tIns="0" rIns="0" bIns="0" rtlCol="0" anchor="t"/>
          <a:lstStyle/>
          <a:p>
            <a:pPr algn="ctr" indent="0" marL="0">
              <a:spcAft>
                <a:spcPts val="400"/>
              </a:spcAft>
              <a:buNone/>
            </a:pPr>
            <a:r>
              <a:rPr lang="en-US" sz="1300" dirty="0">
                <a:solidFill>
                  <a:schemeClr val="tx1"/>
                </a:solidFill>
              </a:rPr>
              <a:t>Owner's own edits merged; attachment id; yellow attachments</a:t>
            </a:r>
            <a:endParaRPr lang="en-US" sz="1300" dirty="0"/>
          </a:p>
        </p:txBody>
      </p:sp>
      <p:sp>
        <p:nvSpPr>
          <p:cNvPr id="28" name="phase dot 4"/>
          <p:cNvSpPr/>
          <p:nvPr/>
        </p:nvSpPr>
        <p:spPr>
          <a:xfrm>
            <a:off x="10332720" y="1554480"/>
            <a:ext cx="457200" cy="457200"/>
          </a:xfrm>
          <a:prstGeom prst="ellipse">
            <a:avLst/>
          </a:prstGeom>
          <a:solidFill>
            <a:srgbClr val="0B1B6B"/>
          </a:solidFill>
          <a:ln w="12700">
            <a:solidFill>
              <a:srgbClr val="0B1B6B"/>
            </a:solidFill>
            <a:prstDash val="solid"/>
          </a:ln>
        </p:spPr>
      </p:sp>
      <p:sp>
        <p:nvSpPr>
          <p:cNvPr id="29" name="phase card Audit and fixes"/>
          <p:cNvSpPr/>
          <p:nvPr/>
        </p:nvSpPr>
        <p:spPr>
          <a:xfrm>
            <a:off x="9509760" y="228600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0" name="Text 27"/>
          <p:cNvSpPr txBox="1"/>
          <p:nvPr/>
        </p:nvSpPr>
        <p:spPr>
          <a:xfrm>
            <a:off x="9646920" y="2423160"/>
            <a:ext cx="1828800" cy="548640"/>
          </a:xfrm>
          <a:prstGeom prst="rect">
            <a:avLst/>
          </a:prstGeom>
          <a:noFill/>
          <a:ln/>
        </p:spPr>
        <p:txBody>
          <a:bodyPr wrap="square" lIns="0" tIns="0" rIns="0" bIns="0" rtlCol="0" anchor="t"/>
          <a:lstStyle/>
          <a:p>
            <a:pPr algn="ctr" indent="0" marL="0">
              <a:spcAft>
                <a:spcPts val="400"/>
              </a:spcAft>
              <a:buNone/>
            </a:pPr>
            <a:r>
              <a:rPr lang="en-US" sz="1600" b="1" dirty="0">
                <a:solidFill>
                  <a:schemeClr val="tx2"/>
                </a:solidFill>
              </a:rPr>
              <a:t>Audit and fixes</a:t>
            </a:r>
            <a:endParaRPr lang="en-US" sz="1600" dirty="0"/>
          </a:p>
        </p:txBody>
      </p:sp>
      <p:sp>
        <p:nvSpPr>
          <p:cNvPr id="31" name="Text 28"/>
          <p:cNvSpPr txBox="1"/>
          <p:nvPr/>
        </p:nvSpPr>
        <p:spPr>
          <a:xfrm>
            <a:off x="9646920" y="2971800"/>
            <a:ext cx="1828800" cy="320040"/>
          </a:xfrm>
          <a:prstGeom prst="rect">
            <a:avLst/>
          </a:prstGeom>
          <a:noFill/>
          <a:ln/>
        </p:spPr>
        <p:txBody>
          <a:bodyPr wrap="square" lIns="0" tIns="0" rIns="0" bIns="0" rtlCol="0" anchor="t"/>
          <a:lstStyle/>
          <a:p>
            <a:pPr algn="ctr" indent="0" marL="0">
              <a:spcAft>
                <a:spcPts val="400"/>
              </a:spcAft>
              <a:buNone/>
            </a:pPr>
            <a:r>
              <a:rPr lang="en-US" sz="1400" b="1" dirty="0">
                <a:solidFill>
                  <a:schemeClr val="accent1"/>
                </a:solidFill>
              </a:rPr>
              <a:t>FINAL32 to 38</a:t>
            </a:r>
            <a:endParaRPr lang="en-US" sz="1400" dirty="0"/>
          </a:p>
        </p:txBody>
      </p:sp>
      <p:sp>
        <p:nvSpPr>
          <p:cNvPr id="32" name="Text 29"/>
          <p:cNvSpPr txBox="1"/>
          <p:nvPr/>
        </p:nvSpPr>
        <p:spPr>
          <a:xfrm>
            <a:off x="9646920" y="3383280"/>
            <a:ext cx="1828800" cy="1371600"/>
          </a:xfrm>
          <a:prstGeom prst="rect">
            <a:avLst/>
          </a:prstGeom>
          <a:noFill/>
          <a:ln/>
        </p:spPr>
        <p:txBody>
          <a:bodyPr wrap="square" lIns="0" tIns="0" rIns="0" bIns="0" rtlCol="0" anchor="t"/>
          <a:lstStyle/>
          <a:p>
            <a:pPr algn="ctr" indent="0" marL="0">
              <a:spcAft>
                <a:spcPts val="400"/>
              </a:spcAft>
              <a:buNone/>
            </a:pPr>
            <a:r>
              <a:rPr lang="en-US" sz="1300" dirty="0">
                <a:solidFill>
                  <a:schemeClr val="tx1"/>
                </a:solidFill>
              </a:rPr>
              <a:t>Audit fixes, template copy, view-only, today's requests</a:t>
            </a:r>
            <a:endParaRPr lang="en-US" sz="1300" dirty="0"/>
          </a:p>
        </p:txBody>
      </p:sp>
      <p:sp>
        <p:nvSpPr>
          <p:cNvPr id="33" name="Text 30"/>
          <p:cNvSpPr txBox="1"/>
          <p:nvPr/>
        </p:nvSpPr>
        <p:spPr>
          <a:xfrm>
            <a:off x="548640" y="4892040"/>
            <a:ext cx="2651760" cy="685800"/>
          </a:xfrm>
          <a:prstGeom prst="rect">
            <a:avLst/>
          </a:prstGeom>
          <a:noFill/>
          <a:ln/>
        </p:spPr>
        <p:txBody>
          <a:bodyPr wrap="square" lIns="0" tIns="0" rIns="0" bIns="0" rtlCol="0" anchor="t"/>
          <a:lstStyle/>
          <a:p>
            <a:pPr indent="0" marL="0">
              <a:spcAft>
                <a:spcPts val="400"/>
              </a:spcAft>
              <a:buNone/>
            </a:pPr>
            <a:r>
              <a:rPr lang="en-US" sz="4000" b="1" dirty="0">
                <a:solidFill>
                  <a:schemeClr val="tx2"/>
                </a:solidFill>
              </a:rPr>
              <a:t>167</a:t>
            </a:r>
            <a:endParaRPr lang="en-US" sz="4000" dirty="0"/>
          </a:p>
        </p:txBody>
      </p:sp>
      <p:sp>
        <p:nvSpPr>
          <p:cNvPr id="34" name="Text 31"/>
          <p:cNvSpPr txBox="1"/>
          <p:nvPr/>
        </p:nvSpPr>
        <p:spPr>
          <a:xfrm>
            <a:off x="548640" y="5577840"/>
            <a:ext cx="2651760" cy="32004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commits</a:t>
            </a:r>
            <a:endParaRPr lang="en-US" sz="1400" dirty="0"/>
          </a:p>
        </p:txBody>
      </p:sp>
      <p:sp>
        <p:nvSpPr>
          <p:cNvPr id="35" name="Text 32"/>
          <p:cNvSpPr txBox="1"/>
          <p:nvPr/>
        </p:nvSpPr>
        <p:spPr>
          <a:xfrm>
            <a:off x="3383280" y="4892040"/>
            <a:ext cx="2651760" cy="685800"/>
          </a:xfrm>
          <a:prstGeom prst="rect">
            <a:avLst/>
          </a:prstGeom>
          <a:noFill/>
          <a:ln/>
        </p:spPr>
        <p:txBody>
          <a:bodyPr wrap="square" lIns="0" tIns="0" rIns="0" bIns="0" rtlCol="0" anchor="t"/>
          <a:lstStyle/>
          <a:p>
            <a:pPr indent="0" marL="0">
              <a:spcAft>
                <a:spcPts val="400"/>
              </a:spcAft>
              <a:buNone/>
            </a:pPr>
            <a:r>
              <a:rPr lang="en-US" sz="4000" b="1" dirty="0">
                <a:solidFill>
                  <a:schemeClr val="tx2"/>
                </a:solidFill>
              </a:rPr>
              <a:t>137</a:t>
            </a:r>
            <a:endParaRPr lang="en-US" sz="4000" dirty="0"/>
          </a:p>
        </p:txBody>
      </p:sp>
      <p:sp>
        <p:nvSpPr>
          <p:cNvPr id="36" name="Text 33"/>
          <p:cNvSpPr txBox="1"/>
          <p:nvPr/>
        </p:nvSpPr>
        <p:spPr>
          <a:xfrm>
            <a:off x="3383280" y="5577840"/>
            <a:ext cx="2651760" cy="32004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package files saved</a:t>
            </a:r>
            <a:endParaRPr lang="en-US" sz="1400" dirty="0"/>
          </a:p>
        </p:txBody>
      </p:sp>
      <p:sp>
        <p:nvSpPr>
          <p:cNvPr id="37" name="Text 34"/>
          <p:cNvSpPr txBox="1"/>
          <p:nvPr/>
        </p:nvSpPr>
        <p:spPr>
          <a:xfrm>
            <a:off x="6217920" y="4892040"/>
            <a:ext cx="2651760" cy="685800"/>
          </a:xfrm>
          <a:prstGeom prst="rect">
            <a:avLst/>
          </a:prstGeom>
          <a:noFill/>
          <a:ln/>
        </p:spPr>
        <p:txBody>
          <a:bodyPr wrap="square" lIns="0" tIns="0" rIns="0" bIns="0" rtlCol="0" anchor="t"/>
          <a:lstStyle/>
          <a:p>
            <a:pPr indent="0" marL="0">
              <a:spcAft>
                <a:spcPts val="400"/>
              </a:spcAft>
              <a:buNone/>
            </a:pPr>
            <a:r>
              <a:rPr lang="en-US" sz="4000" b="1" dirty="0">
                <a:solidFill>
                  <a:schemeClr val="tx2"/>
                </a:solidFill>
              </a:rPr>
              <a:t>62</a:t>
            </a:r>
            <a:endParaRPr lang="en-US" sz="4000" dirty="0"/>
          </a:p>
        </p:txBody>
      </p:sp>
      <p:sp>
        <p:nvSpPr>
          <p:cNvPr id="38" name="Text 35"/>
          <p:cNvSpPr txBox="1"/>
          <p:nvPr/>
        </p:nvSpPr>
        <p:spPr>
          <a:xfrm>
            <a:off x="6217920" y="5577840"/>
            <a:ext cx="2651760" cy="32004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verification scripts</a:t>
            </a:r>
            <a:endParaRPr lang="en-US" sz="1400" dirty="0"/>
          </a:p>
        </p:txBody>
      </p:sp>
      <p:sp>
        <p:nvSpPr>
          <p:cNvPr id="39" name="Text 36"/>
          <p:cNvSpPr txBox="1"/>
          <p:nvPr/>
        </p:nvSpPr>
        <p:spPr>
          <a:xfrm>
            <a:off x="9052560" y="4892040"/>
            <a:ext cx="2651760" cy="685800"/>
          </a:xfrm>
          <a:prstGeom prst="rect">
            <a:avLst/>
          </a:prstGeom>
          <a:noFill/>
          <a:ln/>
        </p:spPr>
        <p:txBody>
          <a:bodyPr wrap="square" lIns="0" tIns="0" rIns="0" bIns="0" rtlCol="0" anchor="t"/>
          <a:lstStyle/>
          <a:p>
            <a:pPr indent="0" marL="0">
              <a:spcAft>
                <a:spcPts val="400"/>
              </a:spcAft>
              <a:buNone/>
            </a:pPr>
            <a:r>
              <a:rPr lang="en-US" sz="4000" b="1" dirty="0">
                <a:solidFill>
                  <a:schemeClr val="tx2"/>
                </a:solidFill>
              </a:rPr>
              <a:t>32</a:t>
            </a:r>
            <a:endParaRPr lang="en-US" sz="4000" dirty="0"/>
          </a:p>
        </p:txBody>
      </p:sp>
      <p:sp>
        <p:nvSpPr>
          <p:cNvPr id="40" name="Text 37"/>
          <p:cNvSpPr txBox="1"/>
          <p:nvPr/>
        </p:nvSpPr>
        <p:spPr>
          <a:xfrm>
            <a:off x="9052560" y="5577840"/>
            <a:ext cx="2651760" cy="32004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build scripts</a:t>
            </a:r>
            <a:endParaRPr lang="en-US" sz="1400" dirty="0"/>
          </a:p>
        </p:txBody>
      </p:sp>
      <p:sp>
        <p:nvSpPr>
          <p:cNvPr id="41" name="Text 38"/>
          <p:cNvSpPr txBox="1"/>
          <p:nvPr/>
        </p:nvSpPr>
        <p:spPr>
          <a:xfrm>
            <a:off x="548640" y="5989320"/>
            <a:ext cx="8229600" cy="274320"/>
          </a:xfrm>
          <a:prstGeom prst="rect">
            <a:avLst/>
          </a:prstGeom>
          <a:noFill/>
          <a:ln/>
        </p:spPr>
        <p:txBody>
          <a:bodyPr wrap="square" lIns="0" tIns="0" rIns="0" bIns="0" rtlCol="0" anchor="t"/>
          <a:lstStyle/>
          <a:p>
            <a:pPr indent="0" marL="0">
              <a:spcAft>
                <a:spcPts val="400"/>
              </a:spcAft>
              <a:buNone/>
            </a:pPr>
            <a:r>
              <a:rPr lang="en-US" sz="1000" dirty="0">
                <a:solidFill>
                  <a:schemeClr val="accent6"/>
                </a:solidFill>
              </a:rPr>
              <a:t>Counted from the repository (git history, msapp-versions and tools folders)</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Five layers of checks on every version</a:t>
            </a:r>
            <a:endParaRPr lang="en-US" sz="3400" dirty="0"/>
          </a:p>
        </p:txBody>
      </p:sp>
      <p:sp>
        <p:nvSpPr>
          <p:cNvPr id="4" name="layer card 1"/>
          <p:cNvSpPr/>
          <p:nvPr/>
        </p:nvSpPr>
        <p:spPr>
          <a:xfrm>
            <a:off x="548640" y="1371600"/>
            <a:ext cx="11064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layer number 1"/>
          <p:cNvSpPr/>
          <p:nvPr/>
        </p:nvSpPr>
        <p:spPr>
          <a:xfrm>
            <a:off x="731520" y="1481328"/>
            <a:ext cx="603504" cy="603504"/>
          </a:xfrm>
          <a:prstGeom prst="ellipse">
            <a:avLst/>
          </a:prstGeom>
          <a:solidFill>
            <a:srgbClr val="3860B2"/>
          </a:solidFill>
          <a:ln w="12700">
            <a:solidFill>
              <a:srgbClr val="3860B2"/>
            </a:solidFill>
            <a:prstDash val="solid"/>
          </a:ln>
        </p:spPr>
      </p:sp>
      <p:sp>
        <p:nvSpPr>
          <p:cNvPr id="6" name="Text 3"/>
          <p:cNvSpPr txBox="1"/>
          <p:nvPr/>
        </p:nvSpPr>
        <p:spPr>
          <a:xfrm>
            <a:off x="731520" y="1481328"/>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554480" y="1463040"/>
            <a:ext cx="3291840" cy="640080"/>
          </a:xfrm>
          <a:prstGeom prst="rect">
            <a:avLst/>
          </a:prstGeom>
          <a:noFill/>
          <a:ln/>
        </p:spPr>
        <p:txBody>
          <a:bodyPr wrap="square" lIns="0" tIns="0" rIns="0" bIns="0" rtlCol="0" anchor="ctr"/>
          <a:lstStyle/>
          <a:p>
            <a:pPr indent="0" marL="0">
              <a:spcAft>
                <a:spcPts val="400"/>
              </a:spcAft>
              <a:buNone/>
            </a:pPr>
            <a:r>
              <a:rPr lang="en-US" sz="1700" b="1" dirty="0">
                <a:solidFill>
                  <a:schemeClr val="tx2"/>
                </a:solidFill>
              </a:rPr>
              <a:t>Package integrity</a:t>
            </a:r>
            <a:endParaRPr lang="en-US" sz="1700" dirty="0"/>
          </a:p>
        </p:txBody>
      </p:sp>
      <p:sp>
        <p:nvSpPr>
          <p:cNvPr id="8" name="Text 5"/>
          <p:cNvSpPr txBox="1"/>
          <p:nvPr/>
        </p:nvSpPr>
        <p:spPr>
          <a:xfrm>
            <a:off x="4937760" y="1444752"/>
            <a:ext cx="6492240" cy="6858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Rebuilt against a Studio reference; every control has its children; YAML and JSON agree on all screens</a:t>
            </a:r>
            <a:endParaRPr lang="en-US" sz="1400" dirty="0"/>
          </a:p>
        </p:txBody>
      </p:sp>
      <p:sp>
        <p:nvSpPr>
          <p:cNvPr id="9" name="layer card 2"/>
          <p:cNvSpPr/>
          <p:nvPr/>
        </p:nvSpPr>
        <p:spPr>
          <a:xfrm>
            <a:off x="548640" y="2322576"/>
            <a:ext cx="11064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layer number 2"/>
          <p:cNvSpPr/>
          <p:nvPr/>
        </p:nvSpPr>
        <p:spPr>
          <a:xfrm>
            <a:off x="731520" y="2432304"/>
            <a:ext cx="603504" cy="603504"/>
          </a:xfrm>
          <a:prstGeom prst="ellipse">
            <a:avLst/>
          </a:prstGeom>
          <a:solidFill>
            <a:srgbClr val="7A30A0"/>
          </a:solidFill>
          <a:ln w="12700">
            <a:solidFill>
              <a:srgbClr val="7A30A0"/>
            </a:solidFill>
            <a:prstDash val="solid"/>
          </a:ln>
        </p:spPr>
      </p:sp>
      <p:sp>
        <p:nvSpPr>
          <p:cNvPr id="11" name="Text 8"/>
          <p:cNvSpPr txBox="1"/>
          <p:nvPr/>
        </p:nvSpPr>
        <p:spPr>
          <a:xfrm>
            <a:off x="731520" y="2432304"/>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1554480" y="2414016"/>
            <a:ext cx="3291840" cy="640080"/>
          </a:xfrm>
          <a:prstGeom prst="rect">
            <a:avLst/>
          </a:prstGeom>
          <a:noFill/>
          <a:ln/>
        </p:spPr>
        <p:txBody>
          <a:bodyPr wrap="square" lIns="0" tIns="0" rIns="0" bIns="0" rtlCol="0" anchor="ctr"/>
          <a:lstStyle/>
          <a:p>
            <a:pPr indent="0" marL="0">
              <a:spcAft>
                <a:spcPts val="400"/>
              </a:spcAft>
              <a:buNone/>
            </a:pPr>
            <a:r>
              <a:rPr lang="en-US" sz="1700" b="1" dirty="0">
                <a:solidFill>
                  <a:schemeClr val="tx2"/>
                </a:solidFill>
              </a:rPr>
              <a:t>Version verification</a:t>
            </a:r>
            <a:endParaRPr lang="en-US" sz="1700" dirty="0"/>
          </a:p>
        </p:txBody>
      </p:sp>
      <p:sp>
        <p:nvSpPr>
          <p:cNvPr id="13" name="Text 10"/>
          <p:cNvSpPr txBox="1"/>
          <p:nvPr/>
        </p:nvSpPr>
        <p:spPr>
          <a:xfrm>
            <a:off x="4937760" y="2395728"/>
            <a:ext cx="6492240" cy="6858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62 scripts list exactly which rules changed against the previous version; anything else fails</a:t>
            </a:r>
            <a:endParaRPr lang="en-US" sz="1400" dirty="0"/>
          </a:p>
        </p:txBody>
      </p:sp>
      <p:sp>
        <p:nvSpPr>
          <p:cNvPr id="14" name="layer card 3"/>
          <p:cNvSpPr/>
          <p:nvPr/>
        </p:nvSpPr>
        <p:spPr>
          <a:xfrm>
            <a:off x="548640" y="3273552"/>
            <a:ext cx="11064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layer number 3"/>
          <p:cNvSpPr/>
          <p:nvPr/>
        </p:nvSpPr>
        <p:spPr>
          <a:xfrm>
            <a:off x="731520" y="3383280"/>
            <a:ext cx="603504" cy="603504"/>
          </a:xfrm>
          <a:prstGeom prst="ellipse">
            <a:avLst/>
          </a:prstGeom>
          <a:solidFill>
            <a:srgbClr val="2E9E6B"/>
          </a:solidFill>
          <a:ln w="12700">
            <a:solidFill>
              <a:srgbClr val="2E9E6B"/>
            </a:solidFill>
            <a:prstDash val="solid"/>
          </a:ln>
        </p:spPr>
      </p:sp>
      <p:sp>
        <p:nvSpPr>
          <p:cNvPr id="16" name="Text 13"/>
          <p:cNvSpPr txBox="1"/>
          <p:nvPr/>
        </p:nvSpPr>
        <p:spPr>
          <a:xfrm>
            <a:off x="731520" y="338328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1554480" y="3364992"/>
            <a:ext cx="3291840" cy="640080"/>
          </a:xfrm>
          <a:prstGeom prst="rect">
            <a:avLst/>
          </a:prstGeom>
          <a:noFill/>
          <a:ln/>
        </p:spPr>
        <p:txBody>
          <a:bodyPr wrap="square" lIns="0" tIns="0" rIns="0" bIns="0" rtlCol="0" anchor="ctr"/>
          <a:lstStyle/>
          <a:p>
            <a:pPr indent="0" marL="0">
              <a:spcAft>
                <a:spcPts val="400"/>
              </a:spcAft>
              <a:buNone/>
            </a:pPr>
            <a:r>
              <a:rPr lang="en-US" sz="1700" b="1" dirty="0">
                <a:solidFill>
                  <a:schemeClr val="tx2"/>
                </a:solidFill>
              </a:rPr>
              <a:t>Static audit of the whole app</a:t>
            </a:r>
            <a:endParaRPr lang="en-US" sz="1700" dirty="0"/>
          </a:p>
        </p:txBody>
      </p:sp>
      <p:sp>
        <p:nvSpPr>
          <p:cNvPr id="18" name="Text 15"/>
          <p:cNvSpPr txBox="1"/>
          <p:nvPr/>
        </p:nvSpPr>
        <p:spPr>
          <a:xfrm>
            <a:off x="4937760" y="3346704"/>
            <a:ext cx="6492240" cy="6858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52,810 formulas: no unknown functions, no syntax faults, every saved field exists in the schema</a:t>
            </a:r>
            <a:endParaRPr lang="en-US" sz="1400" dirty="0"/>
          </a:p>
        </p:txBody>
      </p:sp>
      <p:sp>
        <p:nvSpPr>
          <p:cNvPr id="19" name="layer card 4"/>
          <p:cNvSpPr/>
          <p:nvPr/>
        </p:nvSpPr>
        <p:spPr>
          <a:xfrm>
            <a:off x="548640" y="4224528"/>
            <a:ext cx="11064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layer number 4"/>
          <p:cNvSpPr/>
          <p:nvPr/>
        </p:nvSpPr>
        <p:spPr>
          <a:xfrm>
            <a:off x="731520" y="4334256"/>
            <a:ext cx="603504" cy="603504"/>
          </a:xfrm>
          <a:prstGeom prst="ellipse">
            <a:avLst/>
          </a:prstGeom>
          <a:solidFill>
            <a:srgbClr val="0B1B6B"/>
          </a:solidFill>
          <a:ln w="12700">
            <a:solidFill>
              <a:srgbClr val="0B1B6B"/>
            </a:solidFill>
            <a:prstDash val="solid"/>
          </a:ln>
        </p:spPr>
      </p:sp>
      <p:sp>
        <p:nvSpPr>
          <p:cNvPr id="21" name="Text 18"/>
          <p:cNvSpPr txBox="1"/>
          <p:nvPr/>
        </p:nvSpPr>
        <p:spPr>
          <a:xfrm>
            <a:off x="731520" y="4334256"/>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1554480" y="4315968"/>
            <a:ext cx="3291840" cy="640080"/>
          </a:xfrm>
          <a:prstGeom prst="rect">
            <a:avLst/>
          </a:prstGeom>
          <a:noFill/>
          <a:ln/>
        </p:spPr>
        <p:txBody>
          <a:bodyPr wrap="square" lIns="0" tIns="0" rIns="0" bIns="0" rtlCol="0" anchor="ctr"/>
          <a:lstStyle/>
          <a:p>
            <a:pPr indent="0" marL="0">
              <a:spcAft>
                <a:spcPts val="400"/>
              </a:spcAft>
              <a:buNone/>
            </a:pPr>
            <a:r>
              <a:rPr lang="en-US" sz="1700" b="1" dirty="0">
                <a:solidFill>
                  <a:schemeClr val="tx2"/>
                </a:solidFill>
              </a:rPr>
              <a:t>Studio's own checker</a:t>
            </a:r>
            <a:endParaRPr lang="en-US" sz="1700" dirty="0"/>
          </a:p>
        </p:txBody>
      </p:sp>
      <p:sp>
        <p:nvSpPr>
          <p:cNvPr id="23" name="Text 20"/>
          <p:cNvSpPr txBox="1"/>
          <p:nvPr/>
        </p:nvSpPr>
        <p:spPr>
          <a:xfrm>
            <a:off x="4937760" y="4297680"/>
            <a:ext cx="6492240" cy="6858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On the owner's FINAL_3 file: 1,642 findings, all rated Medium, none High (most are accessibility)</a:t>
            </a:r>
            <a:endParaRPr lang="en-US" sz="1400" dirty="0"/>
          </a:p>
        </p:txBody>
      </p:sp>
      <p:sp>
        <p:nvSpPr>
          <p:cNvPr id="24" name="layer card 5"/>
          <p:cNvSpPr/>
          <p:nvPr/>
        </p:nvSpPr>
        <p:spPr>
          <a:xfrm>
            <a:off x="548640" y="5175504"/>
            <a:ext cx="1106424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layer number 5"/>
          <p:cNvSpPr/>
          <p:nvPr/>
        </p:nvSpPr>
        <p:spPr>
          <a:xfrm>
            <a:off x="731520" y="5285232"/>
            <a:ext cx="603504" cy="603504"/>
          </a:xfrm>
          <a:prstGeom prst="ellipse">
            <a:avLst/>
          </a:prstGeom>
          <a:solidFill>
            <a:srgbClr val="C0392B"/>
          </a:solidFill>
          <a:ln w="12700">
            <a:solidFill>
              <a:srgbClr val="C0392B"/>
            </a:solidFill>
            <a:prstDash val="solid"/>
          </a:ln>
        </p:spPr>
      </p:sp>
      <p:sp>
        <p:nvSpPr>
          <p:cNvPr id="26" name="Text 23"/>
          <p:cNvSpPr txBox="1"/>
          <p:nvPr/>
        </p:nvSpPr>
        <p:spPr>
          <a:xfrm>
            <a:off x="731520" y="5285232"/>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4"/>
          <p:cNvSpPr txBox="1"/>
          <p:nvPr/>
        </p:nvSpPr>
        <p:spPr>
          <a:xfrm>
            <a:off x="1554480" y="5266944"/>
            <a:ext cx="3291840" cy="640080"/>
          </a:xfrm>
          <a:prstGeom prst="rect">
            <a:avLst/>
          </a:prstGeom>
          <a:noFill/>
          <a:ln/>
        </p:spPr>
        <p:txBody>
          <a:bodyPr wrap="square" lIns="0" tIns="0" rIns="0" bIns="0" rtlCol="0" anchor="ctr"/>
          <a:lstStyle/>
          <a:p>
            <a:pPr indent="0" marL="0">
              <a:spcAft>
                <a:spcPts val="400"/>
              </a:spcAft>
              <a:buNone/>
            </a:pPr>
            <a:r>
              <a:rPr lang="en-US" sz="1700" b="1" dirty="0">
                <a:solidFill>
                  <a:schemeClr val="tx2"/>
                </a:solidFill>
              </a:rPr>
              <a:t>Owner tests in Studio</a:t>
            </a:r>
            <a:endParaRPr lang="en-US" sz="1700" dirty="0"/>
          </a:p>
        </p:txBody>
      </p:sp>
      <p:sp>
        <p:nvSpPr>
          <p:cNvPr id="28" name="Text 25"/>
          <p:cNvSpPr txBox="1"/>
          <p:nvPr/>
        </p:nvSpPr>
        <p:spPr>
          <a:xfrm>
            <a:off x="4937760" y="5248656"/>
            <a:ext cx="6492240" cy="6858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The owner opens each version; for example the attachment fix was confirmed working</a:t>
            </a:r>
            <a:endParaRPr lang="en-US" sz="1400" dirty="0"/>
          </a:p>
        </p:txBody>
      </p:sp>
      <p:sp>
        <p:nvSpPr>
          <p:cNvPr id="29" name="Text 26"/>
          <p:cNvSpPr txBox="1"/>
          <p:nvPr/>
        </p:nvSpPr>
        <p:spPr>
          <a:xfrm>
            <a:off x="548640" y="6126480"/>
            <a:ext cx="10058400" cy="274320"/>
          </a:xfrm>
          <a:prstGeom prst="rect">
            <a:avLst/>
          </a:prstGeom>
          <a:noFill/>
          <a:ln/>
        </p:spPr>
        <p:txBody>
          <a:bodyPr wrap="square" lIns="0" tIns="0" rIns="0" bIns="0" rtlCol="0" anchor="t"/>
          <a:lstStyle/>
          <a:p>
            <a:pPr indent="0" marL="0">
              <a:spcAft>
                <a:spcPts val="400"/>
              </a:spcAft>
              <a:buNone/>
            </a:pPr>
            <a:r>
              <a:rPr lang="en-US" sz="1200" b="1" dirty="0">
                <a:solidFill>
                  <a:schemeClr val="accent4"/>
                </a:solidFill>
              </a:rPr>
              <a:t>Layers 1 to 3 are static: runtime behaviour is only proven when the owner tests the file in Studio</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Studio's checker: mostly accessibility</a:t>
            </a:r>
            <a:endParaRPr lang="en-US" sz="3400" dirty="0"/>
          </a:p>
        </p:txBody>
      </p:sp>
      <p:graphicFrame>
        <p:nvGraphicFramePr>
          <p:cNvPr id="4" name="Chart 0"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stat zero errors"/>
          <p:cNvSpPr/>
          <p:nvPr/>
        </p:nvSpPr>
        <p:spPr>
          <a:xfrm>
            <a:off x="7863840" y="1371600"/>
            <a:ext cx="3749040" cy="1554480"/>
          </a:xfrm>
          <a:prstGeom prst="roundRect">
            <a:avLst>
              <a:gd name="adj" fmla="val 4706"/>
            </a:avLst>
          </a:prstGeom>
          <a:solidFill>
            <a:srgbClr val="0B1B6B"/>
          </a:solidFill>
          <a:ln w="12700">
            <a:solidFill>
              <a:srgbClr val="0B1B6B"/>
            </a:solidFill>
            <a:prstDash val="solid"/>
          </a:ln>
          <a:effectLst>
            <a:outerShdw sx="100000" sy="100000" kx="0" ky="0" algn="bl" rotWithShape="0" blurRad="101600" dist="25400" dir="5400000">
              <a:srgbClr val="000000">
                <a:alpha val="12000"/>
              </a:srgbClr>
            </a:outerShdw>
          </a:effectLst>
        </p:spPr>
      </p:sp>
      <p:sp>
        <p:nvSpPr>
          <p:cNvPr id="6" name="Text 2"/>
          <p:cNvSpPr txBox="1"/>
          <p:nvPr/>
        </p:nvSpPr>
        <p:spPr>
          <a:xfrm>
            <a:off x="7863840" y="1463040"/>
            <a:ext cx="3749040" cy="822960"/>
          </a:xfrm>
          <a:prstGeom prst="rect">
            <a:avLst/>
          </a:prstGeom>
          <a:noFill/>
          <a:ln/>
        </p:spPr>
        <p:txBody>
          <a:bodyPr wrap="square" lIns="0" tIns="0" rIns="0" bIns="0" rtlCol="0" anchor="t"/>
          <a:lstStyle/>
          <a:p>
            <a:pPr algn="ctr" indent="0" marL="0">
              <a:spcAft>
                <a:spcPts val="400"/>
              </a:spcAft>
              <a:buNone/>
            </a:pPr>
            <a:r>
              <a:rPr lang="en-US" sz="5400" b="1" dirty="0">
                <a:solidFill>
                  <a:schemeClr val="accent2"/>
                </a:solidFill>
              </a:rPr>
              <a:t>0</a:t>
            </a:r>
            <a:endParaRPr lang="en-US" sz="5400" dirty="0"/>
          </a:p>
        </p:txBody>
      </p:sp>
      <p:sp>
        <p:nvSpPr>
          <p:cNvPr id="7" name="Text 3"/>
          <p:cNvSpPr txBox="1"/>
          <p:nvPr/>
        </p:nvSpPr>
        <p:spPr>
          <a:xfrm>
            <a:off x="8001000" y="2286000"/>
            <a:ext cx="3474720" cy="548640"/>
          </a:xfrm>
          <a:prstGeom prst="rect">
            <a:avLst/>
          </a:prstGeom>
          <a:noFill/>
          <a:ln/>
        </p:spPr>
        <p:txBody>
          <a:bodyPr wrap="square" lIns="0" tIns="0" rIns="0" bIns="0" rtlCol="0" anchor="t"/>
          <a:lstStyle/>
          <a:p>
            <a:pPr algn="ctr" indent="0" marL="0">
              <a:spcAft>
                <a:spcPts val="400"/>
              </a:spcAft>
              <a:buNone/>
            </a:pPr>
            <a:r>
              <a:rPr lang="en-US" sz="1500" dirty="0">
                <a:solidFill>
                  <a:schemeClr val="bg1"/>
                </a:solidFill>
              </a:rPr>
              <a:t>High-severity findings: all 1,642 are rated Medium</a:t>
            </a:r>
            <a:endParaRPr lang="en-US" sz="1500" dirty="0"/>
          </a:p>
        </p:txBody>
      </p:sp>
      <p:sp>
        <p:nvSpPr>
          <p:cNvPr id="8" name="stat accessibility"/>
          <p:cNvSpPr/>
          <p:nvPr/>
        </p:nvSpPr>
        <p:spPr>
          <a:xfrm>
            <a:off x="7863840" y="3108960"/>
            <a:ext cx="374904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Text 5"/>
          <p:cNvSpPr txBox="1"/>
          <p:nvPr/>
        </p:nvSpPr>
        <p:spPr>
          <a:xfrm>
            <a:off x="7863840" y="3200400"/>
            <a:ext cx="3749040" cy="822960"/>
          </a:xfrm>
          <a:prstGeom prst="rect">
            <a:avLst/>
          </a:prstGeom>
          <a:noFill/>
          <a:ln/>
        </p:spPr>
        <p:txBody>
          <a:bodyPr wrap="square" lIns="0" tIns="0" rIns="0" bIns="0" rtlCol="0" anchor="t"/>
          <a:lstStyle/>
          <a:p>
            <a:pPr algn="ctr" indent="0" marL="0">
              <a:spcAft>
                <a:spcPts val="400"/>
              </a:spcAft>
              <a:buNone/>
            </a:pPr>
            <a:r>
              <a:rPr lang="en-US" sz="5400" b="1" dirty="0">
                <a:solidFill>
                  <a:schemeClr val="tx2"/>
                </a:solidFill>
              </a:rPr>
              <a:t>95%</a:t>
            </a:r>
            <a:endParaRPr lang="en-US" sz="5400" dirty="0"/>
          </a:p>
        </p:txBody>
      </p:sp>
      <p:sp>
        <p:nvSpPr>
          <p:cNvPr id="10" name="Text 6"/>
          <p:cNvSpPr txBox="1"/>
          <p:nvPr/>
        </p:nvSpPr>
        <p:spPr>
          <a:xfrm>
            <a:off x="7863840" y="4069080"/>
            <a:ext cx="3749040" cy="365760"/>
          </a:xfrm>
          <a:prstGeom prst="rect">
            <a:avLst/>
          </a:prstGeom>
          <a:noFill/>
          <a:ln/>
        </p:spPr>
        <p:txBody>
          <a:bodyPr wrap="square" lIns="0" tIns="0" rIns="0" bIns="0" rtlCol="0" anchor="t"/>
          <a:lstStyle/>
          <a:p>
            <a:pPr algn="ctr" indent="0" marL="0">
              <a:spcAft>
                <a:spcPts val="400"/>
              </a:spcAft>
              <a:buNone/>
            </a:pPr>
            <a:r>
              <a:rPr lang="en-US" sz="1600" b="1" dirty="0">
                <a:solidFill>
                  <a:schemeClr val="accent1"/>
                </a:solidFill>
              </a:rPr>
              <a:t>of warnings are accessibility</a:t>
            </a:r>
            <a:endParaRPr lang="en-US" sz="1600" dirty="0"/>
          </a:p>
        </p:txBody>
      </p:sp>
      <p:sp>
        <p:nvSpPr>
          <p:cNvPr id="11" name="Text 7"/>
          <p:cNvSpPr txBox="1"/>
          <p:nvPr/>
        </p:nvSpPr>
        <p:spPr>
          <a:xfrm>
            <a:off x="7863840" y="4846320"/>
            <a:ext cx="37490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1,552 of 1,642: tab order, focus border and labels. An accessibility pass is the main open quality item.</a:t>
            </a:r>
            <a:endParaRPr lang="en-US" sz="1400" dirty="0"/>
          </a:p>
        </p:txBody>
      </p:sp>
      <p:sp>
        <p:nvSpPr>
          <p:cNvPr id="12" name="Text 8"/>
          <p:cNvSpPr txBox="1"/>
          <p:nvPr/>
        </p:nvSpPr>
        <p:spPr>
          <a:xfrm>
            <a:off x="548640" y="6172200"/>
            <a:ext cx="8229600" cy="228600"/>
          </a:xfrm>
          <a:prstGeom prst="rect">
            <a:avLst/>
          </a:prstGeom>
          <a:noFill/>
          <a:ln/>
        </p:spPr>
        <p:txBody>
          <a:bodyPr wrap="square" lIns="0" tIns="0" rIns="0" bIns="0" rtlCol="0" anchor="t"/>
          <a:lstStyle/>
          <a:p>
            <a:pPr indent="0" marL="0">
              <a:spcAft>
                <a:spcPts val="400"/>
              </a:spcAft>
              <a:buNone/>
            </a:pPr>
            <a:r>
              <a:rPr lang="en-US" sz="1000" dirty="0">
                <a:solidFill>
                  <a:schemeClr val="accent6"/>
                </a:solidFill>
              </a:rPr>
              <a:t>Source: Studio checker report saved inside the owner's FINAL_3 file</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What double-checking caught</a:t>
            </a:r>
            <a:endParaRPr lang="en-US" sz="3400" dirty="0"/>
          </a:p>
        </p:txBody>
      </p:sp>
      <p:graphicFrame>
        <p:nvGraphicFramePr>
          <p:cNvPr id="16" name="bug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291840"/>
                <a:gridCol w="3383280"/>
                <a:gridCol w="3200400"/>
                <a:gridCol w="1188720"/>
              </a:tblGrid>
              <a:tr h="411480">
                <a:tc>
                  <a:txBody>
                    <a:bodyPr/>
                    <a:lstStyle/>
                    <a:p>
                      <a:pPr indent="0" marL="0">
                        <a:buNone/>
                      </a:pPr>
                      <a:r>
                        <a:rPr lang="en-US" sz="1400" b="1" dirty="0">
                          <a:solidFill>
                            <a:schemeClr val="bg1"/>
                          </a:solidFill>
                        </a:rPr>
                        <a:t>What the user saw</a:t>
                      </a:r>
                      <a:endParaRPr lang="en-US" sz="14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0B1B6B"/>
                    </a:solidFill>
                  </a:tcPr>
                </a:tc>
                <a:tc>
                  <a:txBody>
                    <a:bodyPr/>
                    <a:lstStyle/>
                    <a:p>
                      <a:pPr indent="0" marL="0">
                        <a:buNone/>
                      </a:pPr>
                      <a:r>
                        <a:rPr lang="en-US" sz="1400" b="1" dirty="0">
                          <a:solidFill>
                            <a:schemeClr val="bg1"/>
                          </a:solidFill>
                        </a:rPr>
                        <a:t>Cause</a:t>
                      </a:r>
                      <a:endParaRPr lang="en-US" sz="14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0B1B6B"/>
                    </a:solidFill>
                  </a:tcPr>
                </a:tc>
                <a:tc>
                  <a:txBody>
                    <a:bodyPr/>
                    <a:lstStyle/>
                    <a:p>
                      <a:pPr indent="0" marL="0">
                        <a:buNone/>
                      </a:pPr>
                      <a:r>
                        <a:rPr lang="en-US" sz="1400" b="1" dirty="0">
                          <a:solidFill>
                            <a:schemeClr val="bg1"/>
                          </a:solidFill>
                        </a:rPr>
                        <a:t>Fix</a:t>
                      </a:r>
                      <a:endParaRPr lang="en-US" sz="14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0B1B6B"/>
                    </a:solidFill>
                  </a:tcPr>
                </a:tc>
                <a:tc>
                  <a:txBody>
                    <a:bodyPr/>
                    <a:lstStyle/>
                    <a:p>
                      <a:pPr indent="0" marL="0">
                        <a:buNone/>
                      </a:pPr>
                      <a:r>
                        <a:rPr lang="en-US" sz="1400" b="1" dirty="0">
                          <a:solidFill>
                            <a:schemeClr val="bg1"/>
                          </a:solidFill>
                        </a:rPr>
                        <a:t>Version</a:t>
                      </a:r>
                      <a:endParaRPr lang="en-US" sz="14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0B1B6B"/>
                    </a:solidFill>
                  </a:tcPr>
                </a:tc>
              </a:tr>
              <a:tr h="731520">
                <a:tc>
                  <a:txBody>
                    <a:bodyPr/>
                    <a:lstStyle/>
                    <a:p>
                      <a:pPr indent="0" marL="0">
                        <a:buNone/>
                      </a:pPr>
                      <a:r>
                        <a:rPr lang="en-US" sz="1300" dirty="0">
                          <a:solidFill>
                            <a:schemeClr val="tx1"/>
                          </a:solidFill>
                        </a:rPr>
                        <a:t>Save failed: column 'DocFramework' does not exist</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App wrote columns that were not in the SharePoint list</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Saved in a tolerant second step; later removed from the save</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FINAL27, 29</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r>
              <a:tr h="731520">
                <a:tc>
                  <a:txBody>
                    <a:bodyPr/>
                    <a:lstStyle/>
                    <a:p>
                      <a:pPr indent="0" marL="0">
                        <a:buNone/>
                      </a:pPr>
                      <a:r>
                        <a:rPr lang="en-US" sz="1300" dirty="0">
                          <a:solidFill>
                            <a:schemeClr val="tx1"/>
                          </a:solidFill>
                        </a:rPr>
                        <a:t>File attached after Save Media was not sent (spId empty)</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Coalesce counts 0 as a value, hiding the real id</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The id never loses to a 0; Next recovers it</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FINAL30, 34</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r>
              <a:tr h="731520">
                <a:tc>
                  <a:txBody>
                    <a:bodyPr/>
                    <a:lstStyle/>
                    <a:p>
                      <a:pPr indent="0" marL="0">
                        <a:buNone/>
                      </a:pPr>
                      <a:r>
                        <a:rPr lang="en-US" sz="1300" dirty="0">
                          <a:solidFill>
                            <a:schemeClr val="tx1"/>
                          </a:solidFill>
                        </a:rPr>
                        <a:t>Requests created today not listed</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Default end date was 00:00, requests carry a time</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End of day; range resets on a new day</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FINAL38</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r>
              <a:tr h="731520">
                <a:tc>
                  <a:txBody>
                    <a:bodyPr/>
                    <a:lstStyle/>
                    <a:p>
                      <a:pPr indent="0" marL="0">
                        <a:buNone/>
                      </a:pPr>
                      <a:r>
                        <a:rPr lang="en-US" sz="1300" dirty="0">
                          <a:solidFill>
                            <a:schemeClr val="tx1"/>
                          </a:solidFill>
                        </a:rPr>
                        <a:t>Export search by request ID found nothing</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Compared with the SharePoint item id, ignored dashes</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Matches the start of the request number</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FINAL32</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r>
              <a:tr h="731520">
                <a:tc>
                  <a:txBody>
                    <a:bodyPr/>
                    <a:lstStyle/>
                    <a:p>
                      <a:pPr indent="0" marL="0">
                        <a:buNone/>
                      </a:pPr>
                      <a:r>
                        <a:rPr lang="en-US" sz="1300" dirty="0">
                          <a:solidFill>
                            <a:schemeClr val="tx1"/>
                          </a:solidFill>
                        </a:rPr>
                        <a:t>Template copy left the title empty</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Wrote the media number into the wrong variable</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Copies the production title and more fields</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FINAL36</a:t>
                      </a:r>
                      <a:endParaRPr lang="en-US" sz="1300" dirty="0"/>
                    </a:p>
                  </a:txBody>
                  <a:tcPr marL="91440" marR="91440" marT="45720" marB="45720" anchor="ctr">
                    <a:lnL w="12700" cap="flat" cmpd="sng" algn="ctr">
                      <a:solidFill>
                        <a:srgbClr val="8A93A6"/>
                      </a:solidFill>
                      <a:prstDash val="solid"/>
                      <a:round/>
                      <a:headEnd type="none" w="med" len="med"/>
                      <a:tailEnd type="none" w="med" len="med"/>
                    </a:lnL>
                    <a:lnR w="12700" cap="flat" cmpd="sng" algn="ctr">
                      <a:solidFill>
                        <a:srgbClr val="8A93A6"/>
                      </a:solidFill>
                      <a:prstDash val="solid"/>
                      <a:round/>
                      <a:headEnd type="none" w="med" len="med"/>
                      <a:tailEnd type="none" w="med" len="med"/>
                    </a:lnR>
                    <a:lnT w="12700" cap="flat" cmpd="sng" algn="ctr">
                      <a:solidFill>
                        <a:srgbClr val="8A93A6"/>
                      </a:solidFill>
                      <a:prstDash val="solid"/>
                      <a:round/>
                      <a:headEnd type="none" w="med" len="med"/>
                      <a:tailEnd type="none" w="med" len="med"/>
                    </a:lnT>
                    <a:lnB w="12700" cap="flat" cmpd="sng" algn="ctr">
                      <a:solidFill>
                        <a:srgbClr val="8A93A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Prepared answers to the main questions</a:t>
            </a:r>
            <a:endParaRPr lang="en-US" sz="3400" dirty="0"/>
          </a:p>
        </p:txBody>
      </p:sp>
      <p:sp>
        <p:nvSpPr>
          <p:cNvPr id="4" name="qa card Has it been tested?"/>
          <p:cNvSpPr/>
          <p:nvPr/>
        </p:nvSpPr>
        <p:spPr>
          <a:xfrm>
            <a:off x="548640" y="137160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Has it been tested? circle"/>
          <p:cNvSpPr/>
          <p:nvPr/>
        </p:nvSpPr>
        <p:spPr>
          <a:xfrm>
            <a:off x="731520" y="1536192"/>
            <a:ext cx="566928" cy="566928"/>
          </a:xfrm>
          <a:prstGeom prst="ellipse">
            <a:avLst/>
          </a:prstGeom>
          <a:solidFill>
            <a:srgbClr val="0B1B6B"/>
          </a:solidFill>
          <a:ln w="12700">
            <a:solidFill>
              <a:srgbClr val="0B1B6B"/>
            </a:solidFill>
            <a:prstDash val="solid"/>
          </a:ln>
        </p:spPr>
      </p:sp>
      <p:pic>
        <p:nvPicPr>
          <p:cNvPr id="6" name="Has it been tested? icon" descr="Has it been tested?">    </p:cNvPr>
          <p:cNvPicPr>
            <a:picLocks noChangeAspect="1"/>
          </p:cNvPicPr>
          <p:nvPr/>
        </p:nvPicPr>
        <p:blipFill>
          <a:blip r:embed="rId1"/>
          <a:stretch>
            <a:fillRect/>
          </a:stretch>
        </p:blipFill>
        <p:spPr>
          <a:xfrm>
            <a:off x="867583" y="1672255"/>
            <a:ext cx="294803" cy="294803"/>
          </a:xfrm>
          <a:prstGeom prst="rect">
            <a:avLst/>
          </a:prstGeom>
        </p:spPr>
      </p:pic>
      <p:sp>
        <p:nvSpPr>
          <p:cNvPr id="7" name="Text 3"/>
          <p:cNvSpPr txBox="1"/>
          <p:nvPr/>
        </p:nvSpPr>
        <p:spPr>
          <a:xfrm>
            <a:off x="1417320" y="1572768"/>
            <a:ext cx="2606040" cy="54864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Has it been tested?</a:t>
            </a:r>
            <a:endParaRPr lang="en-US" sz="1500" dirty="0"/>
          </a:p>
        </p:txBody>
      </p:sp>
      <p:sp>
        <p:nvSpPr>
          <p:cNvPr id="8" name="Text 4"/>
          <p:cNvSpPr txBox="1"/>
          <p:nvPr/>
        </p:nvSpPr>
        <p:spPr>
          <a:xfrm>
            <a:off x="731520" y="2240280"/>
            <a:ext cx="3200400"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Checked statically on every version and used in Studio by the owner. FINAL31 to FINAL38 still need the owner's confirmation.</a:t>
            </a:r>
            <a:endParaRPr lang="en-US" sz="1400" dirty="0"/>
          </a:p>
        </p:txBody>
      </p:sp>
      <p:sp>
        <p:nvSpPr>
          <p:cNvPr id="9" name="qa card What must exist in SharePoint?"/>
          <p:cNvSpPr/>
          <p:nvPr/>
        </p:nvSpPr>
        <p:spPr>
          <a:xfrm>
            <a:off x="4297680" y="137160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What must exist in SharePoint? circle"/>
          <p:cNvSpPr/>
          <p:nvPr/>
        </p:nvSpPr>
        <p:spPr>
          <a:xfrm>
            <a:off x="4480560" y="1536192"/>
            <a:ext cx="566928" cy="566928"/>
          </a:xfrm>
          <a:prstGeom prst="ellipse">
            <a:avLst/>
          </a:prstGeom>
          <a:solidFill>
            <a:srgbClr val="0B1B6B"/>
          </a:solidFill>
          <a:ln w="12700">
            <a:solidFill>
              <a:srgbClr val="0B1B6B"/>
            </a:solidFill>
            <a:prstDash val="solid"/>
          </a:ln>
        </p:spPr>
      </p:sp>
      <p:pic>
        <p:nvPicPr>
          <p:cNvPr id="11" name="What must exist in SharePoint? icon" descr="What must exist in SharePoint?">    </p:cNvPr>
          <p:cNvPicPr>
            <a:picLocks noChangeAspect="1"/>
          </p:cNvPicPr>
          <p:nvPr/>
        </p:nvPicPr>
        <p:blipFill>
          <a:blip r:embed="rId2"/>
          <a:stretch>
            <a:fillRect/>
          </a:stretch>
        </p:blipFill>
        <p:spPr>
          <a:xfrm>
            <a:off x="4616623" y="1672255"/>
            <a:ext cx="294803" cy="294803"/>
          </a:xfrm>
          <a:prstGeom prst="rect">
            <a:avLst/>
          </a:prstGeom>
        </p:spPr>
      </p:pic>
      <p:sp>
        <p:nvSpPr>
          <p:cNvPr id="12" name="Text 7"/>
          <p:cNvSpPr txBox="1"/>
          <p:nvPr/>
        </p:nvSpPr>
        <p:spPr>
          <a:xfrm>
            <a:off x="5166360" y="1572768"/>
            <a:ext cx="2606040" cy="54864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What must exist in SharePoint?</a:t>
            </a:r>
            <a:endParaRPr lang="en-US" sz="1500" dirty="0"/>
          </a:p>
        </p:txBody>
      </p:sp>
      <p:sp>
        <p:nvSpPr>
          <p:cNvPr id="13" name="Text 8"/>
          <p:cNvSpPr txBox="1"/>
          <p:nvPr/>
        </p:nvSpPr>
        <p:spPr>
          <a:xfrm>
            <a:off x="4480560" y="2240280"/>
            <a:ext cx="3200400"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Five lists; ArchivedOnly (Yes/No) and CoAssignee (person) on Requests. The Legal tab Yes/No columns are not needed.</a:t>
            </a:r>
            <a:endParaRPr lang="en-US" sz="1400" dirty="0"/>
          </a:p>
        </p:txBody>
      </p:sp>
      <p:sp>
        <p:nvSpPr>
          <p:cNvPr id="14" name="qa card Who can see what?"/>
          <p:cNvSpPr/>
          <p:nvPr/>
        </p:nvSpPr>
        <p:spPr>
          <a:xfrm>
            <a:off x="8046720" y="137160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Who can see what? circle"/>
          <p:cNvSpPr/>
          <p:nvPr/>
        </p:nvSpPr>
        <p:spPr>
          <a:xfrm>
            <a:off x="8229600" y="1536192"/>
            <a:ext cx="566928" cy="566928"/>
          </a:xfrm>
          <a:prstGeom prst="ellipse">
            <a:avLst/>
          </a:prstGeom>
          <a:solidFill>
            <a:srgbClr val="0B1B6B"/>
          </a:solidFill>
          <a:ln w="12700">
            <a:solidFill>
              <a:srgbClr val="0B1B6B"/>
            </a:solidFill>
            <a:prstDash val="solid"/>
          </a:ln>
        </p:spPr>
      </p:sp>
      <p:pic>
        <p:nvPicPr>
          <p:cNvPr id="16" name="Who can see what? icon" descr="Who can see what?">    </p:cNvPr>
          <p:cNvPicPr>
            <a:picLocks noChangeAspect="1"/>
          </p:cNvPicPr>
          <p:nvPr/>
        </p:nvPicPr>
        <p:blipFill>
          <a:blip r:embed="rId3"/>
          <a:stretch>
            <a:fillRect/>
          </a:stretch>
        </p:blipFill>
        <p:spPr>
          <a:xfrm>
            <a:off x="8365663" y="1672255"/>
            <a:ext cx="294803" cy="294803"/>
          </a:xfrm>
          <a:prstGeom prst="rect">
            <a:avLst/>
          </a:prstGeom>
        </p:spPr>
      </p:pic>
      <p:sp>
        <p:nvSpPr>
          <p:cNvPr id="17" name="Text 11"/>
          <p:cNvSpPr txBox="1"/>
          <p:nvPr/>
        </p:nvSpPr>
        <p:spPr>
          <a:xfrm>
            <a:off x="8915400" y="1572768"/>
            <a:ext cx="2606040" cy="54864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Who can see what?</a:t>
            </a:r>
            <a:endParaRPr lang="en-US" sz="1500" dirty="0"/>
          </a:p>
        </p:txBody>
      </p:sp>
      <p:sp>
        <p:nvSpPr>
          <p:cNvPr id="18" name="Text 12"/>
          <p:cNvSpPr txBox="1"/>
          <p:nvPr/>
        </p:nvSpPr>
        <p:spPr>
          <a:xfrm>
            <a:off x="8229600" y="2240280"/>
            <a:ext cx="3200400"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The app hides and locks by role; the real boundary is the SharePoint list permission, which must match.</a:t>
            </a:r>
            <a:endParaRPr lang="en-US" sz="1400" dirty="0"/>
          </a:p>
        </p:txBody>
      </p:sp>
      <p:sp>
        <p:nvSpPr>
          <p:cNvPr id="19" name="qa card How many requests can it handle?"/>
          <p:cNvSpPr/>
          <p:nvPr/>
        </p:nvSpPr>
        <p:spPr>
          <a:xfrm>
            <a:off x="548640" y="384048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How many requests can it handle? circle"/>
          <p:cNvSpPr/>
          <p:nvPr/>
        </p:nvSpPr>
        <p:spPr>
          <a:xfrm>
            <a:off x="731520" y="4005072"/>
            <a:ext cx="566928" cy="566928"/>
          </a:xfrm>
          <a:prstGeom prst="ellipse">
            <a:avLst/>
          </a:prstGeom>
          <a:solidFill>
            <a:srgbClr val="0B1B6B"/>
          </a:solidFill>
          <a:ln w="12700">
            <a:solidFill>
              <a:srgbClr val="0B1B6B"/>
            </a:solidFill>
            <a:prstDash val="solid"/>
          </a:ln>
        </p:spPr>
      </p:sp>
      <p:pic>
        <p:nvPicPr>
          <p:cNvPr id="21" name="How many requests can it handle? icon" descr="How many requests can it handle?">    </p:cNvPr>
          <p:cNvPicPr>
            <a:picLocks noChangeAspect="1"/>
          </p:cNvPicPr>
          <p:nvPr/>
        </p:nvPicPr>
        <p:blipFill>
          <a:blip r:embed="rId4"/>
          <a:stretch>
            <a:fillRect/>
          </a:stretch>
        </p:blipFill>
        <p:spPr>
          <a:xfrm>
            <a:off x="867583" y="4141135"/>
            <a:ext cx="294803" cy="294803"/>
          </a:xfrm>
          <a:prstGeom prst="rect">
            <a:avLst/>
          </a:prstGeom>
        </p:spPr>
      </p:pic>
      <p:sp>
        <p:nvSpPr>
          <p:cNvPr id="22" name="Text 15"/>
          <p:cNvSpPr txBox="1"/>
          <p:nvPr/>
        </p:nvSpPr>
        <p:spPr>
          <a:xfrm>
            <a:off x="1417320" y="4041648"/>
            <a:ext cx="2606040" cy="54864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How many requests can it handle?</a:t>
            </a:r>
            <a:endParaRPr lang="en-US" sz="1500" dirty="0"/>
          </a:p>
        </p:txBody>
      </p:sp>
      <p:sp>
        <p:nvSpPr>
          <p:cNvPr id="23" name="Text 16"/>
          <p:cNvSpPr txBox="1"/>
          <p:nvPr/>
        </p:nvSpPr>
        <p:spPr>
          <a:xfrm>
            <a:off x="731520" y="4709160"/>
            <a:ext cx="3200400"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Each screen loads at most 2,000 rows and warns when reached. Older requests must then be archived.</a:t>
            </a:r>
            <a:endParaRPr lang="en-US" sz="1400" dirty="0"/>
          </a:p>
        </p:txBody>
      </p:sp>
      <p:sp>
        <p:nvSpPr>
          <p:cNvPr id="24" name="qa card Is it accessible?"/>
          <p:cNvSpPr/>
          <p:nvPr/>
        </p:nvSpPr>
        <p:spPr>
          <a:xfrm>
            <a:off x="4297680" y="384048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Is it accessible? circle"/>
          <p:cNvSpPr/>
          <p:nvPr/>
        </p:nvSpPr>
        <p:spPr>
          <a:xfrm>
            <a:off x="4480560" y="4005072"/>
            <a:ext cx="566928" cy="566928"/>
          </a:xfrm>
          <a:prstGeom prst="ellipse">
            <a:avLst/>
          </a:prstGeom>
          <a:solidFill>
            <a:srgbClr val="0B1B6B"/>
          </a:solidFill>
          <a:ln w="12700">
            <a:solidFill>
              <a:srgbClr val="0B1B6B"/>
            </a:solidFill>
            <a:prstDash val="solid"/>
          </a:ln>
        </p:spPr>
      </p:sp>
      <p:pic>
        <p:nvPicPr>
          <p:cNvPr id="26" name="Is it accessible? icon" descr="Is it accessible?">    </p:cNvPr>
          <p:cNvPicPr>
            <a:picLocks noChangeAspect="1"/>
          </p:cNvPicPr>
          <p:nvPr/>
        </p:nvPicPr>
        <p:blipFill>
          <a:blip r:embed="rId5"/>
          <a:stretch>
            <a:fillRect/>
          </a:stretch>
        </p:blipFill>
        <p:spPr>
          <a:xfrm>
            <a:off x="4616623" y="4141135"/>
            <a:ext cx="294803" cy="294803"/>
          </a:xfrm>
          <a:prstGeom prst="rect">
            <a:avLst/>
          </a:prstGeom>
        </p:spPr>
      </p:pic>
      <p:sp>
        <p:nvSpPr>
          <p:cNvPr id="27" name="Text 19"/>
          <p:cNvSpPr txBox="1"/>
          <p:nvPr/>
        </p:nvSpPr>
        <p:spPr>
          <a:xfrm>
            <a:off x="5166360" y="4041648"/>
            <a:ext cx="2606040" cy="54864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Is it accessible?</a:t>
            </a:r>
            <a:endParaRPr lang="en-US" sz="1500" dirty="0"/>
          </a:p>
        </p:txBody>
      </p:sp>
      <p:sp>
        <p:nvSpPr>
          <p:cNvPr id="28" name="Text 20"/>
          <p:cNvSpPr txBox="1"/>
          <p:nvPr/>
        </p:nvSpPr>
        <p:spPr>
          <a:xfrm>
            <a:off x="4480560" y="4709160"/>
            <a:ext cx="3200400"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Studio flags about 1,550 accessibility items (tab order, focus, labels); a pass is planned.</a:t>
            </a:r>
            <a:endParaRPr lang="en-US" sz="1400" dirty="0"/>
          </a:p>
        </p:txBody>
      </p:sp>
      <p:sp>
        <p:nvSpPr>
          <p:cNvPr id="29" name="qa card How are e-mails sent?"/>
          <p:cNvSpPr/>
          <p:nvPr/>
        </p:nvSpPr>
        <p:spPr>
          <a:xfrm>
            <a:off x="8046720" y="384048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0" name="How are e-mails sent? circle"/>
          <p:cNvSpPr/>
          <p:nvPr/>
        </p:nvSpPr>
        <p:spPr>
          <a:xfrm>
            <a:off x="8229600" y="4005072"/>
            <a:ext cx="566928" cy="566928"/>
          </a:xfrm>
          <a:prstGeom prst="ellipse">
            <a:avLst/>
          </a:prstGeom>
          <a:solidFill>
            <a:srgbClr val="0B1B6B"/>
          </a:solidFill>
          <a:ln w="12700">
            <a:solidFill>
              <a:srgbClr val="0B1B6B"/>
            </a:solidFill>
            <a:prstDash val="solid"/>
          </a:ln>
        </p:spPr>
      </p:sp>
      <p:pic>
        <p:nvPicPr>
          <p:cNvPr id="31" name="How are e-mails sent? icon" descr="How are e-mails sent?">    </p:cNvPr>
          <p:cNvPicPr>
            <a:picLocks noChangeAspect="1"/>
          </p:cNvPicPr>
          <p:nvPr/>
        </p:nvPicPr>
        <p:blipFill>
          <a:blip r:embed="rId6"/>
          <a:stretch>
            <a:fillRect/>
          </a:stretch>
        </p:blipFill>
        <p:spPr>
          <a:xfrm>
            <a:off x="8365663" y="4141135"/>
            <a:ext cx="294803" cy="294803"/>
          </a:xfrm>
          <a:prstGeom prst="rect">
            <a:avLst/>
          </a:prstGeom>
        </p:spPr>
      </p:pic>
      <p:sp>
        <p:nvSpPr>
          <p:cNvPr id="32" name="Text 23"/>
          <p:cNvSpPr txBox="1"/>
          <p:nvPr/>
        </p:nvSpPr>
        <p:spPr>
          <a:xfrm>
            <a:off x="8915400" y="4041648"/>
            <a:ext cx="2606040" cy="54864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How are e-mails sent?</a:t>
            </a:r>
            <a:endParaRPr lang="en-US" sz="1500" dirty="0"/>
          </a:p>
        </p:txBody>
      </p:sp>
      <p:sp>
        <p:nvSpPr>
          <p:cNvPr id="33" name="Text 24"/>
          <p:cNvSpPr txBox="1"/>
          <p:nvPr/>
        </p:nvSpPr>
        <p:spPr>
          <a:xfrm>
            <a:off x="8229600" y="4709160"/>
            <a:ext cx="3200400"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Not from the app. A Power Automate flow is specified for archive-only approval, not yet built.</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Open points and next steps</a:t>
            </a:r>
            <a:endParaRPr lang="en-US" sz="3400" dirty="0"/>
          </a:p>
        </p:txBody>
      </p:sp>
      <p:sp>
        <p:nvSpPr>
          <p:cNvPr id="4" name="open points card"/>
          <p:cNvSpPr/>
          <p:nvPr/>
        </p:nvSpPr>
        <p:spPr>
          <a:xfrm>
            <a:off x="548640" y="1417320"/>
            <a:ext cx="5394960" cy="4572000"/>
          </a:xfrm>
          <a:prstGeom prst="roundRect">
            <a:avLst>
              <a:gd name="adj" fmla="val 1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Open points circle"/>
          <p:cNvSpPr/>
          <p:nvPr/>
        </p:nvSpPr>
        <p:spPr>
          <a:xfrm>
            <a:off x="822960" y="1645920"/>
            <a:ext cx="731520" cy="731520"/>
          </a:xfrm>
          <a:prstGeom prst="ellipse">
            <a:avLst/>
          </a:prstGeom>
          <a:solidFill>
            <a:srgbClr val="C0392B"/>
          </a:solidFill>
          <a:ln w="12700">
            <a:solidFill>
              <a:srgbClr val="C0392B"/>
            </a:solidFill>
            <a:prstDash val="solid"/>
          </a:ln>
        </p:spPr>
      </p:sp>
      <p:pic>
        <p:nvPicPr>
          <p:cNvPr id="6" name="Open points icon" descr="Open points">    </p:cNvPr>
          <p:cNvPicPr>
            <a:picLocks noChangeAspect="1"/>
          </p:cNvPicPr>
          <p:nvPr/>
        </p:nvPicPr>
        <p:blipFill>
          <a:blip r:embed="rId1"/>
          <a:stretch>
            <a:fillRect/>
          </a:stretch>
        </p:blipFill>
        <p:spPr>
          <a:xfrm>
            <a:off x="998525" y="1821485"/>
            <a:ext cx="380390" cy="380390"/>
          </a:xfrm>
          <a:prstGeom prst="rect">
            <a:avLst/>
          </a:prstGeom>
        </p:spPr>
      </p:pic>
      <p:sp>
        <p:nvSpPr>
          <p:cNvPr id="7" name="Text 3"/>
          <p:cNvSpPr txBox="1"/>
          <p:nvPr/>
        </p:nvSpPr>
        <p:spPr>
          <a:xfrm>
            <a:off x="1737360" y="1828800"/>
            <a:ext cx="4023360" cy="411480"/>
          </a:xfrm>
          <a:prstGeom prst="rect">
            <a:avLst/>
          </a:prstGeom>
          <a:noFill/>
          <a:ln/>
        </p:spPr>
        <p:txBody>
          <a:bodyPr wrap="square" lIns="0" tIns="0" rIns="0" bIns="0" rtlCol="0" anchor="t"/>
          <a:lstStyle/>
          <a:p>
            <a:pPr indent="0" marL="0">
              <a:spcAft>
                <a:spcPts val="400"/>
              </a:spcAft>
              <a:buNone/>
            </a:pPr>
            <a:r>
              <a:rPr lang="en-US" sz="2200" b="1" dirty="0">
                <a:solidFill>
                  <a:schemeClr val="tx2"/>
                </a:solidFill>
              </a:rPr>
              <a:t>Open points</a:t>
            </a:r>
            <a:endParaRPr lang="en-US" sz="2200" dirty="0"/>
          </a:p>
        </p:txBody>
      </p:sp>
      <p:sp>
        <p:nvSpPr>
          <p:cNvPr id="8" name="Text 4"/>
          <p:cNvSpPr txBox="1"/>
          <p:nvPr/>
        </p:nvSpPr>
        <p:spPr>
          <a:xfrm>
            <a:off x="822960" y="2743200"/>
            <a:ext cx="4846320" cy="310896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chemeClr val="tx1"/>
                </a:solidFill>
              </a:rPr>
              <a:t>Help screen contact link still points to a placeholder e-mail address</a:t>
            </a:r>
            <a:endParaRPr lang="en-US" sz="1700" dirty="0"/>
          </a:p>
          <a:p>
            <a:pPr marL="203200" indent="-203200">
              <a:spcAft>
                <a:spcPts val="1000"/>
              </a:spcAft>
              <a:buSzPct val="100000"/>
              <a:buChar char="•"/>
            </a:pPr>
            <a:r>
              <a:rPr lang="en-US" sz="1700" dirty="0">
                <a:solidFill>
                  <a:schemeClr val="tx1"/>
                </a:solidFill>
              </a:rPr>
              <a:t>255-character limit on Script/Shotlist, Episode summary and Reference links is not enforced</a:t>
            </a:r>
            <a:endParaRPr lang="en-US" sz="1700" dirty="0"/>
          </a:p>
          <a:p>
            <a:pPr marL="203200" indent="-203200">
              <a:spcAft>
                <a:spcPts val="1000"/>
              </a:spcAft>
              <a:buSzPct val="100000"/>
              <a:buChar char="•"/>
            </a:pPr>
            <a:r>
              <a:rPr lang="en-US" sz="1700" dirty="0">
                <a:solidFill>
                  <a:schemeClr val="tx1"/>
                </a:solidFill>
              </a:rPr>
              <a:t>E-mail flow for archive-only approval is specified, not built</a:t>
            </a:r>
            <a:endParaRPr lang="en-US" sz="1700" dirty="0"/>
          </a:p>
          <a:p>
            <a:pPr marL="203200" indent="-203200">
              <a:spcAft>
                <a:spcPts val="1000"/>
              </a:spcAft>
              <a:buSzPct val="100000"/>
              <a:buChar char="•"/>
            </a:pPr>
            <a:r>
              <a:rPr lang="en-US" sz="1700" dirty="0">
                <a:solidFill>
                  <a:schemeClr val="tx1"/>
                </a:solidFill>
              </a:rPr>
              <a:t>Accessibility warnings (about 1,550)</a:t>
            </a:r>
            <a:endParaRPr lang="en-US" sz="1700" dirty="0"/>
          </a:p>
          <a:p>
            <a:pPr marL="203200" indent="-203200">
              <a:spcAft>
                <a:spcPts val="1000"/>
              </a:spcAft>
              <a:buSzPct val="100000"/>
              <a:buChar char="•"/>
            </a:pPr>
            <a:r>
              <a:rPr lang="en-US" sz="1700" dirty="0">
                <a:solidFill>
                  <a:schemeClr val="tx1"/>
                </a:solidFill>
              </a:rPr>
              <a:t>2,000-row loading limit per screen</a:t>
            </a:r>
            <a:endParaRPr lang="en-US" sz="1700" dirty="0"/>
          </a:p>
        </p:txBody>
      </p:sp>
      <p:sp>
        <p:nvSpPr>
          <p:cNvPr id="9" name="next steps card"/>
          <p:cNvSpPr/>
          <p:nvPr/>
        </p:nvSpPr>
        <p:spPr>
          <a:xfrm>
            <a:off x="6217920" y="1417320"/>
            <a:ext cx="5394960" cy="4572000"/>
          </a:xfrm>
          <a:prstGeom prst="roundRect">
            <a:avLst>
              <a:gd name="adj" fmla="val 16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Next steps circle"/>
          <p:cNvSpPr/>
          <p:nvPr/>
        </p:nvSpPr>
        <p:spPr>
          <a:xfrm>
            <a:off x="6492240" y="1645920"/>
            <a:ext cx="731520" cy="731520"/>
          </a:xfrm>
          <a:prstGeom prst="ellipse">
            <a:avLst/>
          </a:prstGeom>
          <a:solidFill>
            <a:srgbClr val="2E9E6B"/>
          </a:solidFill>
          <a:ln w="12700">
            <a:solidFill>
              <a:srgbClr val="2E9E6B"/>
            </a:solidFill>
            <a:prstDash val="solid"/>
          </a:ln>
        </p:spPr>
      </p:sp>
      <p:pic>
        <p:nvPicPr>
          <p:cNvPr id="11" name="Next steps icon" descr="Next steps">    </p:cNvPr>
          <p:cNvPicPr>
            <a:picLocks noChangeAspect="1"/>
          </p:cNvPicPr>
          <p:nvPr/>
        </p:nvPicPr>
        <p:blipFill>
          <a:blip r:embed="rId2"/>
          <a:stretch>
            <a:fillRect/>
          </a:stretch>
        </p:blipFill>
        <p:spPr>
          <a:xfrm>
            <a:off x="6667805" y="1821485"/>
            <a:ext cx="380390" cy="380390"/>
          </a:xfrm>
          <a:prstGeom prst="rect">
            <a:avLst/>
          </a:prstGeom>
        </p:spPr>
      </p:pic>
      <p:sp>
        <p:nvSpPr>
          <p:cNvPr id="12" name="Text 7"/>
          <p:cNvSpPr txBox="1"/>
          <p:nvPr/>
        </p:nvSpPr>
        <p:spPr>
          <a:xfrm>
            <a:off x="7406640" y="1828800"/>
            <a:ext cx="4023360" cy="411480"/>
          </a:xfrm>
          <a:prstGeom prst="rect">
            <a:avLst/>
          </a:prstGeom>
          <a:noFill/>
          <a:ln/>
        </p:spPr>
        <p:txBody>
          <a:bodyPr wrap="square" lIns="0" tIns="0" rIns="0" bIns="0" rtlCol="0" anchor="t"/>
          <a:lstStyle/>
          <a:p>
            <a:pPr indent="0" marL="0">
              <a:spcAft>
                <a:spcPts val="400"/>
              </a:spcAft>
              <a:buNone/>
            </a:pPr>
            <a:r>
              <a:rPr lang="en-US" sz="2200" b="1" dirty="0">
                <a:solidFill>
                  <a:schemeClr val="tx2"/>
                </a:solidFill>
              </a:rPr>
              <a:t>Next steps</a:t>
            </a:r>
            <a:endParaRPr lang="en-US" sz="2200" dirty="0"/>
          </a:p>
        </p:txBody>
      </p:sp>
      <p:sp>
        <p:nvSpPr>
          <p:cNvPr id="13" name="Text 8"/>
          <p:cNvSpPr txBox="1"/>
          <p:nvPr/>
        </p:nvSpPr>
        <p:spPr>
          <a:xfrm>
            <a:off x="6492240" y="2743200"/>
            <a:ext cx="4846320" cy="310896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chemeClr val="tx1"/>
                </a:solidFill>
              </a:rPr>
              <a:t>Owner confirms FINAL31 to FINAL38 in Studio</a:t>
            </a:r>
            <a:endParaRPr lang="en-US" sz="1700" dirty="0"/>
          </a:p>
          <a:p>
            <a:pPr marL="203200" indent="-203200">
              <a:spcAft>
                <a:spcPts val="1000"/>
              </a:spcAft>
              <a:buSzPct val="100000"/>
              <a:buChar char="•"/>
            </a:pPr>
            <a:r>
              <a:rPr lang="en-US" sz="1700" dirty="0">
                <a:solidFill>
                  <a:schemeClr val="tx1"/>
                </a:solidFill>
              </a:rPr>
              <a:t>Run the test cases on the latest version</a:t>
            </a:r>
            <a:endParaRPr lang="en-US" sz="1700" dirty="0"/>
          </a:p>
          <a:p>
            <a:pPr marL="203200" indent="-203200">
              <a:spcAft>
                <a:spcPts val="1000"/>
              </a:spcAft>
              <a:buSzPct val="100000"/>
              <a:buChar char="•"/>
            </a:pPr>
            <a:r>
              <a:rPr lang="en-US" sz="1700" dirty="0">
                <a:solidFill>
                  <a:schemeClr val="tx1"/>
                </a:solidFill>
              </a:rPr>
              <a:t>Decide: contact address, 255-character handling</a:t>
            </a:r>
            <a:endParaRPr lang="en-US" sz="1700" dirty="0"/>
          </a:p>
          <a:p>
            <a:pPr marL="203200" indent="-203200">
              <a:spcAft>
                <a:spcPts val="1000"/>
              </a:spcAft>
              <a:buSzPct val="100000"/>
              <a:buChar char="•"/>
            </a:pPr>
            <a:r>
              <a:rPr lang="en-US" sz="1700" dirty="0">
                <a:solidFill>
                  <a:schemeClr val="tx1"/>
                </a:solidFill>
              </a:rPr>
              <a:t>Build the Power Automate e-mail flow</a:t>
            </a:r>
            <a:endParaRPr lang="en-US" sz="1700" dirty="0"/>
          </a:p>
          <a:p>
            <a:pPr marL="203200" indent="-203200">
              <a:spcAft>
                <a:spcPts val="1000"/>
              </a:spcAft>
              <a:buSzPct val="100000"/>
              <a:buChar char="•"/>
            </a:pPr>
            <a:r>
              <a:rPr lang="en-US" sz="1700" dirty="0">
                <a:solidFill>
                  <a:schemeClr val="tx1"/>
                </a:solidFill>
              </a:rPr>
              <a:t>Accessibility pass, then review the 2,000-row loading</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1097280"/>
          </a:xfrm>
          <a:prstGeom prst="rect">
            <a:avLst/>
          </a:prstGeom>
          <a:noFill/>
          <a:ln/>
        </p:spPr>
        <p:txBody>
          <a:bodyPr wrap="square" lIns="0" tIns="0" rIns="0" bIns="0" rtlCol="0" anchor="t"/>
          <a:lstStyle/>
          <a:p>
            <a:pPr algn="l" indent="0" marL="0">
              <a:buNone/>
            </a:pPr>
            <a:r>
              <a:rPr lang="en-US" sz="5400" b="1" dirty="0">
                <a:solidFill>
                  <a:schemeClr val="bg1"/>
                </a:solidFill>
              </a:rPr>
              <a:t>Questions</a:t>
            </a:r>
            <a:endParaRPr lang="en-US" sz="5400" dirty="0"/>
          </a:p>
        </p:txBody>
      </p:sp>
      <p:sp>
        <p:nvSpPr>
          <p:cNvPr id="3" name="Text 0"/>
          <p:cNvSpPr/>
          <p:nvPr>
            <p:ph idx="101" type="body" hasCustomPrompt="1"/>
          </p:nvPr>
        </p:nvSpPr>
        <p:spPr>
          <a:xfrm>
            <a:off x="731520" y="3566160"/>
            <a:ext cx="9601200" cy="1463040"/>
          </a:xfrm>
          <a:prstGeom prst="rect">
            <a:avLst/>
          </a:prstGeom>
          <a:noFill/>
          <a:ln/>
        </p:spPr>
        <p:txBody>
          <a:bodyPr wrap="square" lIns="0" tIns="0" rIns="0" bIns="0" rtlCol="0" anchor="t"/>
          <a:lstStyle/>
          <a:p>
            <a:pPr indent="0" marL="0">
              <a:buNone/>
            </a:pPr>
            <a:r>
              <a:rPr lang="en-US" sz="2000" dirty="0">
                <a:solidFill>
                  <a:schemeClr val="bg2"/>
                </a:solidFill>
              </a:rPr>
              <a:t>Prepared answers: slide 16  |  Screens and version details: appendix</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Appendix A: screen inventory</a:t>
            </a:r>
            <a:endParaRPr lang="en-US" sz="3400" dirty="0"/>
          </a:p>
        </p:txBody>
      </p:sp>
      <p:graphicFrame>
        <p:nvGraphicFramePr>
          <p:cNvPr id="20" name="screen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023360"/>
                <a:gridCol w="5943600"/>
                <a:gridCol w="1097280"/>
              </a:tblGrid>
              <a:tr h="301752">
                <a:tc>
                  <a:txBody>
                    <a:bodyPr/>
                    <a:lstStyle/>
                    <a:p>
                      <a:pPr indent="0" marL="0">
                        <a:buNone/>
                      </a:pPr>
                      <a:r>
                        <a:rPr lang="en-US" sz="1200" b="1" dirty="0">
                          <a:solidFill>
                            <a:schemeClr val="bg1"/>
                          </a:solidFill>
                        </a:rPr>
                        <a:t>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solidFill>
                      <a:srgbClr val="0B1B6B"/>
                    </a:solidFill>
                  </a:tcPr>
                </a:tc>
                <a:tc>
                  <a:txBody>
                    <a:bodyPr/>
                    <a:lstStyle/>
                    <a:p>
                      <a:pPr indent="0" marL="0">
                        <a:buNone/>
                      </a:pPr>
                      <a:r>
                        <a:rPr lang="en-US" sz="1200" b="1" dirty="0">
                          <a:solidFill>
                            <a:schemeClr val="bg1"/>
                          </a:solidFill>
                        </a:rPr>
                        <a:t>Purpose</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solidFill>
                      <a:srgbClr val="0B1B6B"/>
                    </a:solidFill>
                  </a:tcPr>
                </a:tc>
                <a:tc>
                  <a:txBody>
                    <a:bodyPr/>
                    <a:lstStyle/>
                    <a:p>
                      <a:pPr indent="0" marL="0">
                        <a:buNone/>
                      </a:pPr>
                      <a:r>
                        <a:rPr lang="en-US" sz="1200" b="1" dirty="0">
                          <a:solidFill>
                            <a:schemeClr val="bg1"/>
                          </a:solidFill>
                        </a:rPr>
                        <a:t>Controls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solidFill>
                      <a:srgbClr val="0B1B6B"/>
                    </a:solidFill>
                  </a:tcPr>
                </a:tc>
              </a:tr>
              <a:tr h="301752">
                <a:tc>
                  <a:txBody>
                    <a:bodyPr/>
                    <a:lstStyle/>
                    <a:p>
                      <a:pPr indent="0" marL="0">
                        <a:buNone/>
                      </a:pPr>
                      <a:r>
                        <a:rPr lang="en-US" sz="1200" b="1" dirty="0">
                          <a:solidFill>
                            <a:schemeClr val="tx1"/>
                          </a:solidFill>
                        </a:rPr>
                        <a:t>Dashboard-Ope-Requestor</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Requestor dashboard: three lists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79</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Dashboard-Ope-Administrator</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Administrator dashboard: three lists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78</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DashboardScreen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Administrator KPI dashboard</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70</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RequestManagementScreen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Request list and filters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87</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RequesDetailScreen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Request details, media list, notes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144</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ChildInfoScreen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Media file tab 1: Info</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116</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ChildMetaScreen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Media file tab 2: Metadata</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122</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ChildLegalScreen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Media file tab 3: Legal and Docs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65</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ChildValidScreen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Media file tab 4: Validations and Save</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39</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ReviewScreen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Review queue and decisions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61</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HomePrintScreen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Export list and PDF</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54</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PrintPhotoDetailScreen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Print view: Photo</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69</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PrintVideoDetailScreen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Print view: Video</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94</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PrintPodcastDetailScreen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Print view: Podcast</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80</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01752">
                <a:tc>
                  <a:txBody>
                    <a:bodyPr/>
                    <a:lstStyle/>
                    <a:p>
                      <a:pPr indent="0" marL="0">
                        <a:buNone/>
                      </a:pPr>
                      <a:r>
                        <a:rPr lang="en-US" sz="1200" b="1" dirty="0">
                          <a:solidFill>
                            <a:schemeClr val="tx1"/>
                          </a:solidFill>
                        </a:rPr>
                        <a:t>HelpScreen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Help and useful resources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algn="r" indent="0" marL="0">
                        <a:buNone/>
                      </a:pPr>
                      <a:r>
                        <a:rPr lang="en-US" sz="1200" dirty="0">
                          <a:solidFill>
                            <a:schemeClr val="tx1"/>
                          </a:solidFill>
                        </a:rPr>
                        <a:t>49</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Appendix B: version highlights</a:t>
            </a:r>
            <a:endParaRPr lang="en-US" sz="3400" dirty="0"/>
          </a:p>
        </p:txBody>
      </p:sp>
      <p:graphicFrame>
        <p:nvGraphicFramePr>
          <p:cNvPr id="21" name="version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828800"/>
                <a:gridCol w="9235440"/>
              </a:tblGrid>
              <a:tr h="365760">
                <a:tc>
                  <a:txBody>
                    <a:bodyPr/>
                    <a:lstStyle/>
                    <a:p>
                      <a:pPr indent="0" marL="0">
                        <a:buNone/>
                      </a:pPr>
                      <a:r>
                        <a:rPr lang="en-US" sz="1200" b="1" dirty="0">
                          <a:solidFill>
                            <a:schemeClr val="bg1"/>
                          </a:solidFill>
                        </a:rPr>
                        <a:t>Version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solidFill>
                      <a:srgbClr val="0B1B6B"/>
                    </a:solidFill>
                  </a:tcPr>
                </a:tc>
                <a:tc>
                  <a:txBody>
                    <a:bodyPr/>
                    <a:lstStyle/>
                    <a:p>
                      <a:pPr indent="0" marL="0">
                        <a:buNone/>
                      </a:pPr>
                      <a:r>
                        <a:rPr lang="en-US" sz="1200" b="1" dirty="0">
                          <a:solidFill>
                            <a:schemeClr val="bg1"/>
                          </a:solidFill>
                        </a:rPr>
                        <a:t>What changed</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solidFill>
                      <a:srgbClr val="0B1B6B"/>
                    </a:solidFill>
                  </a:tcPr>
                </a:tc>
              </a:tr>
              <a:tr h="365760">
                <a:tc>
                  <a:txBody>
                    <a:bodyPr/>
                    <a:lstStyle/>
                    <a:p>
                      <a:pPr indent="0" marL="0">
                        <a:buNone/>
                      </a:pPr>
                      <a:r>
                        <a:rPr lang="en-US" sz="1200" b="1" dirty="0">
                          <a:solidFill>
                            <a:schemeClr val="tx1"/>
                          </a:solidFill>
                        </a:rPr>
                        <a:t>FINAL11</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Archiving only, not publication checkbox</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FINAL12</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Co-assignee on the Review screen; yellow request fields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FINAL13</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Export pages with Legal and Docs information</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FINAL14-15</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Beluga link on the badge; badge colours by state</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FINAL16</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Archive-only approval by the administrator</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FINAL18-20</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Yellow mandatory fields on the media tabs; Script/Shotlist; producers kept</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FINAL22-24</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Add media only after the draft; message-read; contacts yellow</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FINAL27-28</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Tolerant Legal save; Legal tab clean-up</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FINAL29</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Owner's FINAL_2 plus only the chosen changes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FINAL30-31</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Attachment id never lost; yellow attachments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FINAL32-34</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Audit fixes; FTP required; Export self-loading; Next recovers the id</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r h="365760">
                <a:tc>
                  <a:txBody>
                    <a:bodyPr/>
                    <a:lstStyle/>
                    <a:p>
                      <a:pPr indent="0" marL="0">
                        <a:buNone/>
                      </a:pPr>
                      <a:r>
                        <a:rPr lang="en-US" sz="1200" b="1" dirty="0">
                          <a:solidFill>
                            <a:schemeClr val="tx1"/>
                          </a:solidFill>
                        </a:rPr>
                        <a:t>FINAL35-38</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c>
                  <a:txBody>
                    <a:bodyPr/>
                    <a:lstStyle/>
                    <a:p>
                      <a:pPr indent="0" marL="0">
                        <a:buNone/>
                      </a:pPr>
                      <a:r>
                        <a:rPr lang="en-US" sz="1200" dirty="0">
                          <a:solidFill>
                            <a:schemeClr val="tx1"/>
                          </a:solidFill>
                        </a:rPr>
                        <a:t>Beluga below FTP; template copy; view-only from dashboards; today's requests</a:t>
                      </a:r>
                      <a:endParaRPr lang="en-US" sz="1200" dirty="0"/>
                    </a:p>
                  </a:txBody>
                  <a:tcPr marL="91440" marR="91440" marT="18288" marB="18288" anchor="ctr">
                    <a:lnL w="6350" cap="flat" cmpd="sng" algn="ctr">
                      <a:solidFill>
                        <a:srgbClr val="8A93A6"/>
                      </a:solidFill>
                      <a:prstDash val="solid"/>
                      <a:round/>
                      <a:headEnd type="none" w="med" len="med"/>
                      <a:tailEnd type="none" w="med" len="med"/>
                    </a:lnL>
                    <a:lnR w="6350" cap="flat" cmpd="sng" algn="ctr">
                      <a:solidFill>
                        <a:srgbClr val="8A93A6"/>
                      </a:solidFill>
                      <a:prstDash val="solid"/>
                      <a:round/>
                      <a:headEnd type="none" w="med" len="med"/>
                      <a:tailEnd type="none" w="med" len="med"/>
                    </a:lnR>
                    <a:lnT w="6350" cap="flat" cmpd="sng" algn="ctr">
                      <a:solidFill>
                        <a:srgbClr val="8A93A6"/>
                      </a:solidFill>
                      <a:prstDash val="solid"/>
                      <a:round/>
                      <a:headEnd type="none" w="med" len="med"/>
                      <a:tailEnd type="none" w="med" len="med"/>
                    </a:lnT>
                    <a:lnB w="6350" cap="flat" cmpd="sng" algn="ctr">
                      <a:solidFill>
                        <a:srgbClr val="8A93A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V Central Deposit">
  <a:themeElements>
    <a:clrScheme name="AV Central Deposit">
      <a:dk1>
        <a:srgbClr val="1E222C"/>
      </a:dk1>
      <a:lt1>
        <a:srgbClr val="FFFFFF"/>
      </a:lt1>
      <a:dk2>
        <a:srgbClr val="0B1B6B"/>
      </a:dk2>
      <a:lt2>
        <a:srgbClr val="EEF1F8"/>
      </a:lt2>
      <a:accent1>
        <a:srgbClr val="3860B2"/>
      </a:accent1>
      <a:accent2>
        <a:srgbClr val="FFCC00"/>
      </a:accent2>
      <a:accent3>
        <a:srgbClr val="2E9E6B"/>
      </a:accent3>
      <a:accent4>
        <a:srgbClr val="C0392B"/>
      </a:accent4>
      <a:accent5>
        <a:srgbClr val="7A30A0"/>
      </a:accent5>
      <a:accent6>
        <a:srgbClr val="8A93A6"/>
      </a:accent6>
      <a:hlink>
        <a:srgbClr val="3860B2"/>
      </a:hlink>
      <a:folHlink>
        <a:srgbClr val="7A30A0"/>
      </a:folHlink>
    </a:clrScheme>
    <a:fontScheme name="AV Central Depos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 Central Deposit - project walkthrough</dc:title>
  <dc:subject>PptxGenJS Presentation</dc:subject>
  <dc:creator>AV Central Deposit project</dc:creator>
  <cp:lastModifiedBy>AV Central Deposit project</cp:lastModifiedBy>
  <cp:revision>1</cp:revision>
  <dcterms:created xsi:type="dcterms:W3CDTF">2026-10-07T08:37:40Z</dcterms:created>
  <dcterms:modified xsi:type="dcterms:W3CDTF">2026-10-07T08:37:40Z</dcterms:modified>
</cp:coreProperties>
</file>