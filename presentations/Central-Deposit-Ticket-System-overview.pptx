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In the next three minutes I will give you an overview of the Central Deposit Ticket System, the app we built for the AV Central Deposit of the DG COMM Audiovisual Service. It is one place to deposit, check and approve audiovisual productions: photos, videos and podcasts.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we build it? Deposits used to arrive through many channels, rights and documents were hard to check, and nobody could see where a request stood. Now every production is one request in SharePoint, with its media items, its legal checks and a clear status. It covers three production types: photo or reportage, video and podcast.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a request flows. The requestor creates a request and adds one or more media items. Each item is filled in four tabs: Info, Metadata, Legal and Docs, and Validations. When it is submitted the status becomes Pending. An administrator reviews it, the status becomes Processing, and it ends approved or rejected, and then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roles, read from a SharePoint roles list. The requestor creates and tracks their own requests, fills in the metadata, uploads the files and writes notes. The administrator sees every submitted request, assigns it, approves or rejects it with notes, and can export and print. Each role opens on its own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inside: dashboards per role that show what needs action first; a validation checklist that adapts to photo, video or podcast; attachments with image previews; alerts, like red icons for fresh notes and for shooting dates less than seven days away; email notifications through Power Automate; and print and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built entirely on Microsoft 365: a Power Apps canvas app, SharePoint lists for requests, media items and roles, and Power Automate for the email notifications. Next steps: switch on the notification flows, test with requestors and administrators, fix what we find, and go live. Thank you.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26B"/>
        </a:solidFill>
      </p:bgPr>
    </p:bg>
    <p:spTree>
      <p:nvGrpSpPr>
        <p:cNvPr id="1" name=""/>
        <p:cNvGrpSpPr/>
        <p:nvPr/>
      </p:nvGrpSpPr>
      <p:grpSpPr>
        <a:xfrm>
          <a:off x="0" y="0"/>
          <a:ext cx="0" cy="0"/>
          <a:chOff x="0" y="0"/>
          <a:chExt cx="0" cy="0"/>
        </a:xfrm>
      </p:grpSpPr>
      <p:sp>
        <p:nvSpPr>
          <p:cNvPr id="2" name="Text 0"/>
          <p:cNvSpPr txBox="1"/>
          <p:nvPr/>
        </p:nvSpPr>
        <p:spPr>
          <a:xfrm>
            <a:off x="548640" y="640080"/>
            <a:ext cx="5486400" cy="274320"/>
          </a:xfrm>
          <a:prstGeom prst="rect">
            <a:avLst/>
          </a:prstGeom>
          <a:noFill/>
          <a:ln/>
        </p:spPr>
        <p:txBody>
          <a:bodyPr wrap="square" lIns="0" tIns="0" rIns="0" bIns="0" rtlCol="0" anchor="ctr"/>
          <a:lstStyle/>
          <a:p>
            <a:pPr indent="0" marL="0">
              <a:buNone/>
            </a:pPr>
            <a:r>
              <a:rPr lang="en-US" sz="1200" b="1" spc="200" kern="0" dirty="0">
                <a:solidFill>
                  <a:srgbClr val="AFC3F0"/>
                </a:solidFill>
                <a:latin typeface="Calibri" pitchFamily="34" charset="0"/>
                <a:ea typeface="Calibri" pitchFamily="34" charset="-122"/>
                <a:cs typeface="Calibri" pitchFamily="34" charset="-120"/>
              </a:rPr>
              <a:t>AV CENTRAL DEPOSIT  ·  DG COMM AUDIOVISUAL SERVICE</a:t>
            </a:r>
            <a:endParaRPr lang="en-US" sz="1200" dirty="0"/>
          </a:p>
        </p:txBody>
      </p:sp>
      <p:sp>
        <p:nvSpPr>
          <p:cNvPr id="3" name="Text 1"/>
          <p:cNvSpPr txBox="1"/>
          <p:nvPr/>
        </p:nvSpPr>
        <p:spPr>
          <a:xfrm>
            <a:off x="548640" y="1143000"/>
            <a:ext cx="5120640" cy="155448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Central Deposit</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Ticket System</a:t>
            </a:r>
            <a:endParaRPr lang="en-US" sz="4400" dirty="0"/>
          </a:p>
        </p:txBody>
      </p:sp>
      <p:sp>
        <p:nvSpPr>
          <p:cNvPr id="4" name="Text 2"/>
          <p:cNvSpPr txBox="1"/>
          <p:nvPr/>
        </p:nvSpPr>
        <p:spPr>
          <a:xfrm>
            <a:off x="548640" y="2880360"/>
            <a:ext cx="4754880" cy="731520"/>
          </a:xfrm>
          <a:prstGeom prst="rect">
            <a:avLst/>
          </a:prstGeom>
          <a:noFill/>
          <a:ln/>
        </p:spPr>
        <p:txBody>
          <a:bodyPr wrap="square" lIns="0" tIns="0" rIns="0" bIns="0" rtlCol="0" anchor="t"/>
          <a:lstStyle/>
          <a:p>
            <a:pPr indent="0" marL="0">
              <a:buNone/>
            </a:pPr>
            <a:r>
              <a:rPr lang="en-US" sz="1600" dirty="0">
                <a:solidFill>
                  <a:srgbClr val="DCE4F7"/>
                </a:solidFill>
                <a:latin typeface="Calibri" pitchFamily="34" charset="0"/>
                <a:ea typeface="Calibri" pitchFamily="34" charset="-122"/>
                <a:cs typeface="Calibri" pitchFamily="34" charset="-120"/>
              </a:rPr>
              <a:t>One place to deposit, check and approve audiovisual productions: photo, video and podcast.</a:t>
            </a:r>
            <a:endParaRPr lang="en-US" sz="1600" dirty="0"/>
          </a:p>
        </p:txBody>
      </p:sp>
      <p:sp>
        <p:nvSpPr>
          <p:cNvPr id="5" name="Text 3"/>
          <p:cNvSpPr txBox="1"/>
          <p:nvPr/>
        </p:nvSpPr>
        <p:spPr>
          <a:xfrm>
            <a:off x="548640" y="4206240"/>
            <a:ext cx="3657600" cy="320040"/>
          </a:xfrm>
          <a:prstGeom prst="rect">
            <a:avLst/>
          </a:prstGeom>
          <a:noFill/>
          <a:ln/>
        </p:spPr>
        <p:txBody>
          <a:bodyPr wrap="square" lIns="0" tIns="0" rIns="0" bIns="0" rtlCol="0" anchor="ctr"/>
          <a:lstStyle/>
          <a:p>
            <a:pPr indent="0" marL="0">
              <a:buNone/>
            </a:pPr>
            <a:r>
              <a:rPr lang="en-US" sz="1300" i="1" dirty="0">
                <a:solidFill>
                  <a:srgbClr val="AFC3F0"/>
                </a:solidFill>
                <a:latin typeface="Calibri" pitchFamily="34" charset="0"/>
                <a:ea typeface="Calibri" pitchFamily="34" charset="-122"/>
                <a:cs typeface="Calibri" pitchFamily="34" charset="-120"/>
              </a:rPr>
              <a:t>Project overview</a:t>
            </a:r>
            <a:endParaRPr lang="en-US" sz="1300" dirty="0"/>
          </a:p>
        </p:txBody>
      </p:sp>
      <p:sp>
        <p:nvSpPr>
          <p:cNvPr id="6" name="Shape 4"/>
          <p:cNvSpPr/>
          <p:nvPr/>
        </p:nvSpPr>
        <p:spPr>
          <a:xfrm>
            <a:off x="6172200" y="868680"/>
            <a:ext cx="1234440" cy="1234440"/>
          </a:xfrm>
          <a:prstGeom prst="ellipse">
            <a:avLst/>
          </a:prstGeom>
          <a:solidFill>
            <a:srgbClr val="3860B2"/>
          </a:solidFill>
          <a:ln w="12700">
            <a:solidFill>
              <a:srgbClr val="3860B2"/>
            </a:solidFill>
            <a:prstDash val="solid"/>
          </a:ln>
        </p:spPr>
      </p:sp>
      <p:pic>
        <p:nvPicPr>
          <p:cNvPr id="7" name="Image 0" descr="preencoded.png">    </p:cNvPr>
          <p:cNvPicPr>
            <a:picLocks noChangeAspect="1"/>
          </p:cNvPicPr>
          <p:nvPr/>
        </p:nvPicPr>
        <p:blipFill>
          <a:blip r:embed="rId1"/>
          <a:stretch>
            <a:fillRect/>
          </a:stretch>
        </p:blipFill>
        <p:spPr>
          <a:xfrm>
            <a:off x="6493154" y="1189634"/>
            <a:ext cx="592531" cy="592531"/>
          </a:xfrm>
          <a:prstGeom prst="rect">
            <a:avLst/>
          </a:prstGeom>
        </p:spPr>
      </p:pic>
      <p:sp>
        <p:nvSpPr>
          <p:cNvPr id="8" name="Shape 5"/>
          <p:cNvSpPr/>
          <p:nvPr/>
        </p:nvSpPr>
        <p:spPr>
          <a:xfrm>
            <a:off x="7360920" y="1783080"/>
            <a:ext cx="1234440" cy="1234440"/>
          </a:xfrm>
          <a:prstGeom prst="ellipse">
            <a:avLst/>
          </a:prstGeom>
          <a:solidFill>
            <a:srgbClr val="D68C00"/>
          </a:solidFill>
          <a:ln w="12700">
            <a:solidFill>
              <a:srgbClr val="D68C00"/>
            </a:solidFill>
            <a:prstDash val="solid"/>
          </a:ln>
        </p:spPr>
      </p:sp>
      <p:pic>
        <p:nvPicPr>
          <p:cNvPr id="9" name="Image 1" descr="preencoded.png">    </p:cNvPr>
          <p:cNvPicPr>
            <a:picLocks noChangeAspect="1"/>
          </p:cNvPicPr>
          <p:nvPr/>
        </p:nvPicPr>
        <p:blipFill>
          <a:blip r:embed="rId2"/>
          <a:stretch>
            <a:fillRect/>
          </a:stretch>
        </p:blipFill>
        <p:spPr>
          <a:xfrm>
            <a:off x="7681874" y="2104034"/>
            <a:ext cx="592531" cy="592531"/>
          </a:xfrm>
          <a:prstGeom prst="rect">
            <a:avLst/>
          </a:prstGeom>
        </p:spPr>
      </p:pic>
      <p:sp>
        <p:nvSpPr>
          <p:cNvPr id="10" name="Shape 6"/>
          <p:cNvSpPr/>
          <p:nvPr/>
        </p:nvSpPr>
        <p:spPr>
          <a:xfrm>
            <a:off x="6172200" y="2697480"/>
            <a:ext cx="1234440" cy="1234440"/>
          </a:xfrm>
          <a:prstGeom prst="ellipse">
            <a:avLst/>
          </a:prstGeom>
          <a:solidFill>
            <a:srgbClr val="FFFFFF"/>
          </a:solidFill>
          <a:ln w="12700">
            <a:solidFill>
              <a:srgbClr val="FFFFFF"/>
            </a:solidFill>
            <a:prstDash val="solid"/>
          </a:ln>
        </p:spPr>
      </p:sp>
      <p:pic>
        <p:nvPicPr>
          <p:cNvPr id="11" name="Image 2" descr="preencoded.png">    </p:cNvPr>
          <p:cNvPicPr>
            <a:picLocks noChangeAspect="1"/>
          </p:cNvPicPr>
          <p:nvPr/>
        </p:nvPicPr>
        <p:blipFill>
          <a:blip r:embed="rId3"/>
          <a:stretch>
            <a:fillRect/>
          </a:stretch>
        </p:blipFill>
        <p:spPr>
          <a:xfrm>
            <a:off x="6493154" y="3018434"/>
            <a:ext cx="592531" cy="59253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600" b="1" dirty="0">
                <a:solidFill>
                  <a:srgbClr val="00126B"/>
                </a:solidFill>
                <a:latin typeface="Calibri" pitchFamily="34" charset="0"/>
                <a:ea typeface="Calibri" pitchFamily="34" charset="-122"/>
                <a:cs typeface="Calibri" pitchFamily="34" charset="-120"/>
              </a:rPr>
              <a:t>Why we built it</a:t>
            </a:r>
            <a:endParaRPr lang="en-US" sz="3600" dirty="0"/>
          </a:p>
        </p:txBody>
      </p:sp>
      <p:sp>
        <p:nvSpPr>
          <p:cNvPr id="3" name="Shape 1"/>
          <p:cNvSpPr/>
          <p:nvPr/>
        </p:nvSpPr>
        <p:spPr>
          <a:xfrm>
            <a:off x="548640" y="1325880"/>
            <a:ext cx="658368" cy="658368"/>
          </a:xfrm>
          <a:prstGeom prst="ellipse">
            <a:avLst/>
          </a:prstGeom>
          <a:solidFill>
            <a:srgbClr val="E6ECF5"/>
          </a:solidFill>
          <a:ln w="12700">
            <a:solidFill>
              <a:srgbClr val="E6ECF5"/>
            </a:solidFill>
            <a:prstDash val="solid"/>
          </a:ln>
        </p:spPr>
      </p:sp>
      <p:pic>
        <p:nvPicPr>
          <p:cNvPr id="4" name="Image 0" descr="preencoded.png">    </p:cNvPr>
          <p:cNvPicPr>
            <a:picLocks noChangeAspect="1"/>
          </p:cNvPicPr>
          <p:nvPr/>
        </p:nvPicPr>
        <p:blipFill>
          <a:blip r:embed="rId1"/>
          <a:stretch>
            <a:fillRect/>
          </a:stretch>
        </p:blipFill>
        <p:spPr>
          <a:xfrm>
            <a:off x="719816" y="1497056"/>
            <a:ext cx="316017" cy="316017"/>
          </a:xfrm>
          <a:prstGeom prst="rect">
            <a:avLst/>
          </a:prstGeom>
        </p:spPr>
      </p:pic>
      <p:sp>
        <p:nvSpPr>
          <p:cNvPr id="5" name="Text 2"/>
          <p:cNvSpPr txBox="1"/>
          <p:nvPr/>
        </p:nvSpPr>
        <p:spPr>
          <a:xfrm>
            <a:off x="1417320" y="1307592"/>
            <a:ext cx="4206240" cy="329184"/>
          </a:xfrm>
          <a:prstGeom prst="rect">
            <a:avLst/>
          </a:prstGeom>
          <a:noFill/>
          <a:ln/>
        </p:spPr>
        <p:txBody>
          <a:bodyPr wrap="square" lIns="0" tIns="0" rIns="0" bIns="0" rtlCol="0" anchor="ctr"/>
          <a:lstStyle/>
          <a:p>
            <a:pPr indent="0" marL="0">
              <a:buNone/>
            </a:pPr>
            <a:r>
              <a:rPr lang="en-US" sz="1700" b="1" dirty="0">
                <a:solidFill>
                  <a:srgbClr val="1E2230"/>
                </a:solidFill>
                <a:latin typeface="Calibri" pitchFamily="34" charset="0"/>
                <a:ea typeface="Calibri" pitchFamily="34" charset="-122"/>
                <a:cs typeface="Calibri" pitchFamily="34" charset="-120"/>
              </a:rPr>
              <a:t>Deposits arrived through many channels</a:t>
            </a:r>
            <a:endParaRPr lang="en-US" sz="1700" dirty="0"/>
          </a:p>
        </p:txBody>
      </p:sp>
      <p:sp>
        <p:nvSpPr>
          <p:cNvPr id="6" name="Text 3"/>
          <p:cNvSpPr txBox="1"/>
          <p:nvPr/>
        </p:nvSpPr>
        <p:spPr>
          <a:xfrm>
            <a:off x="1417320" y="1655064"/>
            <a:ext cx="4206240" cy="548640"/>
          </a:xfrm>
          <a:prstGeom prst="rect">
            <a:avLst/>
          </a:prstGeom>
          <a:noFill/>
          <a:ln/>
        </p:spPr>
        <p:txBody>
          <a:bodyPr wrap="square" lIns="0" tIns="0" rIns="0" bIns="0" rtlCol="0" anchor="t"/>
          <a:lstStyle/>
          <a:p>
            <a:pPr indent="0" marL="0">
              <a:buNone/>
            </a:pPr>
            <a:r>
              <a:rPr lang="en-US" sz="1400" dirty="0">
                <a:solidFill>
                  <a:srgbClr val="5A6272"/>
                </a:solidFill>
                <a:latin typeface="Calibri" pitchFamily="34" charset="0"/>
                <a:ea typeface="Calibri" pitchFamily="34" charset="-122"/>
                <a:cs typeface="Calibri" pitchFamily="34" charset="-120"/>
              </a:rPr>
              <a:t>Now: one request per production, with its media items, in SharePoint.</a:t>
            </a:r>
            <a:endParaRPr lang="en-US" sz="1400" dirty="0"/>
          </a:p>
        </p:txBody>
      </p:sp>
      <p:sp>
        <p:nvSpPr>
          <p:cNvPr id="7" name="Shape 4"/>
          <p:cNvSpPr/>
          <p:nvPr/>
        </p:nvSpPr>
        <p:spPr>
          <a:xfrm>
            <a:off x="548640" y="2404872"/>
            <a:ext cx="658368" cy="658368"/>
          </a:xfrm>
          <a:prstGeom prst="ellipse">
            <a:avLst/>
          </a:prstGeom>
          <a:solidFill>
            <a:srgbClr val="E6ECF5"/>
          </a:solidFill>
          <a:ln w="12700">
            <a:solidFill>
              <a:srgbClr val="E6ECF5"/>
            </a:solidFill>
            <a:prstDash val="solid"/>
          </a:ln>
        </p:spPr>
      </p:sp>
      <p:pic>
        <p:nvPicPr>
          <p:cNvPr id="8" name="Image 1" descr="preencoded.png">    </p:cNvPr>
          <p:cNvPicPr>
            <a:picLocks noChangeAspect="1"/>
          </p:cNvPicPr>
          <p:nvPr/>
        </p:nvPicPr>
        <p:blipFill>
          <a:blip r:embed="rId2"/>
          <a:stretch>
            <a:fillRect/>
          </a:stretch>
        </p:blipFill>
        <p:spPr>
          <a:xfrm>
            <a:off x="719816" y="2576048"/>
            <a:ext cx="316017" cy="316017"/>
          </a:xfrm>
          <a:prstGeom prst="rect">
            <a:avLst/>
          </a:prstGeom>
        </p:spPr>
      </p:pic>
      <p:sp>
        <p:nvSpPr>
          <p:cNvPr id="9" name="Text 5"/>
          <p:cNvSpPr txBox="1"/>
          <p:nvPr/>
        </p:nvSpPr>
        <p:spPr>
          <a:xfrm>
            <a:off x="1417320" y="2386584"/>
            <a:ext cx="4206240" cy="329184"/>
          </a:xfrm>
          <a:prstGeom prst="rect">
            <a:avLst/>
          </a:prstGeom>
          <a:noFill/>
          <a:ln/>
        </p:spPr>
        <p:txBody>
          <a:bodyPr wrap="square" lIns="0" tIns="0" rIns="0" bIns="0" rtlCol="0" anchor="ctr"/>
          <a:lstStyle/>
          <a:p>
            <a:pPr indent="0" marL="0">
              <a:buNone/>
            </a:pPr>
            <a:r>
              <a:rPr lang="en-US" sz="1700" b="1" dirty="0">
                <a:solidFill>
                  <a:srgbClr val="1E2230"/>
                </a:solidFill>
                <a:latin typeface="Calibri" pitchFamily="34" charset="0"/>
                <a:ea typeface="Calibri" pitchFamily="34" charset="-122"/>
                <a:cs typeface="Calibri" pitchFamily="34" charset="-120"/>
              </a:rPr>
              <a:t>Rights and documents were hard to check</a:t>
            </a:r>
            <a:endParaRPr lang="en-US" sz="1700" dirty="0"/>
          </a:p>
        </p:txBody>
      </p:sp>
      <p:sp>
        <p:nvSpPr>
          <p:cNvPr id="10" name="Text 6"/>
          <p:cNvSpPr txBox="1"/>
          <p:nvPr/>
        </p:nvSpPr>
        <p:spPr>
          <a:xfrm>
            <a:off x="1417320" y="2734056"/>
            <a:ext cx="4206240" cy="548640"/>
          </a:xfrm>
          <a:prstGeom prst="rect">
            <a:avLst/>
          </a:prstGeom>
          <a:noFill/>
          <a:ln/>
        </p:spPr>
        <p:txBody>
          <a:bodyPr wrap="square" lIns="0" tIns="0" rIns="0" bIns="0" rtlCol="0" anchor="t"/>
          <a:lstStyle/>
          <a:p>
            <a:pPr indent="0" marL="0">
              <a:buNone/>
            </a:pPr>
            <a:r>
              <a:rPr lang="en-US" sz="1400" dirty="0">
                <a:solidFill>
                  <a:srgbClr val="5A6272"/>
                </a:solidFill>
                <a:latin typeface="Calibri" pitchFamily="34" charset="0"/>
                <a:ea typeface="Calibri" pitchFamily="34" charset="-122"/>
                <a:cs typeface="Calibri" pitchFamily="34" charset="-120"/>
              </a:rPr>
              <a:t>Now: contract case, releases and licences are captured and validated per item.</a:t>
            </a:r>
            <a:endParaRPr lang="en-US" sz="1400" dirty="0"/>
          </a:p>
        </p:txBody>
      </p:sp>
      <p:sp>
        <p:nvSpPr>
          <p:cNvPr id="11" name="Shape 7"/>
          <p:cNvSpPr/>
          <p:nvPr/>
        </p:nvSpPr>
        <p:spPr>
          <a:xfrm>
            <a:off x="548640" y="3483864"/>
            <a:ext cx="658368" cy="658368"/>
          </a:xfrm>
          <a:prstGeom prst="ellipse">
            <a:avLst/>
          </a:prstGeom>
          <a:solidFill>
            <a:srgbClr val="E6ECF5"/>
          </a:solidFill>
          <a:ln w="12700">
            <a:solidFill>
              <a:srgbClr val="E6ECF5"/>
            </a:solidFill>
            <a:prstDash val="solid"/>
          </a:ln>
        </p:spPr>
      </p:sp>
      <p:pic>
        <p:nvPicPr>
          <p:cNvPr id="12" name="Image 2" descr="preencoded.png">    </p:cNvPr>
          <p:cNvPicPr>
            <a:picLocks noChangeAspect="1"/>
          </p:cNvPicPr>
          <p:nvPr/>
        </p:nvPicPr>
        <p:blipFill>
          <a:blip r:embed="rId3"/>
          <a:stretch>
            <a:fillRect/>
          </a:stretch>
        </p:blipFill>
        <p:spPr>
          <a:xfrm>
            <a:off x="719816" y="3655040"/>
            <a:ext cx="316017" cy="316017"/>
          </a:xfrm>
          <a:prstGeom prst="rect">
            <a:avLst/>
          </a:prstGeom>
        </p:spPr>
      </p:pic>
      <p:sp>
        <p:nvSpPr>
          <p:cNvPr id="13" name="Text 8"/>
          <p:cNvSpPr txBox="1"/>
          <p:nvPr/>
        </p:nvSpPr>
        <p:spPr>
          <a:xfrm>
            <a:off x="1417320" y="3465576"/>
            <a:ext cx="4206240" cy="329184"/>
          </a:xfrm>
          <a:prstGeom prst="rect">
            <a:avLst/>
          </a:prstGeom>
          <a:noFill/>
          <a:ln/>
        </p:spPr>
        <p:txBody>
          <a:bodyPr wrap="square" lIns="0" tIns="0" rIns="0" bIns="0" rtlCol="0" anchor="ctr"/>
          <a:lstStyle/>
          <a:p>
            <a:pPr indent="0" marL="0">
              <a:buNone/>
            </a:pPr>
            <a:r>
              <a:rPr lang="en-US" sz="1700" b="1" dirty="0">
                <a:solidFill>
                  <a:srgbClr val="1E2230"/>
                </a:solidFill>
                <a:latin typeface="Calibri" pitchFamily="34" charset="0"/>
                <a:ea typeface="Calibri" pitchFamily="34" charset="-122"/>
                <a:cs typeface="Calibri" pitchFamily="34" charset="-120"/>
              </a:rPr>
              <a:t>Nobody could see where a request stood</a:t>
            </a:r>
            <a:endParaRPr lang="en-US" sz="1700" dirty="0"/>
          </a:p>
        </p:txBody>
      </p:sp>
      <p:sp>
        <p:nvSpPr>
          <p:cNvPr id="14" name="Text 9"/>
          <p:cNvSpPr txBox="1"/>
          <p:nvPr/>
        </p:nvSpPr>
        <p:spPr>
          <a:xfrm>
            <a:off x="1417320" y="3813048"/>
            <a:ext cx="4206240" cy="548640"/>
          </a:xfrm>
          <a:prstGeom prst="rect">
            <a:avLst/>
          </a:prstGeom>
          <a:noFill/>
          <a:ln/>
        </p:spPr>
        <p:txBody>
          <a:bodyPr wrap="square" lIns="0" tIns="0" rIns="0" bIns="0" rtlCol="0" anchor="t"/>
          <a:lstStyle/>
          <a:p>
            <a:pPr indent="0" marL="0">
              <a:buNone/>
            </a:pPr>
            <a:r>
              <a:rPr lang="en-US" sz="1400" dirty="0">
                <a:solidFill>
                  <a:srgbClr val="5A6272"/>
                </a:solidFill>
                <a:latin typeface="Calibri" pitchFamily="34" charset="0"/>
                <a:ea typeface="Calibri" pitchFamily="34" charset="-122"/>
                <a:cs typeface="Calibri" pitchFamily="34" charset="-120"/>
              </a:rPr>
              <a:t>Now: a clear status for every request and a dashboard for each role.</a:t>
            </a:r>
            <a:endParaRPr lang="en-US" sz="1400" dirty="0"/>
          </a:p>
        </p:txBody>
      </p:sp>
      <p:sp>
        <p:nvSpPr>
          <p:cNvPr id="15" name="Shape 10"/>
          <p:cNvSpPr/>
          <p:nvPr/>
        </p:nvSpPr>
        <p:spPr>
          <a:xfrm>
            <a:off x="6035040" y="1325880"/>
            <a:ext cx="2560320" cy="3108960"/>
          </a:xfrm>
          <a:prstGeom prst="roundRect">
            <a:avLst>
              <a:gd name="adj" fmla="val 4286"/>
            </a:avLst>
          </a:prstGeom>
          <a:solidFill>
            <a:srgbClr val="E6ECF5"/>
          </a:solidFill>
          <a:ln w="12700">
            <a:solidFill>
              <a:srgbClr val="E6ECF5"/>
            </a:solidFill>
            <a:prstDash val="solid"/>
          </a:ln>
        </p:spPr>
      </p:sp>
      <p:sp>
        <p:nvSpPr>
          <p:cNvPr id="16" name="Text 11"/>
          <p:cNvSpPr txBox="1"/>
          <p:nvPr/>
        </p:nvSpPr>
        <p:spPr>
          <a:xfrm>
            <a:off x="6035040" y="1508760"/>
            <a:ext cx="2560320" cy="914400"/>
          </a:xfrm>
          <a:prstGeom prst="rect">
            <a:avLst/>
          </a:prstGeom>
          <a:noFill/>
          <a:ln/>
        </p:spPr>
        <p:txBody>
          <a:bodyPr wrap="square" lIns="0" tIns="0" rIns="0" bIns="0" rtlCol="0" anchor="ctr"/>
          <a:lstStyle/>
          <a:p>
            <a:pPr algn="ctr" indent="0" marL="0">
              <a:buNone/>
            </a:pPr>
            <a:r>
              <a:rPr lang="en-US" sz="6600" b="1" dirty="0">
                <a:solidFill>
                  <a:srgbClr val="00126B"/>
                </a:solidFill>
                <a:latin typeface="Calibri" pitchFamily="34" charset="0"/>
                <a:ea typeface="Calibri" pitchFamily="34" charset="-122"/>
                <a:cs typeface="Calibri" pitchFamily="34" charset="-120"/>
              </a:rPr>
              <a:t>3</a:t>
            </a:r>
            <a:endParaRPr lang="en-US" sz="6600" dirty="0"/>
          </a:p>
        </p:txBody>
      </p:sp>
      <p:sp>
        <p:nvSpPr>
          <p:cNvPr id="17" name="Text 12"/>
          <p:cNvSpPr txBox="1"/>
          <p:nvPr/>
        </p:nvSpPr>
        <p:spPr>
          <a:xfrm>
            <a:off x="6035040" y="2423160"/>
            <a:ext cx="2560320" cy="320040"/>
          </a:xfrm>
          <a:prstGeom prst="rect">
            <a:avLst/>
          </a:prstGeom>
          <a:noFill/>
          <a:ln/>
        </p:spPr>
        <p:txBody>
          <a:bodyPr wrap="square" lIns="0" tIns="0" rIns="0" bIns="0" rtlCol="0" anchor="ctr"/>
          <a:lstStyle/>
          <a:p>
            <a:pPr algn="ctr" indent="0" marL="0">
              <a:buNone/>
            </a:pPr>
            <a:r>
              <a:rPr lang="en-US" sz="1400" dirty="0">
                <a:solidFill>
                  <a:srgbClr val="5A6272"/>
                </a:solidFill>
                <a:latin typeface="Calibri" pitchFamily="34" charset="0"/>
                <a:ea typeface="Calibri" pitchFamily="34" charset="-122"/>
                <a:cs typeface="Calibri" pitchFamily="34" charset="-120"/>
              </a:rPr>
              <a:t>production types</a:t>
            </a:r>
            <a:endParaRPr lang="en-US" sz="1400" dirty="0"/>
          </a:p>
        </p:txBody>
      </p:sp>
      <p:sp>
        <p:nvSpPr>
          <p:cNvPr id="18" name="Shape 13"/>
          <p:cNvSpPr/>
          <p:nvPr/>
        </p:nvSpPr>
        <p:spPr>
          <a:xfrm>
            <a:off x="6446520" y="2926080"/>
            <a:ext cx="1737360" cy="347472"/>
          </a:xfrm>
          <a:prstGeom prst="roundRect">
            <a:avLst>
              <a:gd name="adj" fmla="val 50000"/>
            </a:avLst>
          </a:prstGeom>
          <a:solidFill>
            <a:srgbClr val="3860B2"/>
          </a:solidFill>
          <a:ln w="12700">
            <a:solidFill>
              <a:srgbClr val="3860B2"/>
            </a:solidFill>
            <a:prstDash val="solid"/>
          </a:ln>
        </p:spPr>
      </p:sp>
      <p:sp>
        <p:nvSpPr>
          <p:cNvPr id="19" name="Text 14"/>
          <p:cNvSpPr txBox="1"/>
          <p:nvPr/>
        </p:nvSpPr>
        <p:spPr>
          <a:xfrm>
            <a:off x="6446520" y="2926080"/>
            <a:ext cx="1737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Photo / reportage</a:t>
            </a:r>
            <a:endParaRPr lang="en-US" sz="1200" dirty="0"/>
          </a:p>
        </p:txBody>
      </p:sp>
      <p:sp>
        <p:nvSpPr>
          <p:cNvPr id="20" name="Shape 15"/>
          <p:cNvSpPr/>
          <p:nvPr/>
        </p:nvSpPr>
        <p:spPr>
          <a:xfrm>
            <a:off x="6446520" y="3383280"/>
            <a:ext cx="1737360" cy="347472"/>
          </a:xfrm>
          <a:prstGeom prst="roundRect">
            <a:avLst>
              <a:gd name="adj" fmla="val 50000"/>
            </a:avLst>
          </a:prstGeom>
          <a:solidFill>
            <a:srgbClr val="D68C00"/>
          </a:solidFill>
          <a:ln w="12700">
            <a:solidFill>
              <a:srgbClr val="D68C00"/>
            </a:solidFill>
            <a:prstDash val="solid"/>
          </a:ln>
        </p:spPr>
      </p:sp>
      <p:sp>
        <p:nvSpPr>
          <p:cNvPr id="21" name="Text 16"/>
          <p:cNvSpPr txBox="1"/>
          <p:nvPr/>
        </p:nvSpPr>
        <p:spPr>
          <a:xfrm>
            <a:off x="6446520" y="3383280"/>
            <a:ext cx="1737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Video</a:t>
            </a:r>
            <a:endParaRPr lang="en-US" sz="1200" dirty="0"/>
          </a:p>
        </p:txBody>
      </p:sp>
      <p:sp>
        <p:nvSpPr>
          <p:cNvPr id="22" name="Shape 17"/>
          <p:cNvSpPr/>
          <p:nvPr/>
        </p:nvSpPr>
        <p:spPr>
          <a:xfrm>
            <a:off x="6446520" y="3840480"/>
            <a:ext cx="1737360" cy="347472"/>
          </a:xfrm>
          <a:prstGeom prst="roundRect">
            <a:avLst>
              <a:gd name="adj" fmla="val 50000"/>
            </a:avLst>
          </a:prstGeom>
          <a:solidFill>
            <a:srgbClr val="00126B"/>
          </a:solidFill>
          <a:ln w="12700">
            <a:solidFill>
              <a:srgbClr val="00126B"/>
            </a:solidFill>
            <a:prstDash val="solid"/>
          </a:ln>
        </p:spPr>
      </p:sp>
      <p:sp>
        <p:nvSpPr>
          <p:cNvPr id="23" name="Text 18"/>
          <p:cNvSpPr txBox="1"/>
          <p:nvPr/>
        </p:nvSpPr>
        <p:spPr>
          <a:xfrm>
            <a:off x="6446520" y="3840480"/>
            <a:ext cx="17373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Podcast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600" b="1" dirty="0">
                <a:solidFill>
                  <a:srgbClr val="00126B"/>
                </a:solidFill>
                <a:latin typeface="Calibri" pitchFamily="34" charset="0"/>
                <a:ea typeface="Calibri" pitchFamily="34" charset="-122"/>
                <a:cs typeface="Calibri" pitchFamily="34" charset="-120"/>
              </a:rPr>
              <a:t>How a request flows</a:t>
            </a:r>
            <a:endParaRPr lang="en-US" sz="3600" dirty="0"/>
          </a:p>
        </p:txBody>
      </p:sp>
      <p:sp>
        <p:nvSpPr>
          <p:cNvPr id="3" name="Shape 1"/>
          <p:cNvSpPr/>
          <p:nvPr/>
        </p:nvSpPr>
        <p:spPr>
          <a:xfrm>
            <a:off x="548640" y="1371600"/>
            <a:ext cx="1499616" cy="2514600"/>
          </a:xfrm>
          <a:prstGeom prst="roundRect">
            <a:avLst>
              <a:gd name="adj" fmla="val 6098"/>
            </a:avLst>
          </a:prstGeom>
          <a:solidFill>
            <a:srgbClr val="E6ECF5"/>
          </a:solidFill>
          <a:ln w="12700">
            <a:solidFill>
              <a:srgbClr val="D5DCEA"/>
            </a:solidFill>
            <a:prstDash val="solid"/>
          </a:ln>
        </p:spPr>
      </p:sp>
      <p:sp>
        <p:nvSpPr>
          <p:cNvPr id="4" name="Shape 2"/>
          <p:cNvSpPr/>
          <p:nvPr/>
        </p:nvSpPr>
        <p:spPr>
          <a:xfrm>
            <a:off x="978408" y="1572768"/>
            <a:ext cx="640080" cy="640080"/>
          </a:xfrm>
          <a:prstGeom prst="ellipse">
            <a:avLst/>
          </a:prstGeom>
          <a:solidFill>
            <a:srgbClr val="00126B"/>
          </a:solidFill>
          <a:ln w="12700">
            <a:solidFill>
              <a:srgbClr val="00126B"/>
            </a:solidFill>
            <a:prstDash val="solid"/>
          </a:ln>
        </p:spPr>
      </p:sp>
      <p:pic>
        <p:nvPicPr>
          <p:cNvPr id="5" name="Image 0" descr="preencoded.png">    </p:cNvPr>
          <p:cNvPicPr>
            <a:picLocks noChangeAspect="1"/>
          </p:cNvPicPr>
          <p:nvPr/>
        </p:nvPicPr>
        <p:blipFill>
          <a:blip r:embed="rId1"/>
          <a:stretch>
            <a:fillRect/>
          </a:stretch>
        </p:blipFill>
        <p:spPr>
          <a:xfrm>
            <a:off x="1144829" y="1739189"/>
            <a:ext cx="307238" cy="307238"/>
          </a:xfrm>
          <a:prstGeom prst="rect">
            <a:avLst/>
          </a:prstGeom>
        </p:spPr>
      </p:pic>
      <p:sp>
        <p:nvSpPr>
          <p:cNvPr id="6" name="Text 3"/>
          <p:cNvSpPr txBox="1"/>
          <p:nvPr/>
        </p:nvSpPr>
        <p:spPr>
          <a:xfrm>
            <a:off x="640080" y="2331720"/>
            <a:ext cx="1316736" cy="329184"/>
          </a:xfrm>
          <a:prstGeom prst="rect">
            <a:avLst/>
          </a:prstGeom>
          <a:noFill/>
          <a:ln/>
        </p:spPr>
        <p:txBody>
          <a:bodyPr wrap="square" lIns="0" tIns="0" rIns="0" bIns="0" rtlCol="0" anchor="ctr"/>
          <a:lstStyle/>
          <a:p>
            <a:pPr algn="ctr" indent="0" marL="0">
              <a:buNone/>
            </a:pPr>
            <a:r>
              <a:rPr lang="en-US" sz="1600" b="1" dirty="0">
                <a:solidFill>
                  <a:srgbClr val="1E2230"/>
                </a:solidFill>
                <a:latin typeface="Calibri" pitchFamily="34" charset="0"/>
                <a:ea typeface="Calibri" pitchFamily="34" charset="-122"/>
                <a:cs typeface="Calibri" pitchFamily="34" charset="-120"/>
              </a:rPr>
              <a:t>1. Create</a:t>
            </a:r>
            <a:endParaRPr lang="en-US" sz="1600" dirty="0"/>
          </a:p>
        </p:txBody>
      </p:sp>
      <p:sp>
        <p:nvSpPr>
          <p:cNvPr id="7" name="Text 4"/>
          <p:cNvSpPr txBox="1"/>
          <p:nvPr/>
        </p:nvSpPr>
        <p:spPr>
          <a:xfrm>
            <a:off x="658368" y="2679192"/>
            <a:ext cx="1280160" cy="658368"/>
          </a:xfrm>
          <a:prstGeom prst="rect">
            <a:avLst/>
          </a:prstGeom>
          <a:noFill/>
          <a:ln/>
        </p:spPr>
        <p:txBody>
          <a:bodyPr wrap="square" lIns="0" tIns="0" rIns="0" bIns="0" rtlCol="0" anchor="t"/>
          <a:lstStyle/>
          <a:p>
            <a:pPr algn="ctr" indent="0" marL="0">
              <a:buNone/>
            </a:pPr>
            <a:r>
              <a:rPr lang="en-US" sz="1200" dirty="0">
                <a:solidFill>
                  <a:srgbClr val="5A6272"/>
                </a:solidFill>
                <a:latin typeface="Calibri" pitchFamily="34" charset="0"/>
                <a:ea typeface="Calibri" pitchFamily="34" charset="-122"/>
                <a:cs typeface="Calibri" pitchFamily="34" charset="-120"/>
              </a:rPr>
              <a:t>The requestor opens a request</a:t>
            </a:r>
            <a:endParaRPr lang="en-US" sz="1200" dirty="0"/>
          </a:p>
        </p:txBody>
      </p:sp>
      <p:sp>
        <p:nvSpPr>
          <p:cNvPr id="8" name="Shape 5"/>
          <p:cNvSpPr/>
          <p:nvPr/>
        </p:nvSpPr>
        <p:spPr>
          <a:xfrm>
            <a:off x="749808" y="3401568"/>
            <a:ext cx="1097280" cy="292608"/>
          </a:xfrm>
          <a:prstGeom prst="roundRect">
            <a:avLst>
              <a:gd name="adj" fmla="val 50000"/>
            </a:avLst>
          </a:prstGeom>
          <a:solidFill>
            <a:srgbClr val="808080"/>
          </a:solidFill>
          <a:ln w="12700">
            <a:solidFill>
              <a:srgbClr val="808080"/>
            </a:solidFill>
            <a:prstDash val="solid"/>
          </a:ln>
        </p:spPr>
      </p:sp>
      <p:sp>
        <p:nvSpPr>
          <p:cNvPr id="9" name="Text 6"/>
          <p:cNvSpPr txBox="1"/>
          <p:nvPr/>
        </p:nvSpPr>
        <p:spPr>
          <a:xfrm>
            <a:off x="749808" y="3401568"/>
            <a:ext cx="10972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Draft</a:t>
            </a:r>
            <a:endParaRPr lang="en-US" sz="1100" dirty="0"/>
          </a:p>
        </p:txBody>
      </p:sp>
      <p:sp>
        <p:nvSpPr>
          <p:cNvPr id="10" name="Text 7"/>
          <p:cNvSpPr txBox="1"/>
          <p:nvPr/>
        </p:nvSpPr>
        <p:spPr>
          <a:xfrm>
            <a:off x="2029968" y="2377440"/>
            <a:ext cx="173736" cy="365760"/>
          </a:xfrm>
          <a:prstGeom prst="rect">
            <a:avLst/>
          </a:prstGeom>
          <a:noFill/>
          <a:ln/>
        </p:spPr>
        <p:txBody>
          <a:bodyPr wrap="square" lIns="0" tIns="0" rIns="0" bIns="0" rtlCol="0" anchor="ctr"/>
          <a:lstStyle/>
          <a:p>
            <a:pPr algn="ctr" indent="0" marL="0">
              <a:buNone/>
            </a:pPr>
            <a:r>
              <a:rPr lang="en-US" sz="2200" b="1" dirty="0">
                <a:solidFill>
                  <a:srgbClr val="3860B2"/>
                </a:solidFill>
                <a:latin typeface="Calibri" pitchFamily="34" charset="0"/>
                <a:ea typeface="Calibri" pitchFamily="34" charset="-122"/>
                <a:cs typeface="Calibri" pitchFamily="34" charset="-120"/>
              </a:rPr>
              <a:t>›</a:t>
            </a:r>
            <a:endParaRPr lang="en-US" sz="2200" dirty="0"/>
          </a:p>
        </p:txBody>
      </p:sp>
      <p:sp>
        <p:nvSpPr>
          <p:cNvPr id="11" name="Shape 8"/>
          <p:cNvSpPr/>
          <p:nvPr/>
        </p:nvSpPr>
        <p:spPr>
          <a:xfrm>
            <a:off x="2185416" y="1371600"/>
            <a:ext cx="1499616" cy="2514600"/>
          </a:xfrm>
          <a:prstGeom prst="roundRect">
            <a:avLst>
              <a:gd name="adj" fmla="val 6098"/>
            </a:avLst>
          </a:prstGeom>
          <a:solidFill>
            <a:srgbClr val="FFFFFF"/>
          </a:solidFill>
          <a:ln w="12700">
            <a:solidFill>
              <a:srgbClr val="D5DCEA"/>
            </a:solidFill>
            <a:prstDash val="solid"/>
          </a:ln>
        </p:spPr>
      </p:sp>
      <p:sp>
        <p:nvSpPr>
          <p:cNvPr id="12" name="Shape 9"/>
          <p:cNvSpPr/>
          <p:nvPr/>
        </p:nvSpPr>
        <p:spPr>
          <a:xfrm>
            <a:off x="2615184" y="1572768"/>
            <a:ext cx="640080" cy="640080"/>
          </a:xfrm>
          <a:prstGeom prst="ellipse">
            <a:avLst/>
          </a:prstGeom>
          <a:solidFill>
            <a:srgbClr val="00126B"/>
          </a:solidFill>
          <a:ln w="12700">
            <a:solidFill>
              <a:srgbClr val="00126B"/>
            </a:solidFill>
            <a:prstDash val="solid"/>
          </a:ln>
        </p:spPr>
      </p:sp>
      <p:pic>
        <p:nvPicPr>
          <p:cNvPr id="13" name="Image 1" descr="preencoded.png">    </p:cNvPr>
          <p:cNvPicPr>
            <a:picLocks noChangeAspect="1"/>
          </p:cNvPicPr>
          <p:nvPr/>
        </p:nvPicPr>
        <p:blipFill>
          <a:blip r:embed="rId2"/>
          <a:stretch>
            <a:fillRect/>
          </a:stretch>
        </p:blipFill>
        <p:spPr>
          <a:xfrm>
            <a:off x="2781605" y="1739189"/>
            <a:ext cx="307238" cy="307238"/>
          </a:xfrm>
          <a:prstGeom prst="rect">
            <a:avLst/>
          </a:prstGeom>
        </p:spPr>
      </p:pic>
      <p:sp>
        <p:nvSpPr>
          <p:cNvPr id="14" name="Text 10"/>
          <p:cNvSpPr txBox="1"/>
          <p:nvPr/>
        </p:nvSpPr>
        <p:spPr>
          <a:xfrm>
            <a:off x="2276856" y="2331720"/>
            <a:ext cx="1316736" cy="329184"/>
          </a:xfrm>
          <a:prstGeom prst="rect">
            <a:avLst/>
          </a:prstGeom>
          <a:noFill/>
          <a:ln/>
        </p:spPr>
        <p:txBody>
          <a:bodyPr wrap="square" lIns="0" tIns="0" rIns="0" bIns="0" rtlCol="0" anchor="ctr"/>
          <a:lstStyle/>
          <a:p>
            <a:pPr algn="ctr" indent="0" marL="0">
              <a:buNone/>
            </a:pPr>
            <a:r>
              <a:rPr lang="en-US" sz="1600" b="1" dirty="0">
                <a:solidFill>
                  <a:srgbClr val="1E2230"/>
                </a:solidFill>
                <a:latin typeface="Calibri" pitchFamily="34" charset="0"/>
                <a:ea typeface="Calibri" pitchFamily="34" charset="-122"/>
                <a:cs typeface="Calibri" pitchFamily="34" charset="-120"/>
              </a:rPr>
              <a:t>2. Add media</a:t>
            </a:r>
            <a:endParaRPr lang="en-US" sz="1600" dirty="0"/>
          </a:p>
        </p:txBody>
      </p:sp>
      <p:sp>
        <p:nvSpPr>
          <p:cNvPr id="15" name="Text 11"/>
          <p:cNvSpPr txBox="1"/>
          <p:nvPr/>
        </p:nvSpPr>
        <p:spPr>
          <a:xfrm>
            <a:off x="2295144" y="2679192"/>
            <a:ext cx="1280160" cy="658368"/>
          </a:xfrm>
          <a:prstGeom prst="rect">
            <a:avLst/>
          </a:prstGeom>
          <a:noFill/>
          <a:ln/>
        </p:spPr>
        <p:txBody>
          <a:bodyPr wrap="square" lIns="0" tIns="0" rIns="0" bIns="0" rtlCol="0" anchor="t"/>
          <a:lstStyle/>
          <a:p>
            <a:pPr algn="ctr" indent="0" marL="0">
              <a:buNone/>
            </a:pPr>
            <a:r>
              <a:rPr lang="en-US" sz="1200" dirty="0">
                <a:solidFill>
                  <a:srgbClr val="5A6272"/>
                </a:solidFill>
                <a:latin typeface="Calibri" pitchFamily="34" charset="0"/>
                <a:ea typeface="Calibri" pitchFamily="34" charset="-122"/>
                <a:cs typeface="Calibri" pitchFamily="34" charset="-120"/>
              </a:rPr>
              <a:t>Info · Metadata · Legal &amp; Docs · Validations</a:t>
            </a:r>
            <a:endParaRPr lang="en-US" sz="1200" dirty="0"/>
          </a:p>
        </p:txBody>
      </p:sp>
      <p:sp>
        <p:nvSpPr>
          <p:cNvPr id="16" name="Shape 12"/>
          <p:cNvSpPr/>
          <p:nvPr/>
        </p:nvSpPr>
        <p:spPr>
          <a:xfrm>
            <a:off x="2386584" y="3401568"/>
            <a:ext cx="1097280" cy="292608"/>
          </a:xfrm>
          <a:prstGeom prst="roundRect">
            <a:avLst>
              <a:gd name="adj" fmla="val 50000"/>
            </a:avLst>
          </a:prstGeom>
          <a:solidFill>
            <a:srgbClr val="808080"/>
          </a:solidFill>
          <a:ln w="12700">
            <a:solidFill>
              <a:srgbClr val="808080"/>
            </a:solidFill>
            <a:prstDash val="solid"/>
          </a:ln>
        </p:spPr>
      </p:sp>
      <p:sp>
        <p:nvSpPr>
          <p:cNvPr id="17" name="Text 13"/>
          <p:cNvSpPr txBox="1"/>
          <p:nvPr/>
        </p:nvSpPr>
        <p:spPr>
          <a:xfrm>
            <a:off x="2386584" y="3401568"/>
            <a:ext cx="10972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Draft</a:t>
            </a:r>
            <a:endParaRPr lang="en-US" sz="1100" dirty="0"/>
          </a:p>
        </p:txBody>
      </p:sp>
      <p:sp>
        <p:nvSpPr>
          <p:cNvPr id="18" name="Text 14"/>
          <p:cNvSpPr txBox="1"/>
          <p:nvPr/>
        </p:nvSpPr>
        <p:spPr>
          <a:xfrm>
            <a:off x="3666744" y="2377440"/>
            <a:ext cx="173736" cy="365760"/>
          </a:xfrm>
          <a:prstGeom prst="rect">
            <a:avLst/>
          </a:prstGeom>
          <a:noFill/>
          <a:ln/>
        </p:spPr>
        <p:txBody>
          <a:bodyPr wrap="square" lIns="0" tIns="0" rIns="0" bIns="0" rtlCol="0" anchor="ctr"/>
          <a:lstStyle/>
          <a:p>
            <a:pPr algn="ctr" indent="0" marL="0">
              <a:buNone/>
            </a:pPr>
            <a:r>
              <a:rPr lang="en-US" sz="2200" b="1" dirty="0">
                <a:solidFill>
                  <a:srgbClr val="3860B2"/>
                </a:solidFill>
                <a:latin typeface="Calibri" pitchFamily="34" charset="0"/>
                <a:ea typeface="Calibri" pitchFamily="34" charset="-122"/>
                <a:cs typeface="Calibri" pitchFamily="34" charset="-120"/>
              </a:rPr>
              <a:t>›</a:t>
            </a:r>
            <a:endParaRPr lang="en-US" sz="2200" dirty="0"/>
          </a:p>
        </p:txBody>
      </p:sp>
      <p:sp>
        <p:nvSpPr>
          <p:cNvPr id="19" name="Shape 15"/>
          <p:cNvSpPr/>
          <p:nvPr/>
        </p:nvSpPr>
        <p:spPr>
          <a:xfrm>
            <a:off x="3822192" y="1371600"/>
            <a:ext cx="1499616" cy="2514600"/>
          </a:xfrm>
          <a:prstGeom prst="roundRect">
            <a:avLst>
              <a:gd name="adj" fmla="val 6098"/>
            </a:avLst>
          </a:prstGeom>
          <a:solidFill>
            <a:srgbClr val="E6ECF5"/>
          </a:solidFill>
          <a:ln w="12700">
            <a:solidFill>
              <a:srgbClr val="D5DCEA"/>
            </a:solidFill>
            <a:prstDash val="solid"/>
          </a:ln>
        </p:spPr>
      </p:sp>
      <p:sp>
        <p:nvSpPr>
          <p:cNvPr id="20" name="Shape 16"/>
          <p:cNvSpPr/>
          <p:nvPr/>
        </p:nvSpPr>
        <p:spPr>
          <a:xfrm>
            <a:off x="4251960" y="1572768"/>
            <a:ext cx="640080" cy="640080"/>
          </a:xfrm>
          <a:prstGeom prst="ellipse">
            <a:avLst/>
          </a:prstGeom>
          <a:solidFill>
            <a:srgbClr val="00126B"/>
          </a:solidFill>
          <a:ln w="12700">
            <a:solidFill>
              <a:srgbClr val="00126B"/>
            </a:solidFill>
            <a:prstDash val="solid"/>
          </a:ln>
        </p:spPr>
      </p:sp>
      <p:pic>
        <p:nvPicPr>
          <p:cNvPr id="21" name="Image 2" descr="preencoded.png">    </p:cNvPr>
          <p:cNvPicPr>
            <a:picLocks noChangeAspect="1"/>
          </p:cNvPicPr>
          <p:nvPr/>
        </p:nvPicPr>
        <p:blipFill>
          <a:blip r:embed="rId3"/>
          <a:stretch>
            <a:fillRect/>
          </a:stretch>
        </p:blipFill>
        <p:spPr>
          <a:xfrm>
            <a:off x="4418381" y="1739189"/>
            <a:ext cx="307238" cy="307238"/>
          </a:xfrm>
          <a:prstGeom prst="rect">
            <a:avLst/>
          </a:prstGeom>
        </p:spPr>
      </p:pic>
      <p:sp>
        <p:nvSpPr>
          <p:cNvPr id="22" name="Text 17"/>
          <p:cNvSpPr txBox="1"/>
          <p:nvPr/>
        </p:nvSpPr>
        <p:spPr>
          <a:xfrm>
            <a:off x="3913632" y="2331720"/>
            <a:ext cx="1316736" cy="329184"/>
          </a:xfrm>
          <a:prstGeom prst="rect">
            <a:avLst/>
          </a:prstGeom>
          <a:noFill/>
          <a:ln/>
        </p:spPr>
        <p:txBody>
          <a:bodyPr wrap="square" lIns="0" tIns="0" rIns="0" bIns="0" rtlCol="0" anchor="ctr"/>
          <a:lstStyle/>
          <a:p>
            <a:pPr algn="ctr" indent="0" marL="0">
              <a:buNone/>
            </a:pPr>
            <a:r>
              <a:rPr lang="en-US" sz="1600" b="1" dirty="0">
                <a:solidFill>
                  <a:srgbClr val="1E2230"/>
                </a:solidFill>
                <a:latin typeface="Calibri" pitchFamily="34" charset="0"/>
                <a:ea typeface="Calibri" pitchFamily="34" charset="-122"/>
                <a:cs typeface="Calibri" pitchFamily="34" charset="-120"/>
              </a:rPr>
              <a:t>3. Submit</a:t>
            </a:r>
            <a:endParaRPr lang="en-US" sz="1600" dirty="0"/>
          </a:p>
        </p:txBody>
      </p:sp>
      <p:sp>
        <p:nvSpPr>
          <p:cNvPr id="23" name="Text 18"/>
          <p:cNvSpPr txBox="1"/>
          <p:nvPr/>
        </p:nvSpPr>
        <p:spPr>
          <a:xfrm>
            <a:off x="3931920" y="2679192"/>
            <a:ext cx="1280160" cy="658368"/>
          </a:xfrm>
          <a:prstGeom prst="rect">
            <a:avLst/>
          </a:prstGeom>
          <a:noFill/>
          <a:ln/>
        </p:spPr>
        <p:txBody>
          <a:bodyPr wrap="square" lIns="0" tIns="0" rIns="0" bIns="0" rtlCol="0" anchor="t"/>
          <a:lstStyle/>
          <a:p>
            <a:pPr algn="ctr" indent="0" marL="0">
              <a:buNone/>
            </a:pPr>
            <a:r>
              <a:rPr lang="en-US" sz="1200" dirty="0">
                <a:solidFill>
                  <a:srgbClr val="5A6272"/>
                </a:solidFill>
                <a:latin typeface="Calibri" pitchFamily="34" charset="0"/>
                <a:ea typeface="Calibri" pitchFamily="34" charset="-122"/>
                <a:cs typeface="Calibri" pitchFamily="34" charset="-120"/>
              </a:rPr>
              <a:t>The request goes to Central Deposit</a:t>
            </a:r>
            <a:endParaRPr lang="en-US" sz="1200" dirty="0"/>
          </a:p>
        </p:txBody>
      </p:sp>
      <p:sp>
        <p:nvSpPr>
          <p:cNvPr id="24" name="Shape 19"/>
          <p:cNvSpPr/>
          <p:nvPr/>
        </p:nvSpPr>
        <p:spPr>
          <a:xfrm>
            <a:off x="4023360" y="3401568"/>
            <a:ext cx="1097280" cy="292608"/>
          </a:xfrm>
          <a:prstGeom prst="roundRect">
            <a:avLst>
              <a:gd name="adj" fmla="val 50000"/>
            </a:avLst>
          </a:prstGeom>
          <a:solidFill>
            <a:srgbClr val="E08E00"/>
          </a:solidFill>
          <a:ln w="12700">
            <a:solidFill>
              <a:srgbClr val="E08E00"/>
            </a:solidFill>
            <a:prstDash val="solid"/>
          </a:ln>
        </p:spPr>
      </p:sp>
      <p:sp>
        <p:nvSpPr>
          <p:cNvPr id="25" name="Text 20"/>
          <p:cNvSpPr txBox="1"/>
          <p:nvPr/>
        </p:nvSpPr>
        <p:spPr>
          <a:xfrm>
            <a:off x="4023360" y="3401568"/>
            <a:ext cx="10972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Pending</a:t>
            </a:r>
            <a:endParaRPr lang="en-US" sz="1100" dirty="0"/>
          </a:p>
        </p:txBody>
      </p:sp>
      <p:sp>
        <p:nvSpPr>
          <p:cNvPr id="26" name="Text 21"/>
          <p:cNvSpPr txBox="1"/>
          <p:nvPr/>
        </p:nvSpPr>
        <p:spPr>
          <a:xfrm>
            <a:off x="5303520" y="2377440"/>
            <a:ext cx="173736" cy="365760"/>
          </a:xfrm>
          <a:prstGeom prst="rect">
            <a:avLst/>
          </a:prstGeom>
          <a:noFill/>
          <a:ln/>
        </p:spPr>
        <p:txBody>
          <a:bodyPr wrap="square" lIns="0" tIns="0" rIns="0" bIns="0" rtlCol="0" anchor="ctr"/>
          <a:lstStyle/>
          <a:p>
            <a:pPr algn="ctr" indent="0" marL="0">
              <a:buNone/>
            </a:pPr>
            <a:r>
              <a:rPr lang="en-US" sz="2200" b="1" dirty="0">
                <a:solidFill>
                  <a:srgbClr val="3860B2"/>
                </a:solidFill>
                <a:latin typeface="Calibri" pitchFamily="34" charset="0"/>
                <a:ea typeface="Calibri" pitchFamily="34" charset="-122"/>
                <a:cs typeface="Calibri" pitchFamily="34" charset="-120"/>
              </a:rPr>
              <a:t>›</a:t>
            </a:r>
            <a:endParaRPr lang="en-US" sz="2200" dirty="0"/>
          </a:p>
        </p:txBody>
      </p:sp>
      <p:sp>
        <p:nvSpPr>
          <p:cNvPr id="27" name="Shape 22"/>
          <p:cNvSpPr/>
          <p:nvPr/>
        </p:nvSpPr>
        <p:spPr>
          <a:xfrm>
            <a:off x="5458968" y="1371600"/>
            <a:ext cx="1499616" cy="2514600"/>
          </a:xfrm>
          <a:prstGeom prst="roundRect">
            <a:avLst>
              <a:gd name="adj" fmla="val 6098"/>
            </a:avLst>
          </a:prstGeom>
          <a:solidFill>
            <a:srgbClr val="FFFFFF"/>
          </a:solidFill>
          <a:ln w="12700">
            <a:solidFill>
              <a:srgbClr val="D5DCEA"/>
            </a:solidFill>
            <a:prstDash val="solid"/>
          </a:ln>
        </p:spPr>
      </p:sp>
      <p:sp>
        <p:nvSpPr>
          <p:cNvPr id="28" name="Shape 23"/>
          <p:cNvSpPr/>
          <p:nvPr/>
        </p:nvSpPr>
        <p:spPr>
          <a:xfrm>
            <a:off x="5888736" y="1572768"/>
            <a:ext cx="640080" cy="640080"/>
          </a:xfrm>
          <a:prstGeom prst="ellipse">
            <a:avLst/>
          </a:prstGeom>
          <a:solidFill>
            <a:srgbClr val="00126B"/>
          </a:solidFill>
          <a:ln w="12700">
            <a:solidFill>
              <a:srgbClr val="00126B"/>
            </a:solidFill>
            <a:prstDash val="solid"/>
          </a:ln>
        </p:spPr>
      </p:sp>
      <p:pic>
        <p:nvPicPr>
          <p:cNvPr id="29" name="Image 3" descr="preencoded.png">    </p:cNvPr>
          <p:cNvPicPr>
            <a:picLocks noChangeAspect="1"/>
          </p:cNvPicPr>
          <p:nvPr/>
        </p:nvPicPr>
        <p:blipFill>
          <a:blip r:embed="rId4"/>
          <a:stretch>
            <a:fillRect/>
          </a:stretch>
        </p:blipFill>
        <p:spPr>
          <a:xfrm>
            <a:off x="6055157" y="1739189"/>
            <a:ext cx="307238" cy="307238"/>
          </a:xfrm>
          <a:prstGeom prst="rect">
            <a:avLst/>
          </a:prstGeom>
        </p:spPr>
      </p:pic>
      <p:sp>
        <p:nvSpPr>
          <p:cNvPr id="30" name="Text 24"/>
          <p:cNvSpPr txBox="1"/>
          <p:nvPr/>
        </p:nvSpPr>
        <p:spPr>
          <a:xfrm>
            <a:off x="5550408" y="2331720"/>
            <a:ext cx="1316736" cy="329184"/>
          </a:xfrm>
          <a:prstGeom prst="rect">
            <a:avLst/>
          </a:prstGeom>
          <a:noFill/>
          <a:ln/>
        </p:spPr>
        <p:txBody>
          <a:bodyPr wrap="square" lIns="0" tIns="0" rIns="0" bIns="0" rtlCol="0" anchor="ctr"/>
          <a:lstStyle/>
          <a:p>
            <a:pPr algn="ctr" indent="0" marL="0">
              <a:buNone/>
            </a:pPr>
            <a:r>
              <a:rPr lang="en-US" sz="1600" b="1" dirty="0">
                <a:solidFill>
                  <a:srgbClr val="1E2230"/>
                </a:solidFill>
                <a:latin typeface="Calibri" pitchFamily="34" charset="0"/>
                <a:ea typeface="Calibri" pitchFamily="34" charset="-122"/>
                <a:cs typeface="Calibri" pitchFamily="34" charset="-120"/>
              </a:rPr>
              <a:t>4. Review</a:t>
            </a:r>
            <a:endParaRPr lang="en-US" sz="1600" dirty="0"/>
          </a:p>
        </p:txBody>
      </p:sp>
      <p:sp>
        <p:nvSpPr>
          <p:cNvPr id="31" name="Text 25"/>
          <p:cNvSpPr txBox="1"/>
          <p:nvPr/>
        </p:nvSpPr>
        <p:spPr>
          <a:xfrm>
            <a:off x="5568696" y="2679192"/>
            <a:ext cx="1280160" cy="658368"/>
          </a:xfrm>
          <a:prstGeom prst="rect">
            <a:avLst/>
          </a:prstGeom>
          <a:noFill/>
          <a:ln/>
        </p:spPr>
        <p:txBody>
          <a:bodyPr wrap="square" lIns="0" tIns="0" rIns="0" bIns="0" rtlCol="0" anchor="t"/>
          <a:lstStyle/>
          <a:p>
            <a:pPr algn="ctr" indent="0" marL="0">
              <a:buNone/>
            </a:pPr>
            <a:r>
              <a:rPr lang="en-US" sz="1200" dirty="0">
                <a:solidFill>
                  <a:srgbClr val="5A6272"/>
                </a:solidFill>
                <a:latin typeface="Calibri" pitchFamily="34" charset="0"/>
                <a:ea typeface="Calibri" pitchFamily="34" charset="-122"/>
                <a:cs typeface="Calibri" pitchFamily="34" charset="-120"/>
              </a:rPr>
              <a:t>An administrator checks it, adds notes</a:t>
            </a:r>
            <a:endParaRPr lang="en-US" sz="1200" dirty="0"/>
          </a:p>
        </p:txBody>
      </p:sp>
      <p:sp>
        <p:nvSpPr>
          <p:cNvPr id="32" name="Shape 26"/>
          <p:cNvSpPr/>
          <p:nvPr/>
        </p:nvSpPr>
        <p:spPr>
          <a:xfrm>
            <a:off x="5660136" y="3401568"/>
            <a:ext cx="1097280" cy="292608"/>
          </a:xfrm>
          <a:prstGeom prst="roundRect">
            <a:avLst>
              <a:gd name="adj" fmla="val 50000"/>
            </a:avLst>
          </a:prstGeom>
          <a:solidFill>
            <a:srgbClr val="9932CC"/>
          </a:solidFill>
          <a:ln w="12700">
            <a:solidFill>
              <a:srgbClr val="9932CC"/>
            </a:solidFill>
            <a:prstDash val="solid"/>
          </a:ln>
        </p:spPr>
      </p:sp>
      <p:sp>
        <p:nvSpPr>
          <p:cNvPr id="33" name="Text 27"/>
          <p:cNvSpPr txBox="1"/>
          <p:nvPr/>
        </p:nvSpPr>
        <p:spPr>
          <a:xfrm>
            <a:off x="5660136" y="3401568"/>
            <a:ext cx="10972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Processing</a:t>
            </a:r>
            <a:endParaRPr lang="en-US" sz="1100" dirty="0"/>
          </a:p>
        </p:txBody>
      </p:sp>
      <p:sp>
        <p:nvSpPr>
          <p:cNvPr id="34" name="Text 28"/>
          <p:cNvSpPr txBox="1"/>
          <p:nvPr/>
        </p:nvSpPr>
        <p:spPr>
          <a:xfrm>
            <a:off x="6940296" y="2377440"/>
            <a:ext cx="173736" cy="365760"/>
          </a:xfrm>
          <a:prstGeom prst="rect">
            <a:avLst/>
          </a:prstGeom>
          <a:noFill/>
          <a:ln/>
        </p:spPr>
        <p:txBody>
          <a:bodyPr wrap="square" lIns="0" tIns="0" rIns="0" bIns="0" rtlCol="0" anchor="ctr"/>
          <a:lstStyle/>
          <a:p>
            <a:pPr algn="ctr" indent="0" marL="0">
              <a:buNone/>
            </a:pPr>
            <a:r>
              <a:rPr lang="en-US" sz="2200" b="1" dirty="0">
                <a:solidFill>
                  <a:srgbClr val="3860B2"/>
                </a:solidFill>
                <a:latin typeface="Calibri" pitchFamily="34" charset="0"/>
                <a:ea typeface="Calibri" pitchFamily="34" charset="-122"/>
                <a:cs typeface="Calibri" pitchFamily="34" charset="-120"/>
              </a:rPr>
              <a:t>›</a:t>
            </a:r>
            <a:endParaRPr lang="en-US" sz="2200" dirty="0"/>
          </a:p>
        </p:txBody>
      </p:sp>
      <p:sp>
        <p:nvSpPr>
          <p:cNvPr id="35" name="Shape 29"/>
          <p:cNvSpPr/>
          <p:nvPr/>
        </p:nvSpPr>
        <p:spPr>
          <a:xfrm>
            <a:off x="7095744" y="1371600"/>
            <a:ext cx="1499616" cy="2514600"/>
          </a:xfrm>
          <a:prstGeom prst="roundRect">
            <a:avLst>
              <a:gd name="adj" fmla="val 6098"/>
            </a:avLst>
          </a:prstGeom>
          <a:solidFill>
            <a:srgbClr val="E6ECF5"/>
          </a:solidFill>
          <a:ln w="12700">
            <a:solidFill>
              <a:srgbClr val="D5DCEA"/>
            </a:solidFill>
            <a:prstDash val="solid"/>
          </a:ln>
        </p:spPr>
      </p:sp>
      <p:sp>
        <p:nvSpPr>
          <p:cNvPr id="36" name="Shape 30"/>
          <p:cNvSpPr/>
          <p:nvPr/>
        </p:nvSpPr>
        <p:spPr>
          <a:xfrm>
            <a:off x="7525512" y="1572768"/>
            <a:ext cx="640080" cy="640080"/>
          </a:xfrm>
          <a:prstGeom prst="ellipse">
            <a:avLst/>
          </a:prstGeom>
          <a:solidFill>
            <a:srgbClr val="00126B"/>
          </a:solidFill>
          <a:ln w="12700">
            <a:solidFill>
              <a:srgbClr val="00126B"/>
            </a:solidFill>
            <a:prstDash val="solid"/>
          </a:ln>
        </p:spPr>
      </p:sp>
      <p:pic>
        <p:nvPicPr>
          <p:cNvPr id="37" name="Image 4" descr="preencoded.png">    </p:cNvPr>
          <p:cNvPicPr>
            <a:picLocks noChangeAspect="1"/>
          </p:cNvPicPr>
          <p:nvPr/>
        </p:nvPicPr>
        <p:blipFill>
          <a:blip r:embed="rId5"/>
          <a:stretch>
            <a:fillRect/>
          </a:stretch>
        </p:blipFill>
        <p:spPr>
          <a:xfrm>
            <a:off x="7691933" y="1739189"/>
            <a:ext cx="307238" cy="307238"/>
          </a:xfrm>
          <a:prstGeom prst="rect">
            <a:avLst/>
          </a:prstGeom>
        </p:spPr>
      </p:pic>
      <p:sp>
        <p:nvSpPr>
          <p:cNvPr id="38" name="Text 31"/>
          <p:cNvSpPr txBox="1"/>
          <p:nvPr/>
        </p:nvSpPr>
        <p:spPr>
          <a:xfrm>
            <a:off x="7187184" y="2331720"/>
            <a:ext cx="1316736" cy="329184"/>
          </a:xfrm>
          <a:prstGeom prst="rect">
            <a:avLst/>
          </a:prstGeom>
          <a:noFill/>
          <a:ln/>
        </p:spPr>
        <p:txBody>
          <a:bodyPr wrap="square" lIns="0" tIns="0" rIns="0" bIns="0" rtlCol="0" anchor="ctr"/>
          <a:lstStyle/>
          <a:p>
            <a:pPr algn="ctr" indent="0" marL="0">
              <a:buNone/>
            </a:pPr>
            <a:r>
              <a:rPr lang="en-US" sz="1600" b="1" dirty="0">
                <a:solidFill>
                  <a:srgbClr val="1E2230"/>
                </a:solidFill>
                <a:latin typeface="Calibri" pitchFamily="34" charset="0"/>
                <a:ea typeface="Calibri" pitchFamily="34" charset="-122"/>
                <a:cs typeface="Calibri" pitchFamily="34" charset="-120"/>
              </a:rPr>
              <a:t>5. Decide</a:t>
            </a:r>
            <a:endParaRPr lang="en-US" sz="1600" dirty="0"/>
          </a:p>
        </p:txBody>
      </p:sp>
      <p:sp>
        <p:nvSpPr>
          <p:cNvPr id="39" name="Text 32"/>
          <p:cNvSpPr txBox="1"/>
          <p:nvPr/>
        </p:nvSpPr>
        <p:spPr>
          <a:xfrm>
            <a:off x="7205472" y="2679192"/>
            <a:ext cx="1280160" cy="658368"/>
          </a:xfrm>
          <a:prstGeom prst="rect">
            <a:avLst/>
          </a:prstGeom>
          <a:noFill/>
          <a:ln/>
        </p:spPr>
        <p:txBody>
          <a:bodyPr wrap="square" lIns="0" tIns="0" rIns="0" bIns="0" rtlCol="0" anchor="t"/>
          <a:lstStyle/>
          <a:p>
            <a:pPr algn="ctr" indent="0" marL="0">
              <a:buNone/>
            </a:pPr>
            <a:r>
              <a:rPr lang="en-US" sz="1200" dirty="0">
                <a:solidFill>
                  <a:srgbClr val="5A6272"/>
                </a:solidFill>
                <a:latin typeface="Calibri" pitchFamily="34" charset="0"/>
                <a:ea typeface="Calibri" pitchFamily="34" charset="-122"/>
                <a:cs typeface="Calibri" pitchFamily="34" charset="-120"/>
              </a:rPr>
              <a:t>Approved or rejected, then published</a:t>
            </a:r>
            <a:endParaRPr lang="en-US" sz="1200" dirty="0"/>
          </a:p>
        </p:txBody>
      </p:sp>
      <p:sp>
        <p:nvSpPr>
          <p:cNvPr id="40" name="Shape 33"/>
          <p:cNvSpPr/>
          <p:nvPr/>
        </p:nvSpPr>
        <p:spPr>
          <a:xfrm>
            <a:off x="7296912" y="3401568"/>
            <a:ext cx="1097280" cy="292608"/>
          </a:xfrm>
          <a:prstGeom prst="roundRect">
            <a:avLst>
              <a:gd name="adj" fmla="val 50000"/>
            </a:avLst>
          </a:prstGeom>
          <a:solidFill>
            <a:srgbClr val="1B7F2A"/>
          </a:solidFill>
          <a:ln w="12700">
            <a:solidFill>
              <a:srgbClr val="1B7F2A"/>
            </a:solidFill>
            <a:prstDash val="solid"/>
          </a:ln>
        </p:spPr>
      </p:sp>
      <p:sp>
        <p:nvSpPr>
          <p:cNvPr id="41" name="Text 34"/>
          <p:cNvSpPr txBox="1"/>
          <p:nvPr/>
        </p:nvSpPr>
        <p:spPr>
          <a:xfrm>
            <a:off x="7296912" y="3401568"/>
            <a:ext cx="109728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Approved</a:t>
            </a:r>
            <a:endParaRPr lang="en-US" sz="1100" dirty="0"/>
          </a:p>
        </p:txBody>
      </p:sp>
      <p:sp>
        <p:nvSpPr>
          <p:cNvPr id="42" name="Text 35"/>
          <p:cNvSpPr txBox="1"/>
          <p:nvPr/>
        </p:nvSpPr>
        <p:spPr>
          <a:xfrm>
            <a:off x="548640" y="4160520"/>
            <a:ext cx="8046720" cy="457200"/>
          </a:xfrm>
          <a:prstGeom prst="rect">
            <a:avLst/>
          </a:prstGeom>
          <a:noFill/>
          <a:ln/>
        </p:spPr>
        <p:txBody>
          <a:bodyPr wrap="square" lIns="0" tIns="0" rIns="0" bIns="0" rtlCol="0" anchor="ctr"/>
          <a:lstStyle/>
          <a:p>
            <a:pPr indent="0" marL="0">
              <a:buNone/>
            </a:pPr>
            <a:r>
              <a:rPr lang="en-US" sz="1400" i="1" dirty="0">
                <a:solidFill>
                  <a:srgbClr val="5A6272"/>
                </a:solidFill>
                <a:latin typeface="Calibri" pitchFamily="34" charset="0"/>
                <a:ea typeface="Calibri" pitchFamily="34" charset="-122"/>
                <a:cs typeface="Calibri" pitchFamily="34" charset="-120"/>
              </a:rPr>
              <a:t>Each media item is filled in four tabs, so nothing reaches Central Deposit without its metadata, documents and checks.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600" b="1" dirty="0">
                <a:solidFill>
                  <a:srgbClr val="00126B"/>
                </a:solidFill>
                <a:latin typeface="Calibri" pitchFamily="34" charset="0"/>
                <a:ea typeface="Calibri" pitchFamily="34" charset="-122"/>
                <a:cs typeface="Calibri" pitchFamily="34" charset="-120"/>
              </a:rPr>
              <a:t>Two roles, two views</a:t>
            </a:r>
            <a:endParaRPr lang="en-US" sz="3600" dirty="0"/>
          </a:p>
        </p:txBody>
      </p:sp>
      <p:sp>
        <p:nvSpPr>
          <p:cNvPr id="3" name="Shape 1"/>
          <p:cNvSpPr/>
          <p:nvPr/>
        </p:nvSpPr>
        <p:spPr>
          <a:xfrm>
            <a:off x="548640" y="1280160"/>
            <a:ext cx="3931920" cy="2743200"/>
          </a:xfrm>
          <a:prstGeom prst="roundRect">
            <a:avLst>
              <a:gd name="adj" fmla="val 4000"/>
            </a:avLst>
          </a:prstGeom>
          <a:solidFill>
            <a:srgbClr val="E6ECF5"/>
          </a:solidFill>
          <a:ln w="12700">
            <a:solidFill>
              <a:srgbClr val="E6ECF5"/>
            </a:solidFill>
            <a:prstDash val="solid"/>
          </a:ln>
        </p:spPr>
      </p:sp>
      <p:sp>
        <p:nvSpPr>
          <p:cNvPr id="4" name="Shape 2"/>
          <p:cNvSpPr/>
          <p:nvPr/>
        </p:nvSpPr>
        <p:spPr>
          <a:xfrm>
            <a:off x="868680" y="1508760"/>
            <a:ext cx="685800" cy="685800"/>
          </a:xfrm>
          <a:prstGeom prst="ellipse">
            <a:avLst/>
          </a:prstGeom>
          <a:solidFill>
            <a:srgbClr val="3860B2"/>
          </a:solidFill>
          <a:ln w="12700">
            <a:solidFill>
              <a:srgbClr val="3860B2"/>
            </a:solidFill>
            <a:prstDash val="solid"/>
          </a:ln>
        </p:spPr>
      </p:sp>
      <p:pic>
        <p:nvPicPr>
          <p:cNvPr id="5" name="Image 0" descr="preencoded.png">    </p:cNvPr>
          <p:cNvPicPr>
            <a:picLocks noChangeAspect="1"/>
          </p:cNvPicPr>
          <p:nvPr/>
        </p:nvPicPr>
        <p:blipFill>
          <a:blip r:embed="rId1"/>
          <a:stretch>
            <a:fillRect/>
          </a:stretch>
        </p:blipFill>
        <p:spPr>
          <a:xfrm>
            <a:off x="1046988" y="1687068"/>
            <a:ext cx="329184" cy="329184"/>
          </a:xfrm>
          <a:prstGeom prst="rect">
            <a:avLst/>
          </a:prstGeom>
        </p:spPr>
      </p:pic>
      <p:sp>
        <p:nvSpPr>
          <p:cNvPr id="6" name="Text 3"/>
          <p:cNvSpPr txBox="1"/>
          <p:nvPr/>
        </p:nvSpPr>
        <p:spPr>
          <a:xfrm>
            <a:off x="1737360" y="1645920"/>
            <a:ext cx="2560320" cy="457200"/>
          </a:xfrm>
          <a:prstGeom prst="rect">
            <a:avLst/>
          </a:prstGeom>
          <a:noFill/>
          <a:ln/>
        </p:spPr>
        <p:txBody>
          <a:bodyPr wrap="square" lIns="0" tIns="0" rIns="0" bIns="0" rtlCol="0" anchor="ctr"/>
          <a:lstStyle/>
          <a:p>
            <a:pPr indent="0" marL="0">
              <a:buNone/>
            </a:pPr>
            <a:r>
              <a:rPr lang="en-US" sz="2400" b="1" dirty="0">
                <a:solidFill>
                  <a:srgbClr val="3860B2"/>
                </a:solidFill>
                <a:latin typeface="Calibri" pitchFamily="34" charset="0"/>
                <a:ea typeface="Calibri" pitchFamily="34" charset="-122"/>
                <a:cs typeface="Calibri" pitchFamily="34" charset="-120"/>
              </a:rPr>
              <a:t>Requestor</a:t>
            </a:r>
            <a:endParaRPr lang="en-US" sz="2400" dirty="0"/>
          </a:p>
        </p:txBody>
      </p:sp>
      <p:sp>
        <p:nvSpPr>
          <p:cNvPr id="7" name="Text 4"/>
          <p:cNvSpPr txBox="1"/>
          <p:nvPr/>
        </p:nvSpPr>
        <p:spPr>
          <a:xfrm>
            <a:off x="914400" y="2423160"/>
            <a:ext cx="329184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E2230"/>
                </a:solidFill>
                <a:latin typeface="Calibri" pitchFamily="34" charset="0"/>
                <a:ea typeface="Calibri" pitchFamily="34" charset="-122"/>
                <a:cs typeface="Calibri" pitchFamily="34" charset="-120"/>
              </a:rPr>
              <a:t>Creates and tracks their own requests</a:t>
            </a:r>
            <a:endParaRPr lang="en-US" sz="1500" dirty="0"/>
          </a:p>
          <a:p>
            <a:pPr marL="342900" indent="-342900">
              <a:spcAft>
                <a:spcPts val="800"/>
              </a:spcAft>
              <a:buSzPct val="100000"/>
              <a:buChar char="•"/>
            </a:pPr>
            <a:r>
              <a:rPr lang="en-US" sz="1500" dirty="0">
                <a:solidFill>
                  <a:srgbClr val="1E2230"/>
                </a:solidFill>
                <a:latin typeface="Calibri" pitchFamily="34" charset="0"/>
                <a:ea typeface="Calibri" pitchFamily="34" charset="-122"/>
                <a:cs typeface="Calibri" pitchFamily="34" charset="-120"/>
              </a:rPr>
              <a:t>Fills in the metadata and uploads the files</a:t>
            </a:r>
            <a:endParaRPr lang="en-US" sz="1500" dirty="0"/>
          </a:p>
          <a:p>
            <a:pPr marL="342900" indent="-342900">
              <a:spcAft>
                <a:spcPts val="800"/>
              </a:spcAft>
              <a:buSzPct val="100000"/>
              <a:buChar char="•"/>
            </a:pPr>
            <a:r>
              <a:rPr lang="en-US" sz="1500" dirty="0">
                <a:solidFill>
                  <a:srgbClr val="1E2230"/>
                </a:solidFill>
                <a:latin typeface="Calibri" pitchFamily="34" charset="0"/>
                <a:ea typeface="Calibri" pitchFamily="34" charset="-122"/>
                <a:cs typeface="Calibri" pitchFamily="34" charset="-120"/>
              </a:rPr>
              <a:t>Writes notes to Central Deposit</a:t>
            </a:r>
            <a:endParaRPr lang="en-US" sz="1500" dirty="0"/>
          </a:p>
          <a:p>
            <a:pPr marL="342900" indent="-342900">
              <a:spcAft>
                <a:spcPts val="800"/>
              </a:spcAft>
              <a:buSzPct val="100000"/>
              <a:buChar char="•"/>
            </a:pPr>
            <a:r>
              <a:rPr lang="en-US" sz="1500" dirty="0">
                <a:solidFill>
                  <a:srgbClr val="1E2230"/>
                </a:solidFill>
                <a:latin typeface="Calibri" pitchFamily="34" charset="0"/>
                <a:ea typeface="Calibri" pitchFamily="34" charset="-122"/>
                <a:cs typeface="Calibri" pitchFamily="34" charset="-120"/>
              </a:rPr>
              <a:t>Dashboard: "Requires my attention"</a:t>
            </a:r>
            <a:endParaRPr lang="en-US" sz="1500" dirty="0"/>
          </a:p>
        </p:txBody>
      </p:sp>
      <p:sp>
        <p:nvSpPr>
          <p:cNvPr id="8" name="Shape 5"/>
          <p:cNvSpPr/>
          <p:nvPr/>
        </p:nvSpPr>
        <p:spPr>
          <a:xfrm>
            <a:off x="4663440" y="1280160"/>
            <a:ext cx="3931920" cy="2743200"/>
          </a:xfrm>
          <a:prstGeom prst="roundRect">
            <a:avLst>
              <a:gd name="adj" fmla="val 4000"/>
            </a:avLst>
          </a:prstGeom>
          <a:solidFill>
            <a:srgbClr val="E6ECF5"/>
          </a:solidFill>
          <a:ln w="12700">
            <a:solidFill>
              <a:srgbClr val="E6ECF5"/>
            </a:solidFill>
            <a:prstDash val="solid"/>
          </a:ln>
        </p:spPr>
      </p:sp>
      <p:sp>
        <p:nvSpPr>
          <p:cNvPr id="9" name="Shape 6"/>
          <p:cNvSpPr/>
          <p:nvPr/>
        </p:nvSpPr>
        <p:spPr>
          <a:xfrm>
            <a:off x="4983480" y="1508760"/>
            <a:ext cx="685800" cy="685800"/>
          </a:xfrm>
          <a:prstGeom prst="ellipse">
            <a:avLst/>
          </a:prstGeom>
          <a:solidFill>
            <a:srgbClr val="00126B"/>
          </a:solidFill>
          <a:ln w="12700">
            <a:solidFill>
              <a:srgbClr val="00126B"/>
            </a:solidFill>
            <a:prstDash val="solid"/>
          </a:ln>
        </p:spPr>
      </p:sp>
      <p:pic>
        <p:nvPicPr>
          <p:cNvPr id="10" name="Image 1" descr="preencoded.png">    </p:cNvPr>
          <p:cNvPicPr>
            <a:picLocks noChangeAspect="1"/>
          </p:cNvPicPr>
          <p:nvPr/>
        </p:nvPicPr>
        <p:blipFill>
          <a:blip r:embed="rId2"/>
          <a:stretch>
            <a:fillRect/>
          </a:stretch>
        </p:blipFill>
        <p:spPr>
          <a:xfrm>
            <a:off x="5161788" y="1687068"/>
            <a:ext cx="329184" cy="329184"/>
          </a:xfrm>
          <a:prstGeom prst="rect">
            <a:avLst/>
          </a:prstGeom>
        </p:spPr>
      </p:pic>
      <p:sp>
        <p:nvSpPr>
          <p:cNvPr id="11" name="Text 7"/>
          <p:cNvSpPr txBox="1"/>
          <p:nvPr/>
        </p:nvSpPr>
        <p:spPr>
          <a:xfrm>
            <a:off x="5852160" y="1645920"/>
            <a:ext cx="2560320" cy="457200"/>
          </a:xfrm>
          <a:prstGeom prst="rect">
            <a:avLst/>
          </a:prstGeom>
          <a:noFill/>
          <a:ln/>
        </p:spPr>
        <p:txBody>
          <a:bodyPr wrap="square" lIns="0" tIns="0" rIns="0" bIns="0" rtlCol="0" anchor="ctr"/>
          <a:lstStyle/>
          <a:p>
            <a:pPr indent="0" marL="0">
              <a:buNone/>
            </a:pPr>
            <a:r>
              <a:rPr lang="en-US" sz="2400" b="1" dirty="0">
                <a:solidFill>
                  <a:srgbClr val="00126B"/>
                </a:solidFill>
                <a:latin typeface="Calibri" pitchFamily="34" charset="0"/>
                <a:ea typeface="Calibri" pitchFamily="34" charset="-122"/>
                <a:cs typeface="Calibri" pitchFamily="34" charset="-120"/>
              </a:rPr>
              <a:t>Administrator</a:t>
            </a:r>
            <a:endParaRPr lang="en-US" sz="2400" dirty="0"/>
          </a:p>
        </p:txBody>
      </p:sp>
      <p:sp>
        <p:nvSpPr>
          <p:cNvPr id="12" name="Text 8"/>
          <p:cNvSpPr txBox="1"/>
          <p:nvPr/>
        </p:nvSpPr>
        <p:spPr>
          <a:xfrm>
            <a:off x="5029200" y="2423160"/>
            <a:ext cx="329184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E2230"/>
                </a:solidFill>
                <a:latin typeface="Calibri" pitchFamily="34" charset="0"/>
                <a:ea typeface="Calibri" pitchFamily="34" charset="-122"/>
                <a:cs typeface="Calibri" pitchFamily="34" charset="-120"/>
              </a:rPr>
              <a:t>Sees every submitted request</a:t>
            </a:r>
            <a:endParaRPr lang="en-US" sz="1500" dirty="0"/>
          </a:p>
          <a:p>
            <a:pPr marL="342900" indent="-342900">
              <a:spcAft>
                <a:spcPts val="800"/>
              </a:spcAft>
              <a:buSzPct val="100000"/>
              <a:buChar char="•"/>
            </a:pPr>
            <a:r>
              <a:rPr lang="en-US" sz="1500" dirty="0">
                <a:solidFill>
                  <a:srgbClr val="1E2230"/>
                </a:solidFill>
                <a:latin typeface="Calibri" pitchFamily="34" charset="0"/>
                <a:ea typeface="Calibri" pitchFamily="34" charset="-122"/>
                <a:cs typeface="Calibri" pitchFamily="34" charset="-120"/>
              </a:rPr>
              <a:t>Assigns and hands over requests</a:t>
            </a:r>
            <a:endParaRPr lang="en-US" sz="1500" dirty="0"/>
          </a:p>
          <a:p>
            <a:pPr marL="342900" indent="-342900">
              <a:spcAft>
                <a:spcPts val="800"/>
              </a:spcAft>
              <a:buSzPct val="100000"/>
              <a:buChar char="•"/>
            </a:pPr>
            <a:r>
              <a:rPr lang="en-US" sz="1500" dirty="0">
                <a:solidFill>
                  <a:srgbClr val="1E2230"/>
                </a:solidFill>
                <a:latin typeface="Calibri" pitchFamily="34" charset="0"/>
                <a:ea typeface="Calibri" pitchFamily="34" charset="-122"/>
                <a:cs typeface="Calibri" pitchFamily="34" charset="-120"/>
              </a:rPr>
              <a:t>Approves or rejects, with notes</a:t>
            </a:r>
            <a:endParaRPr lang="en-US" sz="1500" dirty="0"/>
          </a:p>
          <a:p>
            <a:pPr marL="342900" indent="-342900">
              <a:spcAft>
                <a:spcPts val="800"/>
              </a:spcAft>
              <a:buSzPct val="100000"/>
              <a:buChar char="•"/>
            </a:pPr>
            <a:r>
              <a:rPr lang="en-US" sz="1500" dirty="0">
                <a:solidFill>
                  <a:srgbClr val="1E2230"/>
                </a:solidFill>
                <a:latin typeface="Calibri" pitchFamily="34" charset="0"/>
                <a:ea typeface="Calibri" pitchFamily="34" charset="-122"/>
                <a:cs typeface="Calibri" pitchFamily="34" charset="-120"/>
              </a:rPr>
              <a:t>Dashboard: "TODO", then export and print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ctr"/>
          <a:lstStyle/>
          <a:p>
            <a:pPr indent="0" marL="0">
              <a:buNone/>
            </a:pPr>
            <a:r>
              <a:rPr lang="en-US" sz="3600" b="1" dirty="0">
                <a:solidFill>
                  <a:srgbClr val="00126B"/>
                </a:solidFill>
                <a:latin typeface="Calibri" pitchFamily="34" charset="0"/>
                <a:ea typeface="Calibri" pitchFamily="34" charset="-122"/>
                <a:cs typeface="Calibri" pitchFamily="34" charset="-120"/>
              </a:rPr>
              <a:t>What is inside</a:t>
            </a:r>
            <a:endParaRPr lang="en-US" sz="3600" dirty="0"/>
          </a:p>
        </p:txBody>
      </p:sp>
      <p:sp>
        <p:nvSpPr>
          <p:cNvPr id="3" name="Shape 1"/>
          <p:cNvSpPr/>
          <p:nvPr/>
        </p:nvSpPr>
        <p:spPr>
          <a:xfrm>
            <a:off x="548640" y="1280160"/>
            <a:ext cx="2560320" cy="1463040"/>
          </a:xfrm>
          <a:prstGeom prst="roundRect">
            <a:avLst>
              <a:gd name="adj" fmla="val 6250"/>
            </a:avLst>
          </a:prstGeom>
          <a:solidFill>
            <a:srgbClr val="FFFFFF"/>
          </a:solidFill>
          <a:ln w="12700">
            <a:solidFill>
              <a:srgbClr val="D5DCEA"/>
            </a:solidFill>
            <a:prstDash val="solid"/>
          </a:ln>
          <a:effectLst>
            <a:outerShdw sx="100000" sy="100000" kx="0" ky="0" algn="bl" rotWithShape="0" blurRad="50800" dist="19050" dir="5400000">
              <a:srgbClr val="000000">
                <a:alpha val="12000"/>
              </a:srgbClr>
            </a:outerShdw>
          </a:effectLst>
        </p:spPr>
      </p:sp>
      <p:sp>
        <p:nvSpPr>
          <p:cNvPr id="4" name="Shape 2"/>
          <p:cNvSpPr/>
          <p:nvPr/>
        </p:nvSpPr>
        <p:spPr>
          <a:xfrm>
            <a:off x="731520" y="1481328"/>
            <a:ext cx="502920" cy="502920"/>
          </a:xfrm>
          <a:prstGeom prst="ellipse">
            <a:avLst/>
          </a:prstGeom>
          <a:solidFill>
            <a:srgbClr val="00126B"/>
          </a:solidFill>
          <a:ln w="12700">
            <a:solidFill>
              <a:srgbClr val="00126B"/>
            </a:solidFill>
            <a:prstDash val="solid"/>
          </a:ln>
        </p:spPr>
      </p:sp>
      <p:pic>
        <p:nvPicPr>
          <p:cNvPr id="5" name="Image 0" descr="preencoded.png">    </p:cNvPr>
          <p:cNvPicPr>
            <a:picLocks noChangeAspect="1"/>
          </p:cNvPicPr>
          <p:nvPr/>
        </p:nvPicPr>
        <p:blipFill>
          <a:blip r:embed="rId1"/>
          <a:stretch>
            <a:fillRect/>
          </a:stretch>
        </p:blipFill>
        <p:spPr>
          <a:xfrm>
            <a:off x="862279" y="1612087"/>
            <a:ext cx="241402" cy="241402"/>
          </a:xfrm>
          <a:prstGeom prst="rect">
            <a:avLst/>
          </a:prstGeom>
        </p:spPr>
      </p:pic>
      <p:sp>
        <p:nvSpPr>
          <p:cNvPr id="6" name="Text 3"/>
          <p:cNvSpPr txBox="1"/>
          <p:nvPr/>
        </p:nvSpPr>
        <p:spPr>
          <a:xfrm>
            <a:off x="1353312" y="1554480"/>
            <a:ext cx="1645920" cy="365760"/>
          </a:xfrm>
          <a:prstGeom prst="rect">
            <a:avLst/>
          </a:prstGeom>
          <a:noFill/>
          <a:ln/>
        </p:spPr>
        <p:txBody>
          <a:bodyPr wrap="square" lIns="0" tIns="0" rIns="0" bIns="0" rtlCol="0" anchor="ctr"/>
          <a:lstStyle/>
          <a:p>
            <a:pPr indent="0" marL="0">
              <a:buNone/>
            </a:pPr>
            <a:r>
              <a:rPr lang="en-US" sz="1500" b="1" dirty="0">
                <a:solidFill>
                  <a:srgbClr val="1E2230"/>
                </a:solidFill>
                <a:latin typeface="Calibri" pitchFamily="34" charset="0"/>
                <a:ea typeface="Calibri" pitchFamily="34" charset="-122"/>
                <a:cs typeface="Calibri" pitchFamily="34" charset="-120"/>
              </a:rPr>
              <a:t>Role dashboards</a:t>
            </a:r>
            <a:endParaRPr lang="en-US" sz="1500" dirty="0"/>
          </a:p>
        </p:txBody>
      </p:sp>
      <p:sp>
        <p:nvSpPr>
          <p:cNvPr id="7" name="Text 4"/>
          <p:cNvSpPr txBox="1"/>
          <p:nvPr/>
        </p:nvSpPr>
        <p:spPr>
          <a:xfrm>
            <a:off x="731520" y="2084832"/>
            <a:ext cx="2240280" cy="566928"/>
          </a:xfrm>
          <a:prstGeom prst="rect">
            <a:avLst/>
          </a:prstGeom>
          <a:noFill/>
          <a:ln/>
        </p:spPr>
        <p:txBody>
          <a:bodyPr wrap="square" lIns="0" tIns="0" rIns="0" bIns="0" rtlCol="0" anchor="t"/>
          <a:lstStyle/>
          <a:p>
            <a:pPr indent="0" marL="0">
              <a:buNone/>
            </a:pPr>
            <a:r>
              <a:rPr lang="en-US" sz="1200" dirty="0">
                <a:solidFill>
                  <a:srgbClr val="5A6272"/>
                </a:solidFill>
                <a:latin typeface="Calibri" pitchFamily="34" charset="0"/>
                <a:ea typeface="Calibri" pitchFamily="34" charset="-122"/>
                <a:cs typeface="Calibri" pitchFamily="34" charset="-120"/>
              </a:rPr>
              <a:t>What needs action first, the latest updates and final decisions</a:t>
            </a:r>
            <a:endParaRPr lang="en-US" sz="1200" dirty="0"/>
          </a:p>
        </p:txBody>
      </p:sp>
      <p:sp>
        <p:nvSpPr>
          <p:cNvPr id="8" name="Shape 5"/>
          <p:cNvSpPr/>
          <p:nvPr/>
        </p:nvSpPr>
        <p:spPr>
          <a:xfrm>
            <a:off x="3264408" y="1280160"/>
            <a:ext cx="2560320" cy="1463040"/>
          </a:xfrm>
          <a:prstGeom prst="roundRect">
            <a:avLst>
              <a:gd name="adj" fmla="val 6250"/>
            </a:avLst>
          </a:prstGeom>
          <a:solidFill>
            <a:srgbClr val="FFFFFF"/>
          </a:solidFill>
          <a:ln w="12700">
            <a:solidFill>
              <a:srgbClr val="D5DCEA"/>
            </a:solidFill>
            <a:prstDash val="solid"/>
          </a:ln>
          <a:effectLst>
            <a:outerShdw sx="100000" sy="100000" kx="0" ky="0" algn="bl" rotWithShape="0" blurRad="50800" dist="19050" dir="5400000">
              <a:srgbClr val="000000">
                <a:alpha val="12000"/>
              </a:srgbClr>
            </a:outerShdw>
          </a:effectLst>
        </p:spPr>
      </p:sp>
      <p:sp>
        <p:nvSpPr>
          <p:cNvPr id="9" name="Shape 6"/>
          <p:cNvSpPr/>
          <p:nvPr/>
        </p:nvSpPr>
        <p:spPr>
          <a:xfrm>
            <a:off x="3447288" y="1481328"/>
            <a:ext cx="502920" cy="502920"/>
          </a:xfrm>
          <a:prstGeom prst="ellipse">
            <a:avLst/>
          </a:prstGeom>
          <a:solidFill>
            <a:srgbClr val="00126B"/>
          </a:solidFill>
          <a:ln w="12700">
            <a:solidFill>
              <a:srgbClr val="00126B"/>
            </a:solidFill>
            <a:prstDash val="solid"/>
          </a:ln>
        </p:spPr>
      </p:sp>
      <p:pic>
        <p:nvPicPr>
          <p:cNvPr id="10" name="Image 1" descr="preencoded.png">    </p:cNvPr>
          <p:cNvPicPr>
            <a:picLocks noChangeAspect="1"/>
          </p:cNvPicPr>
          <p:nvPr/>
        </p:nvPicPr>
        <p:blipFill>
          <a:blip r:embed="rId2"/>
          <a:stretch>
            <a:fillRect/>
          </a:stretch>
        </p:blipFill>
        <p:spPr>
          <a:xfrm>
            <a:off x="3578047" y="1612087"/>
            <a:ext cx="241402" cy="241402"/>
          </a:xfrm>
          <a:prstGeom prst="rect">
            <a:avLst/>
          </a:prstGeom>
        </p:spPr>
      </p:pic>
      <p:sp>
        <p:nvSpPr>
          <p:cNvPr id="11" name="Text 7"/>
          <p:cNvSpPr txBox="1"/>
          <p:nvPr/>
        </p:nvSpPr>
        <p:spPr>
          <a:xfrm>
            <a:off x="4069080" y="1554480"/>
            <a:ext cx="1645920" cy="365760"/>
          </a:xfrm>
          <a:prstGeom prst="rect">
            <a:avLst/>
          </a:prstGeom>
          <a:noFill/>
          <a:ln/>
        </p:spPr>
        <p:txBody>
          <a:bodyPr wrap="square" lIns="0" tIns="0" rIns="0" bIns="0" rtlCol="0" anchor="ctr"/>
          <a:lstStyle/>
          <a:p>
            <a:pPr indent="0" marL="0">
              <a:buNone/>
            </a:pPr>
            <a:r>
              <a:rPr lang="en-US" sz="1500" b="1" dirty="0">
                <a:solidFill>
                  <a:srgbClr val="1E2230"/>
                </a:solidFill>
                <a:latin typeface="Calibri" pitchFamily="34" charset="0"/>
                <a:ea typeface="Calibri" pitchFamily="34" charset="-122"/>
                <a:cs typeface="Calibri" pitchFamily="34" charset="-120"/>
              </a:rPr>
              <a:t>Validation checklist</a:t>
            </a:r>
            <a:endParaRPr lang="en-US" sz="1500" dirty="0"/>
          </a:p>
        </p:txBody>
      </p:sp>
      <p:sp>
        <p:nvSpPr>
          <p:cNvPr id="12" name="Text 8"/>
          <p:cNvSpPr txBox="1"/>
          <p:nvPr/>
        </p:nvSpPr>
        <p:spPr>
          <a:xfrm>
            <a:off x="3447288" y="2084832"/>
            <a:ext cx="2240280" cy="566928"/>
          </a:xfrm>
          <a:prstGeom prst="rect">
            <a:avLst/>
          </a:prstGeom>
          <a:noFill/>
          <a:ln/>
        </p:spPr>
        <p:txBody>
          <a:bodyPr wrap="square" lIns="0" tIns="0" rIns="0" bIns="0" rtlCol="0" anchor="t"/>
          <a:lstStyle/>
          <a:p>
            <a:pPr indent="0" marL="0">
              <a:buNone/>
            </a:pPr>
            <a:r>
              <a:rPr lang="en-US" sz="1200" dirty="0">
                <a:solidFill>
                  <a:srgbClr val="5A6272"/>
                </a:solidFill>
                <a:latin typeface="Calibri" pitchFamily="34" charset="0"/>
                <a:ea typeface="Calibri" pitchFamily="34" charset="-122"/>
                <a:cs typeface="Calibri" pitchFamily="34" charset="-120"/>
              </a:rPr>
              <a:t>Checks adapted to photo, video or podcast</a:t>
            </a:r>
            <a:endParaRPr lang="en-US" sz="1200" dirty="0"/>
          </a:p>
        </p:txBody>
      </p:sp>
      <p:sp>
        <p:nvSpPr>
          <p:cNvPr id="13" name="Shape 9"/>
          <p:cNvSpPr/>
          <p:nvPr/>
        </p:nvSpPr>
        <p:spPr>
          <a:xfrm>
            <a:off x="5980176" y="1280160"/>
            <a:ext cx="2560320" cy="1463040"/>
          </a:xfrm>
          <a:prstGeom prst="roundRect">
            <a:avLst>
              <a:gd name="adj" fmla="val 6250"/>
            </a:avLst>
          </a:prstGeom>
          <a:solidFill>
            <a:srgbClr val="FFFFFF"/>
          </a:solidFill>
          <a:ln w="12700">
            <a:solidFill>
              <a:srgbClr val="D5DCEA"/>
            </a:solidFill>
            <a:prstDash val="solid"/>
          </a:ln>
          <a:effectLst>
            <a:outerShdw sx="100000" sy="100000" kx="0" ky="0" algn="bl" rotWithShape="0" blurRad="50800" dist="19050" dir="5400000">
              <a:srgbClr val="000000">
                <a:alpha val="12000"/>
              </a:srgbClr>
            </a:outerShdw>
          </a:effectLst>
        </p:spPr>
      </p:sp>
      <p:sp>
        <p:nvSpPr>
          <p:cNvPr id="14" name="Shape 10"/>
          <p:cNvSpPr/>
          <p:nvPr/>
        </p:nvSpPr>
        <p:spPr>
          <a:xfrm>
            <a:off x="6163056" y="1481328"/>
            <a:ext cx="502920" cy="502920"/>
          </a:xfrm>
          <a:prstGeom prst="ellipse">
            <a:avLst/>
          </a:prstGeom>
          <a:solidFill>
            <a:srgbClr val="00126B"/>
          </a:solidFill>
          <a:ln w="12700">
            <a:solidFill>
              <a:srgbClr val="00126B"/>
            </a:solidFill>
            <a:prstDash val="solid"/>
          </a:ln>
        </p:spPr>
      </p:sp>
      <p:pic>
        <p:nvPicPr>
          <p:cNvPr id="15" name="Image 2" descr="preencoded.png">    </p:cNvPr>
          <p:cNvPicPr>
            <a:picLocks noChangeAspect="1"/>
          </p:cNvPicPr>
          <p:nvPr/>
        </p:nvPicPr>
        <p:blipFill>
          <a:blip r:embed="rId3"/>
          <a:stretch>
            <a:fillRect/>
          </a:stretch>
        </p:blipFill>
        <p:spPr>
          <a:xfrm>
            <a:off x="6293815" y="1612087"/>
            <a:ext cx="241402" cy="241402"/>
          </a:xfrm>
          <a:prstGeom prst="rect">
            <a:avLst/>
          </a:prstGeom>
        </p:spPr>
      </p:pic>
      <p:sp>
        <p:nvSpPr>
          <p:cNvPr id="16" name="Text 11"/>
          <p:cNvSpPr txBox="1"/>
          <p:nvPr/>
        </p:nvSpPr>
        <p:spPr>
          <a:xfrm>
            <a:off x="6784848" y="1554480"/>
            <a:ext cx="1645920" cy="365760"/>
          </a:xfrm>
          <a:prstGeom prst="rect">
            <a:avLst/>
          </a:prstGeom>
          <a:noFill/>
          <a:ln/>
        </p:spPr>
        <p:txBody>
          <a:bodyPr wrap="square" lIns="0" tIns="0" rIns="0" bIns="0" rtlCol="0" anchor="ctr"/>
          <a:lstStyle/>
          <a:p>
            <a:pPr indent="0" marL="0">
              <a:buNone/>
            </a:pPr>
            <a:r>
              <a:rPr lang="en-US" sz="1500" b="1" dirty="0">
                <a:solidFill>
                  <a:srgbClr val="1E2230"/>
                </a:solidFill>
                <a:latin typeface="Calibri" pitchFamily="34" charset="0"/>
                <a:ea typeface="Calibri" pitchFamily="34" charset="-122"/>
                <a:cs typeface="Calibri" pitchFamily="34" charset="-120"/>
              </a:rPr>
              <a:t>Files and previews</a:t>
            </a:r>
            <a:endParaRPr lang="en-US" sz="1500" dirty="0"/>
          </a:p>
        </p:txBody>
      </p:sp>
      <p:sp>
        <p:nvSpPr>
          <p:cNvPr id="17" name="Text 12"/>
          <p:cNvSpPr txBox="1"/>
          <p:nvPr/>
        </p:nvSpPr>
        <p:spPr>
          <a:xfrm>
            <a:off x="6163056" y="2084832"/>
            <a:ext cx="2240280" cy="566928"/>
          </a:xfrm>
          <a:prstGeom prst="rect">
            <a:avLst/>
          </a:prstGeom>
          <a:noFill/>
          <a:ln/>
        </p:spPr>
        <p:txBody>
          <a:bodyPr wrap="square" lIns="0" tIns="0" rIns="0" bIns="0" rtlCol="0" anchor="t"/>
          <a:lstStyle/>
          <a:p>
            <a:pPr indent="0" marL="0">
              <a:buNone/>
            </a:pPr>
            <a:r>
              <a:rPr lang="en-US" sz="1200" dirty="0">
                <a:solidFill>
                  <a:srgbClr val="5A6272"/>
                </a:solidFill>
                <a:latin typeface="Calibri" pitchFamily="34" charset="0"/>
                <a:ea typeface="Calibri" pitchFamily="34" charset="-122"/>
                <a:cs typeface="Calibri" pitchFamily="34" charset="-120"/>
              </a:rPr>
              <a:t>Contracts, releases, visuals and audio, with image preview</a:t>
            </a:r>
            <a:endParaRPr lang="en-US" sz="1200" dirty="0"/>
          </a:p>
        </p:txBody>
      </p:sp>
      <p:sp>
        <p:nvSpPr>
          <p:cNvPr id="18" name="Shape 13"/>
          <p:cNvSpPr/>
          <p:nvPr/>
        </p:nvSpPr>
        <p:spPr>
          <a:xfrm>
            <a:off x="548640" y="2926080"/>
            <a:ext cx="2560320" cy="1463040"/>
          </a:xfrm>
          <a:prstGeom prst="roundRect">
            <a:avLst>
              <a:gd name="adj" fmla="val 6250"/>
            </a:avLst>
          </a:prstGeom>
          <a:solidFill>
            <a:srgbClr val="FFFFFF"/>
          </a:solidFill>
          <a:ln w="12700">
            <a:solidFill>
              <a:srgbClr val="D5DCEA"/>
            </a:solidFill>
            <a:prstDash val="solid"/>
          </a:ln>
          <a:effectLst>
            <a:outerShdw sx="100000" sy="100000" kx="0" ky="0" algn="bl" rotWithShape="0" blurRad="50800" dist="19050" dir="5400000">
              <a:srgbClr val="000000">
                <a:alpha val="12000"/>
              </a:srgbClr>
            </a:outerShdw>
          </a:effectLst>
        </p:spPr>
      </p:sp>
      <p:sp>
        <p:nvSpPr>
          <p:cNvPr id="19" name="Shape 14"/>
          <p:cNvSpPr/>
          <p:nvPr/>
        </p:nvSpPr>
        <p:spPr>
          <a:xfrm>
            <a:off x="731520" y="3127248"/>
            <a:ext cx="502920" cy="502920"/>
          </a:xfrm>
          <a:prstGeom prst="ellipse">
            <a:avLst/>
          </a:prstGeom>
          <a:solidFill>
            <a:srgbClr val="D68C00"/>
          </a:solidFill>
          <a:ln w="12700">
            <a:solidFill>
              <a:srgbClr val="D68C00"/>
            </a:solidFill>
            <a:prstDash val="solid"/>
          </a:ln>
        </p:spPr>
      </p:sp>
      <p:pic>
        <p:nvPicPr>
          <p:cNvPr id="20" name="Image 3" descr="preencoded.png">    </p:cNvPr>
          <p:cNvPicPr>
            <a:picLocks noChangeAspect="1"/>
          </p:cNvPicPr>
          <p:nvPr/>
        </p:nvPicPr>
        <p:blipFill>
          <a:blip r:embed="rId4"/>
          <a:stretch>
            <a:fillRect/>
          </a:stretch>
        </p:blipFill>
        <p:spPr>
          <a:xfrm>
            <a:off x="862279" y="3258007"/>
            <a:ext cx="241402" cy="241402"/>
          </a:xfrm>
          <a:prstGeom prst="rect">
            <a:avLst/>
          </a:prstGeom>
        </p:spPr>
      </p:pic>
      <p:sp>
        <p:nvSpPr>
          <p:cNvPr id="21" name="Text 15"/>
          <p:cNvSpPr txBox="1"/>
          <p:nvPr/>
        </p:nvSpPr>
        <p:spPr>
          <a:xfrm>
            <a:off x="1353312" y="3200400"/>
            <a:ext cx="1645920" cy="365760"/>
          </a:xfrm>
          <a:prstGeom prst="rect">
            <a:avLst/>
          </a:prstGeom>
          <a:noFill/>
          <a:ln/>
        </p:spPr>
        <p:txBody>
          <a:bodyPr wrap="square" lIns="0" tIns="0" rIns="0" bIns="0" rtlCol="0" anchor="ctr"/>
          <a:lstStyle/>
          <a:p>
            <a:pPr indent="0" marL="0">
              <a:buNone/>
            </a:pPr>
            <a:r>
              <a:rPr lang="en-US" sz="1500" b="1" dirty="0">
                <a:solidFill>
                  <a:srgbClr val="1E2230"/>
                </a:solidFill>
                <a:latin typeface="Calibri" pitchFamily="34" charset="0"/>
                <a:ea typeface="Calibri" pitchFamily="34" charset="-122"/>
                <a:cs typeface="Calibri" pitchFamily="34" charset="-120"/>
              </a:rPr>
              <a:t>Alerts</a:t>
            </a:r>
            <a:endParaRPr lang="en-US" sz="1500" dirty="0"/>
          </a:p>
        </p:txBody>
      </p:sp>
      <p:sp>
        <p:nvSpPr>
          <p:cNvPr id="22" name="Text 16"/>
          <p:cNvSpPr txBox="1"/>
          <p:nvPr/>
        </p:nvSpPr>
        <p:spPr>
          <a:xfrm>
            <a:off x="731520" y="3730752"/>
            <a:ext cx="2240280" cy="566928"/>
          </a:xfrm>
          <a:prstGeom prst="rect">
            <a:avLst/>
          </a:prstGeom>
          <a:noFill/>
          <a:ln/>
        </p:spPr>
        <p:txBody>
          <a:bodyPr wrap="square" lIns="0" tIns="0" rIns="0" bIns="0" rtlCol="0" anchor="t"/>
          <a:lstStyle/>
          <a:p>
            <a:pPr indent="0" marL="0">
              <a:buNone/>
            </a:pPr>
            <a:r>
              <a:rPr lang="en-US" sz="1200" dirty="0">
                <a:solidFill>
                  <a:srgbClr val="5A6272"/>
                </a:solidFill>
                <a:latin typeface="Calibri" pitchFamily="34" charset="0"/>
                <a:ea typeface="Calibri" pitchFamily="34" charset="-122"/>
                <a:cs typeface="Calibri" pitchFamily="34" charset="-120"/>
              </a:rPr>
              <a:t>Red icons for fresh notes and shooting dates less than 7 days away</a:t>
            </a:r>
            <a:endParaRPr lang="en-US" sz="1200" dirty="0"/>
          </a:p>
        </p:txBody>
      </p:sp>
      <p:sp>
        <p:nvSpPr>
          <p:cNvPr id="23" name="Shape 17"/>
          <p:cNvSpPr/>
          <p:nvPr/>
        </p:nvSpPr>
        <p:spPr>
          <a:xfrm>
            <a:off x="3264408" y="2926080"/>
            <a:ext cx="2560320" cy="1463040"/>
          </a:xfrm>
          <a:prstGeom prst="roundRect">
            <a:avLst>
              <a:gd name="adj" fmla="val 6250"/>
            </a:avLst>
          </a:prstGeom>
          <a:solidFill>
            <a:srgbClr val="FFFFFF"/>
          </a:solidFill>
          <a:ln w="12700">
            <a:solidFill>
              <a:srgbClr val="D5DCEA"/>
            </a:solidFill>
            <a:prstDash val="solid"/>
          </a:ln>
          <a:effectLst>
            <a:outerShdw sx="100000" sy="100000" kx="0" ky="0" algn="bl" rotWithShape="0" blurRad="50800" dist="19050" dir="5400000">
              <a:srgbClr val="000000">
                <a:alpha val="12000"/>
              </a:srgbClr>
            </a:outerShdw>
          </a:effectLst>
        </p:spPr>
      </p:sp>
      <p:sp>
        <p:nvSpPr>
          <p:cNvPr id="24" name="Shape 18"/>
          <p:cNvSpPr/>
          <p:nvPr/>
        </p:nvSpPr>
        <p:spPr>
          <a:xfrm>
            <a:off x="3447288" y="3127248"/>
            <a:ext cx="502920" cy="502920"/>
          </a:xfrm>
          <a:prstGeom prst="ellipse">
            <a:avLst/>
          </a:prstGeom>
          <a:solidFill>
            <a:srgbClr val="00126B"/>
          </a:solidFill>
          <a:ln w="12700">
            <a:solidFill>
              <a:srgbClr val="00126B"/>
            </a:solidFill>
            <a:prstDash val="solid"/>
          </a:ln>
        </p:spPr>
      </p:sp>
      <p:pic>
        <p:nvPicPr>
          <p:cNvPr id="25" name="Image 4" descr="preencoded.png">    </p:cNvPr>
          <p:cNvPicPr>
            <a:picLocks noChangeAspect="1"/>
          </p:cNvPicPr>
          <p:nvPr/>
        </p:nvPicPr>
        <p:blipFill>
          <a:blip r:embed="rId5"/>
          <a:stretch>
            <a:fillRect/>
          </a:stretch>
        </p:blipFill>
        <p:spPr>
          <a:xfrm>
            <a:off x="3578047" y="3258007"/>
            <a:ext cx="241402" cy="241402"/>
          </a:xfrm>
          <a:prstGeom prst="rect">
            <a:avLst/>
          </a:prstGeom>
        </p:spPr>
      </p:pic>
      <p:sp>
        <p:nvSpPr>
          <p:cNvPr id="26" name="Text 19"/>
          <p:cNvSpPr txBox="1"/>
          <p:nvPr/>
        </p:nvSpPr>
        <p:spPr>
          <a:xfrm>
            <a:off x="4069080" y="3200400"/>
            <a:ext cx="1645920" cy="365760"/>
          </a:xfrm>
          <a:prstGeom prst="rect">
            <a:avLst/>
          </a:prstGeom>
          <a:noFill/>
          <a:ln/>
        </p:spPr>
        <p:txBody>
          <a:bodyPr wrap="square" lIns="0" tIns="0" rIns="0" bIns="0" rtlCol="0" anchor="ctr"/>
          <a:lstStyle/>
          <a:p>
            <a:pPr indent="0" marL="0">
              <a:buNone/>
            </a:pPr>
            <a:r>
              <a:rPr lang="en-US" sz="1500" b="1" dirty="0">
                <a:solidFill>
                  <a:srgbClr val="1E2230"/>
                </a:solidFill>
                <a:latin typeface="Calibri" pitchFamily="34" charset="0"/>
                <a:ea typeface="Calibri" pitchFamily="34" charset="-122"/>
                <a:cs typeface="Calibri" pitchFamily="34" charset="-120"/>
              </a:rPr>
              <a:t>Notifications</a:t>
            </a:r>
            <a:endParaRPr lang="en-US" sz="1500" dirty="0"/>
          </a:p>
        </p:txBody>
      </p:sp>
      <p:sp>
        <p:nvSpPr>
          <p:cNvPr id="27" name="Text 20"/>
          <p:cNvSpPr txBox="1"/>
          <p:nvPr/>
        </p:nvSpPr>
        <p:spPr>
          <a:xfrm>
            <a:off x="3447288" y="3730752"/>
            <a:ext cx="2240280" cy="566928"/>
          </a:xfrm>
          <a:prstGeom prst="rect">
            <a:avLst/>
          </a:prstGeom>
          <a:noFill/>
          <a:ln/>
        </p:spPr>
        <p:txBody>
          <a:bodyPr wrap="square" lIns="0" tIns="0" rIns="0" bIns="0" rtlCol="0" anchor="t"/>
          <a:lstStyle/>
          <a:p>
            <a:pPr indent="0" marL="0">
              <a:buNone/>
            </a:pPr>
            <a:r>
              <a:rPr lang="en-US" sz="1200" dirty="0">
                <a:solidFill>
                  <a:srgbClr val="5A6272"/>
                </a:solidFill>
                <a:latin typeface="Calibri" pitchFamily="34" charset="0"/>
                <a:ea typeface="Calibri" pitchFamily="34" charset="-122"/>
                <a:cs typeface="Calibri" pitchFamily="34" charset="-120"/>
              </a:rPr>
              <a:t>Power Automate emails on status changes and hand-overs</a:t>
            </a:r>
            <a:endParaRPr lang="en-US" sz="1200" dirty="0"/>
          </a:p>
        </p:txBody>
      </p:sp>
      <p:sp>
        <p:nvSpPr>
          <p:cNvPr id="28" name="Shape 21"/>
          <p:cNvSpPr/>
          <p:nvPr/>
        </p:nvSpPr>
        <p:spPr>
          <a:xfrm>
            <a:off x="5980176" y="2926080"/>
            <a:ext cx="2560320" cy="1463040"/>
          </a:xfrm>
          <a:prstGeom prst="roundRect">
            <a:avLst>
              <a:gd name="adj" fmla="val 6250"/>
            </a:avLst>
          </a:prstGeom>
          <a:solidFill>
            <a:srgbClr val="FFFFFF"/>
          </a:solidFill>
          <a:ln w="12700">
            <a:solidFill>
              <a:srgbClr val="D5DCEA"/>
            </a:solidFill>
            <a:prstDash val="solid"/>
          </a:ln>
          <a:effectLst>
            <a:outerShdw sx="100000" sy="100000" kx="0" ky="0" algn="bl" rotWithShape="0" blurRad="50800" dist="19050" dir="5400000">
              <a:srgbClr val="000000">
                <a:alpha val="12000"/>
              </a:srgbClr>
            </a:outerShdw>
          </a:effectLst>
        </p:spPr>
      </p:sp>
      <p:sp>
        <p:nvSpPr>
          <p:cNvPr id="29" name="Shape 22"/>
          <p:cNvSpPr/>
          <p:nvPr/>
        </p:nvSpPr>
        <p:spPr>
          <a:xfrm>
            <a:off x="6163056" y="3127248"/>
            <a:ext cx="502920" cy="502920"/>
          </a:xfrm>
          <a:prstGeom prst="ellipse">
            <a:avLst/>
          </a:prstGeom>
          <a:solidFill>
            <a:srgbClr val="00126B"/>
          </a:solidFill>
          <a:ln w="12700">
            <a:solidFill>
              <a:srgbClr val="00126B"/>
            </a:solidFill>
            <a:prstDash val="solid"/>
          </a:ln>
        </p:spPr>
      </p:sp>
      <p:pic>
        <p:nvPicPr>
          <p:cNvPr id="30" name="Image 5" descr="preencoded.png">    </p:cNvPr>
          <p:cNvPicPr>
            <a:picLocks noChangeAspect="1"/>
          </p:cNvPicPr>
          <p:nvPr/>
        </p:nvPicPr>
        <p:blipFill>
          <a:blip r:embed="rId6"/>
          <a:stretch>
            <a:fillRect/>
          </a:stretch>
        </p:blipFill>
        <p:spPr>
          <a:xfrm>
            <a:off x="6293815" y="3258007"/>
            <a:ext cx="241402" cy="241402"/>
          </a:xfrm>
          <a:prstGeom prst="rect">
            <a:avLst/>
          </a:prstGeom>
        </p:spPr>
      </p:pic>
      <p:sp>
        <p:nvSpPr>
          <p:cNvPr id="31" name="Text 23"/>
          <p:cNvSpPr txBox="1"/>
          <p:nvPr/>
        </p:nvSpPr>
        <p:spPr>
          <a:xfrm>
            <a:off x="6784848" y="3200400"/>
            <a:ext cx="1645920" cy="365760"/>
          </a:xfrm>
          <a:prstGeom prst="rect">
            <a:avLst/>
          </a:prstGeom>
          <a:noFill/>
          <a:ln/>
        </p:spPr>
        <p:txBody>
          <a:bodyPr wrap="square" lIns="0" tIns="0" rIns="0" bIns="0" rtlCol="0" anchor="ctr"/>
          <a:lstStyle/>
          <a:p>
            <a:pPr indent="0" marL="0">
              <a:buNone/>
            </a:pPr>
            <a:r>
              <a:rPr lang="en-US" sz="1500" b="1" dirty="0">
                <a:solidFill>
                  <a:srgbClr val="1E2230"/>
                </a:solidFill>
                <a:latin typeface="Calibri" pitchFamily="34" charset="0"/>
                <a:ea typeface="Calibri" pitchFamily="34" charset="-122"/>
                <a:cs typeface="Calibri" pitchFamily="34" charset="-120"/>
              </a:rPr>
              <a:t>Print and export</a:t>
            </a:r>
            <a:endParaRPr lang="en-US" sz="1500" dirty="0"/>
          </a:p>
        </p:txBody>
      </p:sp>
      <p:sp>
        <p:nvSpPr>
          <p:cNvPr id="32" name="Text 24"/>
          <p:cNvSpPr txBox="1"/>
          <p:nvPr/>
        </p:nvSpPr>
        <p:spPr>
          <a:xfrm>
            <a:off x="6163056" y="3730752"/>
            <a:ext cx="2240280" cy="566928"/>
          </a:xfrm>
          <a:prstGeom prst="rect">
            <a:avLst/>
          </a:prstGeom>
          <a:noFill/>
          <a:ln/>
        </p:spPr>
        <p:txBody>
          <a:bodyPr wrap="square" lIns="0" tIns="0" rIns="0" bIns="0" rtlCol="0" anchor="t"/>
          <a:lstStyle/>
          <a:p>
            <a:pPr indent="0" marL="0">
              <a:buNone/>
            </a:pPr>
            <a:r>
              <a:rPr lang="en-US" sz="1200" dirty="0">
                <a:solidFill>
                  <a:srgbClr val="5A6272"/>
                </a:solidFill>
                <a:latin typeface="Calibri" pitchFamily="34" charset="0"/>
                <a:ea typeface="Calibri" pitchFamily="34" charset="-122"/>
                <a:cs typeface="Calibri" pitchFamily="34" charset="-120"/>
              </a:rPr>
              <a:t>Each request with its media items on one page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126B"/>
        </a:solidFill>
      </p:bgPr>
    </p:bg>
    <p:spTree>
      <p:nvGrpSpPr>
        <p:cNvPr id="1" name=""/>
        <p:cNvGrpSpPr/>
        <p:nvPr/>
      </p:nvGrpSpPr>
      <p:grpSpPr>
        <a:xfrm>
          <a:off x="0" y="0"/>
          <a:ext cx="0" cy="0"/>
          <a:chOff x="0" y="0"/>
          <a:chExt cx="0" cy="0"/>
        </a:xfrm>
      </p:grpSpPr>
      <p:sp>
        <p:nvSpPr>
          <p:cNvPr id="2" name="Text 0"/>
          <p:cNvSpPr txBox="1"/>
          <p:nvPr/>
        </p:nvSpPr>
        <p:spPr>
          <a:xfrm>
            <a:off x="548640" y="411480"/>
            <a:ext cx="3931920" cy="5486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Built on Microsoft 365</a:t>
            </a:r>
            <a:endParaRPr lang="en-US" sz="3000" dirty="0"/>
          </a:p>
        </p:txBody>
      </p:sp>
      <p:sp>
        <p:nvSpPr>
          <p:cNvPr id="3" name="Shape 1"/>
          <p:cNvSpPr/>
          <p:nvPr/>
        </p:nvSpPr>
        <p:spPr>
          <a:xfrm>
            <a:off x="548640" y="1234440"/>
            <a:ext cx="566928" cy="566928"/>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696041" y="1381841"/>
            <a:ext cx="272125" cy="272125"/>
          </a:xfrm>
          <a:prstGeom prst="rect">
            <a:avLst/>
          </a:prstGeom>
        </p:spPr>
      </p:pic>
      <p:sp>
        <p:nvSpPr>
          <p:cNvPr id="5" name="Text 2"/>
          <p:cNvSpPr txBox="1"/>
          <p:nvPr/>
        </p:nvSpPr>
        <p:spPr>
          <a:xfrm>
            <a:off x="1280160" y="1216152"/>
            <a:ext cx="310896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Power Apps</a:t>
            </a:r>
            <a:endParaRPr lang="en-US" sz="1600" dirty="0"/>
          </a:p>
        </p:txBody>
      </p:sp>
      <p:sp>
        <p:nvSpPr>
          <p:cNvPr id="6" name="Text 3"/>
          <p:cNvSpPr txBox="1"/>
          <p:nvPr/>
        </p:nvSpPr>
        <p:spPr>
          <a:xfrm>
            <a:off x="1280160" y="1508760"/>
            <a:ext cx="3108960" cy="292608"/>
          </a:xfrm>
          <a:prstGeom prst="rect">
            <a:avLst/>
          </a:prstGeom>
          <a:noFill/>
          <a:ln/>
        </p:spPr>
        <p:txBody>
          <a:bodyPr wrap="square" lIns="0" tIns="0" rIns="0" bIns="0" rtlCol="0" anchor="ctr"/>
          <a:lstStyle/>
          <a:p>
            <a:pPr indent="0" marL="0">
              <a:buNone/>
            </a:pPr>
            <a:r>
              <a:rPr lang="en-US" sz="1300" dirty="0">
                <a:solidFill>
                  <a:srgbClr val="C9D5F2"/>
                </a:solidFill>
                <a:latin typeface="Calibri" pitchFamily="34" charset="0"/>
                <a:ea typeface="Calibri" pitchFamily="34" charset="-122"/>
                <a:cs typeface="Calibri" pitchFamily="34" charset="-120"/>
              </a:rPr>
              <a:t>Canvas app, one screen set for both roles</a:t>
            </a:r>
            <a:endParaRPr lang="en-US" sz="1300" dirty="0"/>
          </a:p>
        </p:txBody>
      </p:sp>
      <p:sp>
        <p:nvSpPr>
          <p:cNvPr id="7" name="Shape 4"/>
          <p:cNvSpPr/>
          <p:nvPr/>
        </p:nvSpPr>
        <p:spPr>
          <a:xfrm>
            <a:off x="548640" y="2148840"/>
            <a:ext cx="566928" cy="566928"/>
          </a:xfrm>
          <a:prstGeom prst="ellipse">
            <a:avLst/>
          </a:prstGeom>
          <a:solidFill>
            <a:srgbClr val="FFFFFF"/>
          </a:solidFill>
          <a:ln w="12700">
            <a:solidFill>
              <a:srgbClr val="FFFFFF"/>
            </a:solidFill>
            <a:prstDash val="solid"/>
          </a:ln>
        </p:spPr>
      </p:sp>
      <p:pic>
        <p:nvPicPr>
          <p:cNvPr id="8" name="Image 1" descr="preencoded.png">    </p:cNvPr>
          <p:cNvPicPr>
            <a:picLocks noChangeAspect="1"/>
          </p:cNvPicPr>
          <p:nvPr/>
        </p:nvPicPr>
        <p:blipFill>
          <a:blip r:embed="rId2"/>
          <a:stretch>
            <a:fillRect/>
          </a:stretch>
        </p:blipFill>
        <p:spPr>
          <a:xfrm>
            <a:off x="696041" y="2296241"/>
            <a:ext cx="272125" cy="272125"/>
          </a:xfrm>
          <a:prstGeom prst="rect">
            <a:avLst/>
          </a:prstGeom>
        </p:spPr>
      </p:pic>
      <p:sp>
        <p:nvSpPr>
          <p:cNvPr id="9" name="Text 5"/>
          <p:cNvSpPr txBox="1"/>
          <p:nvPr/>
        </p:nvSpPr>
        <p:spPr>
          <a:xfrm>
            <a:off x="1280160" y="2130552"/>
            <a:ext cx="310896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SharePoint lists</a:t>
            </a:r>
            <a:endParaRPr lang="en-US" sz="1600" dirty="0"/>
          </a:p>
        </p:txBody>
      </p:sp>
      <p:sp>
        <p:nvSpPr>
          <p:cNvPr id="10" name="Text 6"/>
          <p:cNvSpPr txBox="1"/>
          <p:nvPr/>
        </p:nvSpPr>
        <p:spPr>
          <a:xfrm>
            <a:off x="1280160" y="2423160"/>
            <a:ext cx="3108960" cy="292608"/>
          </a:xfrm>
          <a:prstGeom prst="rect">
            <a:avLst/>
          </a:prstGeom>
          <a:noFill/>
          <a:ln/>
        </p:spPr>
        <p:txBody>
          <a:bodyPr wrap="square" lIns="0" tIns="0" rIns="0" bIns="0" rtlCol="0" anchor="ctr"/>
          <a:lstStyle/>
          <a:p>
            <a:pPr indent="0" marL="0">
              <a:buNone/>
            </a:pPr>
            <a:r>
              <a:rPr lang="en-US" sz="1300" dirty="0">
                <a:solidFill>
                  <a:srgbClr val="C9D5F2"/>
                </a:solidFill>
                <a:latin typeface="Calibri" pitchFamily="34" charset="0"/>
                <a:ea typeface="Calibri" pitchFamily="34" charset="-122"/>
                <a:cs typeface="Calibri" pitchFamily="34" charset="-120"/>
              </a:rPr>
              <a:t>Requests, media items, roles</a:t>
            </a:r>
            <a:endParaRPr lang="en-US" sz="1300" dirty="0"/>
          </a:p>
        </p:txBody>
      </p:sp>
      <p:sp>
        <p:nvSpPr>
          <p:cNvPr id="11" name="Shape 7"/>
          <p:cNvSpPr/>
          <p:nvPr/>
        </p:nvSpPr>
        <p:spPr>
          <a:xfrm>
            <a:off x="548640" y="3063240"/>
            <a:ext cx="566928" cy="566928"/>
          </a:xfrm>
          <a:prstGeom prst="ellipse">
            <a:avLst/>
          </a:prstGeom>
          <a:solidFill>
            <a:srgbClr val="FFFFFF"/>
          </a:solidFill>
          <a:ln w="1270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696041" y="3210641"/>
            <a:ext cx="272125" cy="272125"/>
          </a:xfrm>
          <a:prstGeom prst="rect">
            <a:avLst/>
          </a:prstGeom>
        </p:spPr>
      </p:pic>
      <p:sp>
        <p:nvSpPr>
          <p:cNvPr id="13" name="Text 8"/>
          <p:cNvSpPr txBox="1"/>
          <p:nvPr/>
        </p:nvSpPr>
        <p:spPr>
          <a:xfrm>
            <a:off x="1280160" y="3044952"/>
            <a:ext cx="3108960" cy="310896"/>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Power Automate</a:t>
            </a:r>
            <a:endParaRPr lang="en-US" sz="1600" dirty="0"/>
          </a:p>
        </p:txBody>
      </p:sp>
      <p:sp>
        <p:nvSpPr>
          <p:cNvPr id="14" name="Text 9"/>
          <p:cNvSpPr txBox="1"/>
          <p:nvPr/>
        </p:nvSpPr>
        <p:spPr>
          <a:xfrm>
            <a:off x="1280160" y="3337560"/>
            <a:ext cx="3108960" cy="292608"/>
          </a:xfrm>
          <a:prstGeom prst="rect">
            <a:avLst/>
          </a:prstGeom>
          <a:noFill/>
          <a:ln/>
        </p:spPr>
        <p:txBody>
          <a:bodyPr wrap="square" lIns="0" tIns="0" rIns="0" bIns="0" rtlCol="0" anchor="ctr"/>
          <a:lstStyle/>
          <a:p>
            <a:pPr indent="0" marL="0">
              <a:buNone/>
            </a:pPr>
            <a:r>
              <a:rPr lang="en-US" sz="1300" dirty="0">
                <a:solidFill>
                  <a:srgbClr val="C9D5F2"/>
                </a:solidFill>
                <a:latin typeface="Calibri" pitchFamily="34" charset="0"/>
                <a:ea typeface="Calibri" pitchFamily="34" charset="-122"/>
                <a:cs typeface="Calibri" pitchFamily="34" charset="-120"/>
              </a:rPr>
              <a:t>Email notifications</a:t>
            </a:r>
            <a:endParaRPr lang="en-US" sz="1300" dirty="0"/>
          </a:p>
        </p:txBody>
      </p:sp>
      <p:sp>
        <p:nvSpPr>
          <p:cNvPr id="15" name="Shape 10"/>
          <p:cNvSpPr/>
          <p:nvPr/>
        </p:nvSpPr>
        <p:spPr>
          <a:xfrm>
            <a:off x="4846320" y="502920"/>
            <a:ext cx="3749040" cy="3246120"/>
          </a:xfrm>
          <a:prstGeom prst="roundRect">
            <a:avLst>
              <a:gd name="adj" fmla="val 3380"/>
            </a:avLst>
          </a:prstGeom>
          <a:solidFill>
            <a:srgbClr val="1A2C85"/>
          </a:solidFill>
          <a:ln w="12700">
            <a:solidFill>
              <a:srgbClr val="1A2C85"/>
            </a:solidFill>
            <a:prstDash val="solid"/>
          </a:ln>
        </p:spPr>
      </p:sp>
      <p:sp>
        <p:nvSpPr>
          <p:cNvPr id="16" name="Text 11"/>
          <p:cNvSpPr txBox="1"/>
          <p:nvPr/>
        </p:nvSpPr>
        <p:spPr>
          <a:xfrm>
            <a:off x="5166360" y="731520"/>
            <a:ext cx="32004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Next steps</a:t>
            </a:r>
            <a:endParaRPr lang="en-US" sz="2200" dirty="0"/>
          </a:p>
        </p:txBody>
      </p:sp>
      <p:sp>
        <p:nvSpPr>
          <p:cNvPr id="17" name="Shape 12"/>
          <p:cNvSpPr/>
          <p:nvPr/>
        </p:nvSpPr>
        <p:spPr>
          <a:xfrm>
            <a:off x="5166360" y="1417320"/>
            <a:ext cx="420624" cy="420624"/>
          </a:xfrm>
          <a:prstGeom prst="ellipse">
            <a:avLst/>
          </a:prstGeom>
          <a:solidFill>
            <a:srgbClr val="D68C00"/>
          </a:solidFill>
          <a:ln w="12700">
            <a:solidFill>
              <a:srgbClr val="D68C00"/>
            </a:solidFill>
            <a:prstDash val="solid"/>
          </a:ln>
        </p:spPr>
      </p:sp>
      <p:sp>
        <p:nvSpPr>
          <p:cNvPr id="18" name="Text 13"/>
          <p:cNvSpPr txBox="1"/>
          <p:nvPr/>
        </p:nvSpPr>
        <p:spPr>
          <a:xfrm>
            <a:off x="5166360" y="1417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9" name="Text 14"/>
          <p:cNvSpPr txBox="1"/>
          <p:nvPr/>
        </p:nvSpPr>
        <p:spPr>
          <a:xfrm>
            <a:off x="5760720" y="1399032"/>
            <a:ext cx="269748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Switch on the notification flows</a:t>
            </a:r>
            <a:endParaRPr lang="en-US" sz="1500" dirty="0"/>
          </a:p>
        </p:txBody>
      </p:sp>
      <p:sp>
        <p:nvSpPr>
          <p:cNvPr id="20" name="Shape 15"/>
          <p:cNvSpPr/>
          <p:nvPr/>
        </p:nvSpPr>
        <p:spPr>
          <a:xfrm>
            <a:off x="5166360" y="2130552"/>
            <a:ext cx="420624" cy="420624"/>
          </a:xfrm>
          <a:prstGeom prst="ellipse">
            <a:avLst/>
          </a:prstGeom>
          <a:solidFill>
            <a:srgbClr val="D68C00"/>
          </a:solidFill>
          <a:ln w="12700">
            <a:solidFill>
              <a:srgbClr val="D68C00"/>
            </a:solidFill>
            <a:prstDash val="solid"/>
          </a:ln>
        </p:spPr>
      </p:sp>
      <p:sp>
        <p:nvSpPr>
          <p:cNvPr id="21" name="Text 16"/>
          <p:cNvSpPr txBox="1"/>
          <p:nvPr/>
        </p:nvSpPr>
        <p:spPr>
          <a:xfrm>
            <a:off x="5166360" y="213055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txBox="1"/>
          <p:nvPr/>
        </p:nvSpPr>
        <p:spPr>
          <a:xfrm>
            <a:off x="5760720" y="2112264"/>
            <a:ext cx="269748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Test with requestors and administrators</a:t>
            </a:r>
            <a:endParaRPr lang="en-US" sz="1500" dirty="0"/>
          </a:p>
        </p:txBody>
      </p:sp>
      <p:sp>
        <p:nvSpPr>
          <p:cNvPr id="23" name="Shape 18"/>
          <p:cNvSpPr/>
          <p:nvPr/>
        </p:nvSpPr>
        <p:spPr>
          <a:xfrm>
            <a:off x="5166360" y="2843784"/>
            <a:ext cx="420624" cy="420624"/>
          </a:xfrm>
          <a:prstGeom prst="ellipse">
            <a:avLst/>
          </a:prstGeom>
          <a:solidFill>
            <a:srgbClr val="D68C00"/>
          </a:solidFill>
          <a:ln w="12700">
            <a:solidFill>
              <a:srgbClr val="D68C00"/>
            </a:solidFill>
            <a:prstDash val="solid"/>
          </a:ln>
        </p:spPr>
      </p:sp>
      <p:sp>
        <p:nvSpPr>
          <p:cNvPr id="24" name="Text 19"/>
          <p:cNvSpPr txBox="1"/>
          <p:nvPr/>
        </p:nvSpPr>
        <p:spPr>
          <a:xfrm>
            <a:off x="5166360" y="284378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txBox="1"/>
          <p:nvPr/>
        </p:nvSpPr>
        <p:spPr>
          <a:xfrm>
            <a:off x="5760720" y="2825496"/>
            <a:ext cx="2697480" cy="4572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Fix the findings, then go live</a:t>
            </a:r>
            <a:endParaRPr lang="en-US" sz="1500" dirty="0"/>
          </a:p>
        </p:txBody>
      </p:sp>
      <p:sp>
        <p:nvSpPr>
          <p:cNvPr id="26" name="Text 21"/>
          <p:cNvSpPr txBox="1"/>
          <p:nvPr/>
        </p:nvSpPr>
        <p:spPr>
          <a:xfrm>
            <a:off x="548640" y="4160520"/>
            <a:ext cx="80467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Thank you. 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Deposit Ticket System - project overview</dc:title>
  <dc:subject>PptxGenJS Presentation</dc:subject>
  <dc:creator>PptxGenJS</dc:creator>
  <cp:lastModifiedBy>PptxGenJS</cp:lastModifiedBy>
  <cp:revision>1</cp:revision>
  <dcterms:created xsi:type="dcterms:W3CDTF">2026-09-29T06:51:02Z</dcterms:created>
  <dcterms:modified xsi:type="dcterms:W3CDTF">2026-09-29T06:51:02Z</dcterms:modified>
</cp:coreProperties>
</file>