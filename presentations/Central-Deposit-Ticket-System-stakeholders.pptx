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your time. Today I will show you the Central Deposit Ticket System: the app we built for the AV Central Deposit of the Audiovisual Service. In about eight minutes you will see why we built it, how it works,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why. Before this app, deposits reached us through many channels: emails, shared drives, phone calls. Rights and legal documents were hard to check, and nobody could easily see where a request stood. So we set one goal: one place for every audiovisual deposit. Today, every production is one request, with its media items, its documents and a clear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runs on the tools we already have: Power Apps for the screens, SharePoint lists for the data, and Power Automate for e-mail notifications. Nothing new for our users to install or learn from scratch. It handles three production types: photo or reportage, video and podcast. And it serves two roles: requestors and administrators.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a request moves. A requestor creates a request and adds one or more media items. Each item is completed in four short tabs: Info, Metadata, Legal and Docs, and Validations. When it is ready, they submit it, and the status becomes Pending. An administrator reviews it, it moves to Processing, and it ends approved or rejected, and then published. At every moment, everyone can see exactly where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opens on its own dashboard. For requestors, the first list is Requires my attention: what they need to do now. For administrators, it is the TODO list: what waits for validation, oldest first, so nothing waits too long. Next to it, the five latest updates and the final decisions. Every list has a counter and an information icon that explains how it is sorted. In one glance, you know your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quality checks into the process, so problems are caught early, not at the end. Any mandatory field that is still empty gets a yellow border: you see straight away what is missing. The validation checklist adapts to photo, video or podcast. Legal checks cover the contract case, model releases, music licences and subtitle files. And image previews show if a visual has the right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small signals keep everyone on time. A notes icon on every request shows when there are notes to read. A bell shows the days left to the shooting or filming date, and it turns red when fewer than seven days remain. And e-mail notifications tell people when a status changes or a request is handed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made the app consistent. Every screen has the same header and the same menu. The menu shows each person only what their role allows. Administrators can jump from the review list straight into a request, and back again with one click. Numbers are short and readable, like 26-0001-01, and every request prints on one clear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are we? The app is built and has been refined in short, regular iterations. Our next steps are clear. One: test it with requestors and administrators. Two: switch on the e-mail notifications. Three: train the users and go live. And this is where you come in: we would really value your feedback before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Your feedback shapes the next version. I am happy to take your questions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26B"/>
        </a:solidFill>
      </p:bgPr>
    </p:bg>
    <p:spTree>
      <p:nvGrpSpPr>
        <p:cNvPr id="1" name=""/>
        <p:cNvGrpSpPr/>
        <p:nvPr/>
      </p:nvGrpSpPr>
      <p:grpSpPr>
        <a:xfrm>
          <a:off x="0" y="0"/>
          <a:ext cx="0" cy="0"/>
          <a:chOff x="0" y="0"/>
          <a:chExt cx="0" cy="0"/>
        </a:xfrm>
      </p:grpSpPr>
      <p:sp>
        <p:nvSpPr>
          <p:cNvPr id="2" name="Text 0"/>
          <p:cNvSpPr txBox="1"/>
          <p:nvPr/>
        </p:nvSpPr>
        <p:spPr>
          <a:xfrm>
            <a:off x="548640" y="640080"/>
            <a:ext cx="5486400" cy="274320"/>
          </a:xfrm>
          <a:prstGeom prst="rect">
            <a:avLst/>
          </a:prstGeom>
          <a:noFill/>
          <a:ln/>
        </p:spPr>
        <p:txBody>
          <a:bodyPr wrap="square" lIns="0" tIns="0" rIns="0" bIns="0" rtlCol="0" anchor="ctr"/>
          <a:lstStyle/>
          <a:p>
            <a:pPr indent="0" marL="0">
              <a:buNone/>
            </a:pPr>
            <a:r>
              <a:rPr lang="en-US" sz="1200" b="1" spc="200" kern="0" dirty="0">
                <a:solidFill>
                  <a:srgbClr val="AFC3F0"/>
                </a:solidFill>
                <a:latin typeface="Calibri" pitchFamily="34" charset="0"/>
                <a:ea typeface="Calibri" pitchFamily="34" charset="-122"/>
                <a:cs typeface="Calibri" pitchFamily="34" charset="-120"/>
              </a:rPr>
              <a:t>AV CENTRAL DEPOSIT  ·  DG COMM AUDIOVISUAL SERVICE</a:t>
            </a:r>
            <a:endParaRPr lang="en-US" sz="1200" dirty="0"/>
          </a:p>
        </p:txBody>
      </p:sp>
      <p:sp>
        <p:nvSpPr>
          <p:cNvPr id="3" name="Text 1"/>
          <p:cNvSpPr txBox="1"/>
          <p:nvPr/>
        </p:nvSpPr>
        <p:spPr>
          <a:xfrm>
            <a:off x="548640" y="1143000"/>
            <a:ext cx="5120640" cy="155448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Central Deposit</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Ticket System</a:t>
            </a:r>
            <a:endParaRPr lang="en-US" sz="4400" dirty="0"/>
          </a:p>
        </p:txBody>
      </p:sp>
      <p:sp>
        <p:nvSpPr>
          <p:cNvPr id="4" name="Text 2"/>
          <p:cNvSpPr txBox="1"/>
          <p:nvPr/>
        </p:nvSpPr>
        <p:spPr>
          <a:xfrm>
            <a:off x="548640" y="2880360"/>
            <a:ext cx="4937760" cy="457200"/>
          </a:xfrm>
          <a:prstGeom prst="rect">
            <a:avLst/>
          </a:prstGeom>
          <a:noFill/>
          <a:ln/>
        </p:spPr>
        <p:txBody>
          <a:bodyPr wrap="square" lIns="0" tIns="0" rIns="0" bIns="0" rtlCol="0" anchor="ctr"/>
          <a:lstStyle/>
          <a:p>
            <a:pPr indent="0" marL="0">
              <a:buNone/>
            </a:pPr>
            <a:r>
              <a:rPr lang="en-US" sz="1800" dirty="0">
                <a:solidFill>
                  <a:srgbClr val="DCE4F7"/>
                </a:solidFill>
                <a:latin typeface="Calibri" pitchFamily="34" charset="0"/>
                <a:ea typeface="Calibri" pitchFamily="34" charset="-122"/>
                <a:cs typeface="Calibri" pitchFamily="34" charset="-120"/>
              </a:rPr>
              <a:t>From request to archive, in one place.</a:t>
            </a:r>
            <a:endParaRPr lang="en-US" sz="1800" dirty="0"/>
          </a:p>
        </p:txBody>
      </p:sp>
      <p:sp>
        <p:nvSpPr>
          <p:cNvPr id="5" name="Text 3"/>
          <p:cNvSpPr txBox="1"/>
          <p:nvPr/>
        </p:nvSpPr>
        <p:spPr>
          <a:xfrm>
            <a:off x="548640" y="4206240"/>
            <a:ext cx="3657600" cy="320040"/>
          </a:xfrm>
          <a:prstGeom prst="rect">
            <a:avLst/>
          </a:prstGeom>
          <a:noFill/>
          <a:ln/>
        </p:spPr>
        <p:txBody>
          <a:bodyPr wrap="square" lIns="0" tIns="0" rIns="0" bIns="0" rtlCol="0" anchor="ctr"/>
          <a:lstStyle/>
          <a:p>
            <a:pPr indent="0" marL="0">
              <a:buNone/>
            </a:pPr>
            <a:r>
              <a:rPr lang="en-US" sz="1300" i="1" dirty="0">
                <a:solidFill>
                  <a:srgbClr val="AFC3F0"/>
                </a:solidFill>
                <a:latin typeface="Calibri" pitchFamily="34" charset="0"/>
                <a:ea typeface="Calibri" pitchFamily="34" charset="-122"/>
                <a:cs typeface="Calibri" pitchFamily="34" charset="-120"/>
              </a:rPr>
              <a:t>Stakeholder presentation</a:t>
            </a:r>
            <a:endParaRPr lang="en-US" sz="1300" dirty="0"/>
          </a:p>
        </p:txBody>
      </p:sp>
      <p:sp>
        <p:nvSpPr>
          <p:cNvPr id="6" name="Shape 4"/>
          <p:cNvSpPr/>
          <p:nvPr/>
        </p:nvSpPr>
        <p:spPr>
          <a:xfrm>
            <a:off x="6172200" y="868680"/>
            <a:ext cx="1234440" cy="1234440"/>
          </a:xfrm>
          <a:prstGeom prst="ellipse">
            <a:avLst/>
          </a:prstGeom>
          <a:solidFill>
            <a:srgbClr val="3860B2"/>
          </a:solidFill>
          <a:ln w="12700">
            <a:solidFill>
              <a:srgbClr val="3860B2"/>
            </a:solidFill>
            <a:prstDash val="solid"/>
          </a:ln>
        </p:spPr>
      </p:sp>
      <p:pic>
        <p:nvPicPr>
          <p:cNvPr id="7" name="Image 0" descr="preencoded.png">    </p:cNvPr>
          <p:cNvPicPr>
            <a:picLocks noChangeAspect="1"/>
          </p:cNvPicPr>
          <p:nvPr/>
        </p:nvPicPr>
        <p:blipFill>
          <a:blip r:embed="rId1"/>
          <a:stretch>
            <a:fillRect/>
          </a:stretch>
        </p:blipFill>
        <p:spPr>
          <a:xfrm>
            <a:off x="6493154" y="1189634"/>
            <a:ext cx="592531" cy="592531"/>
          </a:xfrm>
          <a:prstGeom prst="rect">
            <a:avLst/>
          </a:prstGeom>
        </p:spPr>
      </p:pic>
      <p:sp>
        <p:nvSpPr>
          <p:cNvPr id="8" name="Shape 5"/>
          <p:cNvSpPr/>
          <p:nvPr/>
        </p:nvSpPr>
        <p:spPr>
          <a:xfrm>
            <a:off x="7360920" y="1783080"/>
            <a:ext cx="1234440" cy="1234440"/>
          </a:xfrm>
          <a:prstGeom prst="ellipse">
            <a:avLst/>
          </a:prstGeom>
          <a:solidFill>
            <a:srgbClr val="D68C00"/>
          </a:solidFill>
          <a:ln w="12700">
            <a:solidFill>
              <a:srgbClr val="D68C00"/>
            </a:solidFill>
            <a:prstDash val="solid"/>
          </a:ln>
        </p:spPr>
      </p:sp>
      <p:pic>
        <p:nvPicPr>
          <p:cNvPr id="9" name="Image 1" descr="preencoded.png">    </p:cNvPr>
          <p:cNvPicPr>
            <a:picLocks noChangeAspect="1"/>
          </p:cNvPicPr>
          <p:nvPr/>
        </p:nvPicPr>
        <p:blipFill>
          <a:blip r:embed="rId2"/>
          <a:stretch>
            <a:fillRect/>
          </a:stretch>
        </p:blipFill>
        <p:spPr>
          <a:xfrm>
            <a:off x="7681874" y="2104034"/>
            <a:ext cx="592531" cy="592531"/>
          </a:xfrm>
          <a:prstGeom prst="rect">
            <a:avLst/>
          </a:prstGeom>
        </p:spPr>
      </p:pic>
      <p:sp>
        <p:nvSpPr>
          <p:cNvPr id="10" name="Shape 6"/>
          <p:cNvSpPr/>
          <p:nvPr/>
        </p:nvSpPr>
        <p:spPr>
          <a:xfrm>
            <a:off x="6172200" y="2697480"/>
            <a:ext cx="1234440" cy="1234440"/>
          </a:xfrm>
          <a:prstGeom prst="ellipse">
            <a:avLst/>
          </a:prstGeom>
          <a:solidFill>
            <a:srgbClr val="FFFFFF"/>
          </a:solidFill>
          <a:ln w="12700">
            <a:solidFill>
              <a:srgbClr val="FFFFFF"/>
            </a:solidFill>
            <a:prstDash val="solid"/>
          </a:ln>
        </p:spPr>
      </p:sp>
      <p:pic>
        <p:nvPicPr>
          <p:cNvPr id="11" name="Image 2" descr="preencoded.png">    </p:cNvPr>
          <p:cNvPicPr>
            <a:picLocks noChangeAspect="1"/>
          </p:cNvPicPr>
          <p:nvPr/>
        </p:nvPicPr>
        <p:blipFill>
          <a:blip r:embed="rId3"/>
          <a:stretch>
            <a:fillRect/>
          </a:stretch>
        </p:blipFill>
        <p:spPr>
          <a:xfrm>
            <a:off x="6493154" y="3018434"/>
            <a:ext cx="592531" cy="59253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indent="0" marL="0">
              <a:buNone/>
            </a:pPr>
            <a:r>
              <a:rPr lang="en-US" sz="3400" b="1" dirty="0">
                <a:solidFill>
                  <a:srgbClr val="00126B"/>
                </a:solidFill>
                <a:latin typeface="Calibri" pitchFamily="34" charset="0"/>
                <a:ea typeface="Calibri" pitchFamily="34" charset="-122"/>
                <a:cs typeface="Calibri" pitchFamily="34" charset="-120"/>
              </a:rPr>
              <a:t>Why we built it</a:t>
            </a:r>
            <a:endParaRPr lang="en-US" sz="3400" dirty="0"/>
          </a:p>
        </p:txBody>
      </p:sp>
      <p:sp>
        <p:nvSpPr>
          <p:cNvPr id="3" name="Shape 1"/>
          <p:cNvSpPr/>
          <p:nvPr/>
        </p:nvSpPr>
        <p:spPr>
          <a:xfrm>
            <a:off x="548640" y="1234440"/>
            <a:ext cx="3749040" cy="3291840"/>
          </a:xfrm>
          <a:prstGeom prst="roundRect">
            <a:avLst>
              <a:gd name="adj" fmla="val 3333"/>
            </a:avLst>
          </a:prstGeom>
          <a:solidFill>
            <a:srgbClr val="F2F3F5"/>
          </a:solidFill>
          <a:ln w="12700">
            <a:solidFill>
              <a:srgbClr val="F2F3F5"/>
            </a:solidFill>
            <a:prstDash val="solid"/>
          </a:ln>
        </p:spPr>
      </p:sp>
      <p:sp>
        <p:nvSpPr>
          <p:cNvPr id="4" name="Shape 2"/>
          <p:cNvSpPr/>
          <p:nvPr/>
        </p:nvSpPr>
        <p:spPr>
          <a:xfrm>
            <a:off x="4846320" y="1234440"/>
            <a:ext cx="3749040" cy="3291840"/>
          </a:xfrm>
          <a:prstGeom prst="roundRect">
            <a:avLst>
              <a:gd name="adj" fmla="val 3333"/>
            </a:avLst>
          </a:prstGeom>
          <a:solidFill>
            <a:srgbClr val="E6ECF5"/>
          </a:solidFill>
          <a:ln w="12700">
            <a:solidFill>
              <a:srgbClr val="E6ECF5"/>
            </a:solidFill>
            <a:prstDash val="solid"/>
          </a:ln>
        </p:spPr>
      </p:sp>
      <p:sp>
        <p:nvSpPr>
          <p:cNvPr id="5" name="Text 3"/>
          <p:cNvSpPr txBox="1"/>
          <p:nvPr/>
        </p:nvSpPr>
        <p:spPr>
          <a:xfrm>
            <a:off x="822960" y="1417320"/>
            <a:ext cx="3200400" cy="365760"/>
          </a:xfrm>
          <a:prstGeom prst="rect">
            <a:avLst/>
          </a:prstGeom>
          <a:noFill/>
          <a:ln/>
        </p:spPr>
        <p:txBody>
          <a:bodyPr wrap="square" lIns="0" tIns="0" rIns="0" bIns="0" rtlCol="0" anchor="ctr"/>
          <a:lstStyle/>
          <a:p>
            <a:pPr indent="0" marL="0">
              <a:buNone/>
            </a:pPr>
            <a:r>
              <a:rPr lang="en-US" sz="1800" b="1" dirty="0">
                <a:solidFill>
                  <a:srgbClr val="5A6272"/>
                </a:solidFill>
                <a:latin typeface="Calibri" pitchFamily="34" charset="0"/>
                <a:ea typeface="Calibri" pitchFamily="34" charset="-122"/>
                <a:cs typeface="Calibri" pitchFamily="34" charset="-120"/>
              </a:rPr>
              <a:t>Before</a:t>
            </a:r>
            <a:endParaRPr lang="en-US" sz="1800" dirty="0"/>
          </a:p>
        </p:txBody>
      </p:sp>
      <p:sp>
        <p:nvSpPr>
          <p:cNvPr id="6" name="Text 4"/>
          <p:cNvSpPr txBox="1"/>
          <p:nvPr/>
        </p:nvSpPr>
        <p:spPr>
          <a:xfrm>
            <a:off x="5120640" y="1417320"/>
            <a:ext cx="3200400" cy="365760"/>
          </a:xfrm>
          <a:prstGeom prst="rect">
            <a:avLst/>
          </a:prstGeom>
          <a:noFill/>
          <a:ln/>
        </p:spPr>
        <p:txBody>
          <a:bodyPr wrap="square" lIns="0" tIns="0" rIns="0" bIns="0" rtlCol="0" anchor="ctr"/>
          <a:lstStyle/>
          <a:p>
            <a:pPr indent="0" marL="0">
              <a:buNone/>
            </a:pPr>
            <a:r>
              <a:rPr lang="en-US" sz="1800" b="1" dirty="0">
                <a:solidFill>
                  <a:srgbClr val="00126B"/>
                </a:solidFill>
                <a:latin typeface="Calibri" pitchFamily="34" charset="0"/>
                <a:ea typeface="Calibri" pitchFamily="34" charset="-122"/>
                <a:cs typeface="Calibri" pitchFamily="34" charset="-120"/>
              </a:rPr>
              <a:t>Now</a:t>
            </a:r>
            <a:endParaRPr lang="en-US" sz="1800" dirty="0"/>
          </a:p>
        </p:txBody>
      </p:sp>
      <p:sp>
        <p:nvSpPr>
          <p:cNvPr id="7" name="Shape 5"/>
          <p:cNvSpPr/>
          <p:nvPr/>
        </p:nvSpPr>
        <p:spPr>
          <a:xfrm>
            <a:off x="822960" y="2011680"/>
            <a:ext cx="384048" cy="384048"/>
          </a:xfrm>
          <a:prstGeom prst="ellipse">
            <a:avLst/>
          </a:prstGeom>
          <a:solidFill>
            <a:srgbClr val="C9CDD4"/>
          </a:solidFill>
          <a:ln w="12700">
            <a:solidFill>
              <a:srgbClr val="C9CDD4"/>
            </a:solidFill>
            <a:prstDash val="solid"/>
          </a:ln>
        </p:spPr>
      </p:sp>
      <p:pic>
        <p:nvPicPr>
          <p:cNvPr id="8" name="Image 0" descr="preencoded.png">    </p:cNvPr>
          <p:cNvPicPr>
            <a:picLocks noChangeAspect="1"/>
          </p:cNvPicPr>
          <p:nvPr/>
        </p:nvPicPr>
        <p:blipFill>
          <a:blip r:embed="rId1"/>
          <a:stretch>
            <a:fillRect/>
          </a:stretch>
        </p:blipFill>
        <p:spPr>
          <a:xfrm>
            <a:off x="922812" y="2111532"/>
            <a:ext cx="184343" cy="184343"/>
          </a:xfrm>
          <a:prstGeom prst="rect">
            <a:avLst/>
          </a:prstGeom>
        </p:spPr>
      </p:pic>
      <p:sp>
        <p:nvSpPr>
          <p:cNvPr id="9" name="Text 6"/>
          <p:cNvSpPr txBox="1"/>
          <p:nvPr/>
        </p:nvSpPr>
        <p:spPr>
          <a:xfrm>
            <a:off x="1371600" y="2011680"/>
            <a:ext cx="2743200" cy="548640"/>
          </a:xfrm>
          <a:prstGeom prst="rect">
            <a:avLst/>
          </a:prstGeom>
          <a:noFill/>
          <a:ln/>
        </p:spPr>
        <p:txBody>
          <a:bodyPr wrap="square" lIns="0" tIns="0" rIns="0" bIns="0" rtlCol="0" anchor="t"/>
          <a:lstStyle/>
          <a:p>
            <a:pPr indent="0" marL="0">
              <a:buNone/>
            </a:pPr>
            <a:r>
              <a:rPr lang="en-US" sz="1400" dirty="0">
                <a:solidFill>
                  <a:srgbClr val="5A6272"/>
                </a:solidFill>
                <a:latin typeface="Calibri" pitchFamily="34" charset="0"/>
                <a:ea typeface="Calibri" pitchFamily="34" charset="-122"/>
                <a:cs typeface="Calibri" pitchFamily="34" charset="-120"/>
              </a:rPr>
              <a:t>Deposits arrived through many channels</a:t>
            </a:r>
            <a:endParaRPr lang="en-US" sz="1400" dirty="0"/>
          </a:p>
        </p:txBody>
      </p:sp>
      <p:sp>
        <p:nvSpPr>
          <p:cNvPr id="10" name="Shape 7"/>
          <p:cNvSpPr/>
          <p:nvPr/>
        </p:nvSpPr>
        <p:spPr>
          <a:xfrm>
            <a:off x="5120640" y="2011680"/>
            <a:ext cx="384048" cy="384048"/>
          </a:xfrm>
          <a:prstGeom prst="ellipse">
            <a:avLst/>
          </a:prstGeom>
          <a:solidFill>
            <a:srgbClr val="00126B"/>
          </a:solidFill>
          <a:ln w="12700">
            <a:solidFill>
              <a:srgbClr val="00126B"/>
            </a:solidFill>
            <a:prstDash val="solid"/>
          </a:ln>
        </p:spPr>
      </p:sp>
      <p:pic>
        <p:nvPicPr>
          <p:cNvPr id="11" name="Image 1" descr="preencoded.png">    </p:cNvPr>
          <p:cNvPicPr>
            <a:picLocks noChangeAspect="1"/>
          </p:cNvPicPr>
          <p:nvPr/>
        </p:nvPicPr>
        <p:blipFill>
          <a:blip r:embed="rId2"/>
          <a:stretch>
            <a:fillRect/>
          </a:stretch>
        </p:blipFill>
        <p:spPr>
          <a:xfrm>
            <a:off x="5220492" y="2111532"/>
            <a:ext cx="184343" cy="184343"/>
          </a:xfrm>
          <a:prstGeom prst="rect">
            <a:avLst/>
          </a:prstGeom>
        </p:spPr>
      </p:pic>
      <p:sp>
        <p:nvSpPr>
          <p:cNvPr id="12" name="Text 8"/>
          <p:cNvSpPr txBox="1"/>
          <p:nvPr/>
        </p:nvSpPr>
        <p:spPr>
          <a:xfrm>
            <a:off x="5669280" y="2011680"/>
            <a:ext cx="2743200" cy="548640"/>
          </a:xfrm>
          <a:prstGeom prst="rect">
            <a:avLst/>
          </a:prstGeom>
          <a:noFill/>
          <a:ln/>
        </p:spPr>
        <p:txBody>
          <a:bodyPr wrap="square" lIns="0" tIns="0" rIns="0" bIns="0" rtlCol="0" anchor="t"/>
          <a:lstStyle/>
          <a:p>
            <a:pPr indent="0" marL="0">
              <a:buNone/>
            </a:pPr>
            <a:r>
              <a:rPr lang="en-US" sz="1400" dirty="0">
                <a:solidFill>
                  <a:srgbClr val="1E2230"/>
                </a:solidFill>
                <a:latin typeface="Calibri" pitchFamily="34" charset="0"/>
                <a:ea typeface="Calibri" pitchFamily="34" charset="-122"/>
                <a:cs typeface="Calibri" pitchFamily="34" charset="-120"/>
              </a:rPr>
              <a:t>One request per production, with its media items</a:t>
            </a:r>
            <a:endParaRPr lang="en-US" sz="1400" dirty="0"/>
          </a:p>
        </p:txBody>
      </p:sp>
      <p:sp>
        <p:nvSpPr>
          <p:cNvPr id="13" name="Shape 9"/>
          <p:cNvSpPr/>
          <p:nvPr/>
        </p:nvSpPr>
        <p:spPr>
          <a:xfrm>
            <a:off x="822960" y="2834640"/>
            <a:ext cx="384048" cy="384048"/>
          </a:xfrm>
          <a:prstGeom prst="ellipse">
            <a:avLst/>
          </a:prstGeom>
          <a:solidFill>
            <a:srgbClr val="C9CDD4"/>
          </a:solidFill>
          <a:ln w="12700">
            <a:solidFill>
              <a:srgbClr val="C9CDD4"/>
            </a:solidFill>
            <a:prstDash val="solid"/>
          </a:ln>
        </p:spPr>
      </p:sp>
      <p:pic>
        <p:nvPicPr>
          <p:cNvPr id="14" name="Image 2" descr="preencoded.png">    </p:cNvPr>
          <p:cNvPicPr>
            <a:picLocks noChangeAspect="1"/>
          </p:cNvPicPr>
          <p:nvPr/>
        </p:nvPicPr>
        <p:blipFill>
          <a:blip r:embed="rId3"/>
          <a:stretch>
            <a:fillRect/>
          </a:stretch>
        </p:blipFill>
        <p:spPr>
          <a:xfrm>
            <a:off x="922812" y="2934492"/>
            <a:ext cx="184343" cy="184343"/>
          </a:xfrm>
          <a:prstGeom prst="rect">
            <a:avLst/>
          </a:prstGeom>
        </p:spPr>
      </p:pic>
      <p:sp>
        <p:nvSpPr>
          <p:cNvPr id="15" name="Text 10"/>
          <p:cNvSpPr txBox="1"/>
          <p:nvPr/>
        </p:nvSpPr>
        <p:spPr>
          <a:xfrm>
            <a:off x="1371600" y="2834640"/>
            <a:ext cx="2743200" cy="548640"/>
          </a:xfrm>
          <a:prstGeom prst="rect">
            <a:avLst/>
          </a:prstGeom>
          <a:noFill/>
          <a:ln/>
        </p:spPr>
        <p:txBody>
          <a:bodyPr wrap="square" lIns="0" tIns="0" rIns="0" bIns="0" rtlCol="0" anchor="t"/>
          <a:lstStyle/>
          <a:p>
            <a:pPr indent="0" marL="0">
              <a:buNone/>
            </a:pPr>
            <a:r>
              <a:rPr lang="en-US" sz="1400" dirty="0">
                <a:solidFill>
                  <a:srgbClr val="5A6272"/>
                </a:solidFill>
                <a:latin typeface="Calibri" pitchFamily="34" charset="0"/>
                <a:ea typeface="Calibri" pitchFamily="34" charset="-122"/>
                <a:cs typeface="Calibri" pitchFamily="34" charset="-120"/>
              </a:rPr>
              <a:t>Rights and documents were hard to check</a:t>
            </a:r>
            <a:endParaRPr lang="en-US" sz="1400" dirty="0"/>
          </a:p>
        </p:txBody>
      </p:sp>
      <p:sp>
        <p:nvSpPr>
          <p:cNvPr id="16" name="Shape 11"/>
          <p:cNvSpPr/>
          <p:nvPr/>
        </p:nvSpPr>
        <p:spPr>
          <a:xfrm>
            <a:off x="5120640" y="2834640"/>
            <a:ext cx="384048" cy="384048"/>
          </a:xfrm>
          <a:prstGeom prst="ellipse">
            <a:avLst/>
          </a:prstGeom>
          <a:solidFill>
            <a:srgbClr val="00126B"/>
          </a:solidFill>
          <a:ln w="12700">
            <a:solidFill>
              <a:srgbClr val="00126B"/>
            </a:solidFill>
            <a:prstDash val="solid"/>
          </a:ln>
        </p:spPr>
      </p:sp>
      <p:pic>
        <p:nvPicPr>
          <p:cNvPr id="17" name="Image 3" descr="preencoded.png">    </p:cNvPr>
          <p:cNvPicPr>
            <a:picLocks noChangeAspect="1"/>
          </p:cNvPicPr>
          <p:nvPr/>
        </p:nvPicPr>
        <p:blipFill>
          <a:blip r:embed="rId4"/>
          <a:stretch>
            <a:fillRect/>
          </a:stretch>
        </p:blipFill>
        <p:spPr>
          <a:xfrm>
            <a:off x="5220492" y="2934492"/>
            <a:ext cx="184343" cy="184343"/>
          </a:xfrm>
          <a:prstGeom prst="rect">
            <a:avLst/>
          </a:prstGeom>
        </p:spPr>
      </p:pic>
      <p:sp>
        <p:nvSpPr>
          <p:cNvPr id="18" name="Text 12"/>
          <p:cNvSpPr txBox="1"/>
          <p:nvPr/>
        </p:nvSpPr>
        <p:spPr>
          <a:xfrm>
            <a:off x="5669280" y="2834640"/>
            <a:ext cx="2743200" cy="548640"/>
          </a:xfrm>
          <a:prstGeom prst="rect">
            <a:avLst/>
          </a:prstGeom>
          <a:noFill/>
          <a:ln/>
        </p:spPr>
        <p:txBody>
          <a:bodyPr wrap="square" lIns="0" tIns="0" rIns="0" bIns="0" rtlCol="0" anchor="t"/>
          <a:lstStyle/>
          <a:p>
            <a:pPr indent="0" marL="0">
              <a:buNone/>
            </a:pPr>
            <a:r>
              <a:rPr lang="en-US" sz="1400" dirty="0">
                <a:solidFill>
                  <a:srgbClr val="1E2230"/>
                </a:solidFill>
                <a:latin typeface="Calibri" pitchFamily="34" charset="0"/>
                <a:ea typeface="Calibri" pitchFamily="34" charset="-122"/>
                <a:cs typeface="Calibri" pitchFamily="34" charset="-120"/>
              </a:rPr>
              <a:t>Legal checks captured and validated per item</a:t>
            </a:r>
            <a:endParaRPr lang="en-US" sz="1400" dirty="0"/>
          </a:p>
        </p:txBody>
      </p:sp>
      <p:sp>
        <p:nvSpPr>
          <p:cNvPr id="19" name="Shape 13"/>
          <p:cNvSpPr/>
          <p:nvPr/>
        </p:nvSpPr>
        <p:spPr>
          <a:xfrm>
            <a:off x="822960" y="3657600"/>
            <a:ext cx="384048" cy="384048"/>
          </a:xfrm>
          <a:prstGeom prst="ellipse">
            <a:avLst/>
          </a:prstGeom>
          <a:solidFill>
            <a:srgbClr val="C9CDD4"/>
          </a:solidFill>
          <a:ln w="12700">
            <a:solidFill>
              <a:srgbClr val="C9CDD4"/>
            </a:solidFill>
            <a:prstDash val="solid"/>
          </a:ln>
        </p:spPr>
      </p:sp>
      <p:pic>
        <p:nvPicPr>
          <p:cNvPr id="20" name="Image 4" descr="preencoded.png">    </p:cNvPr>
          <p:cNvPicPr>
            <a:picLocks noChangeAspect="1"/>
          </p:cNvPicPr>
          <p:nvPr/>
        </p:nvPicPr>
        <p:blipFill>
          <a:blip r:embed="rId5"/>
          <a:stretch>
            <a:fillRect/>
          </a:stretch>
        </p:blipFill>
        <p:spPr>
          <a:xfrm>
            <a:off x="922812" y="3757452"/>
            <a:ext cx="184343" cy="184343"/>
          </a:xfrm>
          <a:prstGeom prst="rect">
            <a:avLst/>
          </a:prstGeom>
        </p:spPr>
      </p:pic>
      <p:sp>
        <p:nvSpPr>
          <p:cNvPr id="21" name="Text 14"/>
          <p:cNvSpPr txBox="1"/>
          <p:nvPr/>
        </p:nvSpPr>
        <p:spPr>
          <a:xfrm>
            <a:off x="1371600" y="3657600"/>
            <a:ext cx="2743200" cy="548640"/>
          </a:xfrm>
          <a:prstGeom prst="rect">
            <a:avLst/>
          </a:prstGeom>
          <a:noFill/>
          <a:ln/>
        </p:spPr>
        <p:txBody>
          <a:bodyPr wrap="square" lIns="0" tIns="0" rIns="0" bIns="0" rtlCol="0" anchor="t"/>
          <a:lstStyle/>
          <a:p>
            <a:pPr indent="0" marL="0">
              <a:buNone/>
            </a:pPr>
            <a:r>
              <a:rPr lang="en-US" sz="1400" dirty="0">
                <a:solidFill>
                  <a:srgbClr val="5A6272"/>
                </a:solidFill>
                <a:latin typeface="Calibri" pitchFamily="34" charset="0"/>
                <a:ea typeface="Calibri" pitchFamily="34" charset="-122"/>
                <a:cs typeface="Calibri" pitchFamily="34" charset="-120"/>
              </a:rPr>
              <a:t>No one could see where a request stood</a:t>
            </a:r>
            <a:endParaRPr lang="en-US" sz="1400" dirty="0"/>
          </a:p>
        </p:txBody>
      </p:sp>
      <p:sp>
        <p:nvSpPr>
          <p:cNvPr id="22" name="Shape 15"/>
          <p:cNvSpPr/>
          <p:nvPr/>
        </p:nvSpPr>
        <p:spPr>
          <a:xfrm>
            <a:off x="5120640" y="3657600"/>
            <a:ext cx="384048" cy="384048"/>
          </a:xfrm>
          <a:prstGeom prst="ellipse">
            <a:avLst/>
          </a:prstGeom>
          <a:solidFill>
            <a:srgbClr val="00126B"/>
          </a:solidFill>
          <a:ln w="12700">
            <a:solidFill>
              <a:srgbClr val="00126B"/>
            </a:solidFill>
            <a:prstDash val="solid"/>
          </a:ln>
        </p:spPr>
      </p:sp>
      <p:pic>
        <p:nvPicPr>
          <p:cNvPr id="23" name="Image 5" descr="preencoded.png">    </p:cNvPr>
          <p:cNvPicPr>
            <a:picLocks noChangeAspect="1"/>
          </p:cNvPicPr>
          <p:nvPr/>
        </p:nvPicPr>
        <p:blipFill>
          <a:blip r:embed="rId6"/>
          <a:stretch>
            <a:fillRect/>
          </a:stretch>
        </p:blipFill>
        <p:spPr>
          <a:xfrm>
            <a:off x="5220492" y="3757452"/>
            <a:ext cx="184343" cy="184343"/>
          </a:xfrm>
          <a:prstGeom prst="rect">
            <a:avLst/>
          </a:prstGeom>
        </p:spPr>
      </p:pic>
      <p:sp>
        <p:nvSpPr>
          <p:cNvPr id="24" name="Text 16"/>
          <p:cNvSpPr txBox="1"/>
          <p:nvPr/>
        </p:nvSpPr>
        <p:spPr>
          <a:xfrm>
            <a:off x="5669280" y="3657600"/>
            <a:ext cx="2743200" cy="548640"/>
          </a:xfrm>
          <a:prstGeom prst="rect">
            <a:avLst/>
          </a:prstGeom>
          <a:noFill/>
          <a:ln/>
        </p:spPr>
        <p:txBody>
          <a:bodyPr wrap="square" lIns="0" tIns="0" rIns="0" bIns="0" rtlCol="0" anchor="t"/>
          <a:lstStyle/>
          <a:p>
            <a:pPr indent="0" marL="0">
              <a:buNone/>
            </a:pPr>
            <a:r>
              <a:rPr lang="en-US" sz="1400" dirty="0">
                <a:solidFill>
                  <a:srgbClr val="1E2230"/>
                </a:solidFill>
                <a:latin typeface="Calibri" pitchFamily="34" charset="0"/>
                <a:ea typeface="Calibri" pitchFamily="34" charset="-122"/>
                <a:cs typeface="Calibri" pitchFamily="34" charset="-120"/>
              </a:rPr>
              <a:t>A clear status, visible to everyone involved</a:t>
            </a:r>
            <a:endParaRPr lang="en-US" sz="1400" dirty="0"/>
          </a:p>
        </p:txBody>
      </p:sp>
      <p:pic>
        <p:nvPicPr>
          <p:cNvPr id="25" name="Image 6" descr="preencoded.png">    </p:cNvPr>
          <p:cNvPicPr>
            <a:picLocks noChangeAspect="1"/>
          </p:cNvPicPr>
          <p:nvPr/>
        </p:nvPicPr>
        <p:blipFill>
          <a:blip r:embed="rId7"/>
          <a:stretch>
            <a:fillRect/>
          </a:stretch>
        </p:blipFill>
        <p:spPr>
          <a:xfrm>
            <a:off x="4416552" y="2697480"/>
            <a:ext cx="310896" cy="3108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indent="0" marL="0">
              <a:buNone/>
            </a:pPr>
            <a:r>
              <a:rPr lang="en-US" sz="3400" b="1" dirty="0">
                <a:solidFill>
                  <a:srgbClr val="00126B"/>
                </a:solidFill>
                <a:latin typeface="Calibri" pitchFamily="34" charset="0"/>
                <a:ea typeface="Calibri" pitchFamily="34" charset="-122"/>
                <a:cs typeface="Calibri" pitchFamily="34" charset="-120"/>
              </a:rPr>
              <a:t>One app, on Microsoft 365</a:t>
            </a:r>
            <a:endParaRPr lang="en-US" sz="3400" dirty="0"/>
          </a:p>
        </p:txBody>
      </p:sp>
      <p:sp>
        <p:nvSpPr>
          <p:cNvPr id="3" name="Shape 1"/>
          <p:cNvSpPr/>
          <p:nvPr/>
        </p:nvSpPr>
        <p:spPr>
          <a:xfrm>
            <a:off x="548640" y="1234440"/>
            <a:ext cx="1874520" cy="1828800"/>
          </a:xfrm>
          <a:prstGeom prst="roundRect">
            <a:avLst>
              <a:gd name="adj" fmla="val 6000"/>
            </a:avLst>
          </a:prstGeom>
          <a:solidFill>
            <a:srgbClr val="E6ECF5"/>
          </a:solidFill>
          <a:ln w="12700">
            <a:solidFill>
              <a:srgbClr val="E6ECF5"/>
            </a:solidFill>
            <a:prstDash val="solid"/>
          </a:ln>
        </p:spPr>
      </p:sp>
      <p:sp>
        <p:nvSpPr>
          <p:cNvPr id="4" name="Text 2"/>
          <p:cNvSpPr txBox="1"/>
          <p:nvPr/>
        </p:nvSpPr>
        <p:spPr>
          <a:xfrm>
            <a:off x="548640" y="1325880"/>
            <a:ext cx="1874520" cy="868680"/>
          </a:xfrm>
          <a:prstGeom prst="rect">
            <a:avLst/>
          </a:prstGeom>
          <a:noFill/>
          <a:ln/>
        </p:spPr>
        <p:txBody>
          <a:bodyPr wrap="square" lIns="0" tIns="0" rIns="0" bIns="0" rtlCol="0" anchor="ctr"/>
          <a:lstStyle/>
          <a:p>
            <a:pPr algn="ctr" indent="0" marL="0">
              <a:buNone/>
            </a:pPr>
            <a:r>
              <a:rPr lang="en-US" sz="5400" b="1" dirty="0">
                <a:solidFill>
                  <a:srgbClr val="00126B"/>
                </a:solidFill>
                <a:latin typeface="Calibri" pitchFamily="34" charset="0"/>
                <a:ea typeface="Calibri" pitchFamily="34" charset="-122"/>
                <a:cs typeface="Calibri" pitchFamily="34" charset="-120"/>
              </a:rPr>
              <a:t>3</a:t>
            </a:r>
            <a:endParaRPr lang="en-US" sz="5400" dirty="0"/>
          </a:p>
        </p:txBody>
      </p:sp>
      <p:sp>
        <p:nvSpPr>
          <p:cNvPr id="5" name="Text 3"/>
          <p:cNvSpPr txBox="1"/>
          <p:nvPr/>
        </p:nvSpPr>
        <p:spPr>
          <a:xfrm>
            <a:off x="640080" y="2194560"/>
            <a:ext cx="1691640" cy="320040"/>
          </a:xfrm>
          <a:prstGeom prst="rect">
            <a:avLst/>
          </a:prstGeom>
          <a:noFill/>
          <a:ln/>
        </p:spPr>
        <p:txBody>
          <a:bodyPr wrap="square" lIns="0" tIns="0" rIns="0" bIns="0" rtlCol="0" anchor="ctr"/>
          <a:lstStyle/>
          <a:p>
            <a:pPr algn="ctr" indent="0" marL="0">
              <a:buNone/>
            </a:pPr>
            <a:r>
              <a:rPr lang="en-US" sz="1400" b="1" dirty="0">
                <a:solidFill>
                  <a:srgbClr val="1E2230"/>
                </a:solidFill>
                <a:latin typeface="Calibri" pitchFamily="34" charset="0"/>
                <a:ea typeface="Calibri" pitchFamily="34" charset="-122"/>
                <a:cs typeface="Calibri" pitchFamily="34" charset="-120"/>
              </a:rPr>
              <a:t>production types</a:t>
            </a:r>
            <a:endParaRPr lang="en-US" sz="1400" dirty="0"/>
          </a:p>
        </p:txBody>
      </p:sp>
      <p:sp>
        <p:nvSpPr>
          <p:cNvPr id="6" name="Text 4"/>
          <p:cNvSpPr txBox="1"/>
          <p:nvPr/>
        </p:nvSpPr>
        <p:spPr>
          <a:xfrm>
            <a:off x="640080" y="2514600"/>
            <a:ext cx="1691640" cy="457200"/>
          </a:xfrm>
          <a:prstGeom prst="rect">
            <a:avLst/>
          </a:prstGeom>
          <a:noFill/>
          <a:ln/>
        </p:spPr>
        <p:txBody>
          <a:bodyPr wrap="square" lIns="0" tIns="0" rIns="0" bIns="0" rtlCol="0" anchor="t"/>
          <a:lstStyle/>
          <a:p>
            <a:pPr algn="ctr" indent="0" marL="0">
              <a:buNone/>
            </a:pPr>
            <a:r>
              <a:rPr lang="en-US" sz="1100" dirty="0">
                <a:solidFill>
                  <a:srgbClr val="5A6272"/>
                </a:solidFill>
                <a:latin typeface="Calibri" pitchFamily="34" charset="0"/>
                <a:ea typeface="Calibri" pitchFamily="34" charset="-122"/>
                <a:cs typeface="Calibri" pitchFamily="34" charset="-120"/>
              </a:rPr>
              <a:t>Photo · Video · Podcast</a:t>
            </a:r>
            <a:endParaRPr lang="en-US" sz="1100" dirty="0"/>
          </a:p>
        </p:txBody>
      </p:sp>
      <p:sp>
        <p:nvSpPr>
          <p:cNvPr id="7" name="Shape 5"/>
          <p:cNvSpPr/>
          <p:nvPr/>
        </p:nvSpPr>
        <p:spPr>
          <a:xfrm>
            <a:off x="2606040" y="1234440"/>
            <a:ext cx="1874520" cy="1828800"/>
          </a:xfrm>
          <a:prstGeom prst="roundRect">
            <a:avLst>
              <a:gd name="adj" fmla="val 6000"/>
            </a:avLst>
          </a:prstGeom>
          <a:solidFill>
            <a:srgbClr val="E6ECF5"/>
          </a:solidFill>
          <a:ln w="12700">
            <a:solidFill>
              <a:srgbClr val="E6ECF5"/>
            </a:solidFill>
            <a:prstDash val="solid"/>
          </a:ln>
        </p:spPr>
      </p:sp>
      <p:sp>
        <p:nvSpPr>
          <p:cNvPr id="8" name="Text 6"/>
          <p:cNvSpPr txBox="1"/>
          <p:nvPr/>
        </p:nvSpPr>
        <p:spPr>
          <a:xfrm>
            <a:off x="2606040" y="1325880"/>
            <a:ext cx="1874520" cy="868680"/>
          </a:xfrm>
          <a:prstGeom prst="rect">
            <a:avLst/>
          </a:prstGeom>
          <a:noFill/>
          <a:ln/>
        </p:spPr>
        <p:txBody>
          <a:bodyPr wrap="square" lIns="0" tIns="0" rIns="0" bIns="0" rtlCol="0" anchor="ctr"/>
          <a:lstStyle/>
          <a:p>
            <a:pPr algn="ctr" indent="0" marL="0">
              <a:buNone/>
            </a:pPr>
            <a:r>
              <a:rPr lang="en-US" sz="5400" b="1" dirty="0">
                <a:solidFill>
                  <a:srgbClr val="00126B"/>
                </a:solidFill>
                <a:latin typeface="Calibri" pitchFamily="34" charset="0"/>
                <a:ea typeface="Calibri" pitchFamily="34" charset="-122"/>
                <a:cs typeface="Calibri" pitchFamily="34" charset="-120"/>
              </a:rPr>
              <a:t>2</a:t>
            </a:r>
            <a:endParaRPr lang="en-US" sz="5400" dirty="0"/>
          </a:p>
        </p:txBody>
      </p:sp>
      <p:sp>
        <p:nvSpPr>
          <p:cNvPr id="9" name="Text 7"/>
          <p:cNvSpPr txBox="1"/>
          <p:nvPr/>
        </p:nvSpPr>
        <p:spPr>
          <a:xfrm>
            <a:off x="2697480" y="2194560"/>
            <a:ext cx="1691640" cy="320040"/>
          </a:xfrm>
          <a:prstGeom prst="rect">
            <a:avLst/>
          </a:prstGeom>
          <a:noFill/>
          <a:ln/>
        </p:spPr>
        <p:txBody>
          <a:bodyPr wrap="square" lIns="0" tIns="0" rIns="0" bIns="0" rtlCol="0" anchor="ctr"/>
          <a:lstStyle/>
          <a:p>
            <a:pPr algn="ctr" indent="0" marL="0">
              <a:buNone/>
            </a:pPr>
            <a:r>
              <a:rPr lang="en-US" sz="1400" b="1" dirty="0">
                <a:solidFill>
                  <a:srgbClr val="1E2230"/>
                </a:solidFill>
                <a:latin typeface="Calibri" pitchFamily="34" charset="0"/>
                <a:ea typeface="Calibri" pitchFamily="34" charset="-122"/>
                <a:cs typeface="Calibri" pitchFamily="34" charset="-120"/>
              </a:rPr>
              <a:t>roles</a:t>
            </a:r>
            <a:endParaRPr lang="en-US" sz="1400" dirty="0"/>
          </a:p>
        </p:txBody>
      </p:sp>
      <p:sp>
        <p:nvSpPr>
          <p:cNvPr id="10" name="Text 8"/>
          <p:cNvSpPr txBox="1"/>
          <p:nvPr/>
        </p:nvSpPr>
        <p:spPr>
          <a:xfrm>
            <a:off x="2697480" y="2514600"/>
            <a:ext cx="1691640" cy="457200"/>
          </a:xfrm>
          <a:prstGeom prst="rect">
            <a:avLst/>
          </a:prstGeom>
          <a:noFill/>
          <a:ln/>
        </p:spPr>
        <p:txBody>
          <a:bodyPr wrap="square" lIns="0" tIns="0" rIns="0" bIns="0" rtlCol="0" anchor="t"/>
          <a:lstStyle/>
          <a:p>
            <a:pPr algn="ctr" indent="0" marL="0">
              <a:buNone/>
            </a:pPr>
            <a:r>
              <a:rPr lang="en-US" sz="1100" dirty="0">
                <a:solidFill>
                  <a:srgbClr val="5A6272"/>
                </a:solidFill>
                <a:latin typeface="Calibri" pitchFamily="34" charset="0"/>
                <a:ea typeface="Calibri" pitchFamily="34" charset="-122"/>
                <a:cs typeface="Calibri" pitchFamily="34" charset="-120"/>
              </a:rPr>
              <a:t>Requestor · Administrator</a:t>
            </a:r>
            <a:endParaRPr lang="en-US" sz="1100" dirty="0"/>
          </a:p>
        </p:txBody>
      </p:sp>
      <p:sp>
        <p:nvSpPr>
          <p:cNvPr id="11" name="Shape 9"/>
          <p:cNvSpPr/>
          <p:nvPr/>
        </p:nvSpPr>
        <p:spPr>
          <a:xfrm>
            <a:off x="4663440" y="1234440"/>
            <a:ext cx="1874520" cy="1828800"/>
          </a:xfrm>
          <a:prstGeom prst="roundRect">
            <a:avLst>
              <a:gd name="adj" fmla="val 6000"/>
            </a:avLst>
          </a:prstGeom>
          <a:solidFill>
            <a:srgbClr val="E6ECF5"/>
          </a:solidFill>
          <a:ln w="12700">
            <a:solidFill>
              <a:srgbClr val="E6ECF5"/>
            </a:solidFill>
            <a:prstDash val="solid"/>
          </a:ln>
        </p:spPr>
      </p:sp>
      <p:sp>
        <p:nvSpPr>
          <p:cNvPr id="12" name="Text 10"/>
          <p:cNvSpPr txBox="1"/>
          <p:nvPr/>
        </p:nvSpPr>
        <p:spPr>
          <a:xfrm>
            <a:off x="4663440" y="1325880"/>
            <a:ext cx="1874520" cy="868680"/>
          </a:xfrm>
          <a:prstGeom prst="rect">
            <a:avLst/>
          </a:prstGeom>
          <a:noFill/>
          <a:ln/>
        </p:spPr>
        <p:txBody>
          <a:bodyPr wrap="square" lIns="0" tIns="0" rIns="0" bIns="0" rtlCol="0" anchor="ctr"/>
          <a:lstStyle/>
          <a:p>
            <a:pPr algn="ctr" indent="0" marL="0">
              <a:buNone/>
            </a:pPr>
            <a:r>
              <a:rPr lang="en-US" sz="5400" b="1" dirty="0">
                <a:solidFill>
                  <a:srgbClr val="00126B"/>
                </a:solidFill>
                <a:latin typeface="Calibri" pitchFamily="34" charset="0"/>
                <a:ea typeface="Calibri" pitchFamily="34" charset="-122"/>
                <a:cs typeface="Calibri" pitchFamily="34" charset="-120"/>
              </a:rPr>
              <a:t>4</a:t>
            </a:r>
            <a:endParaRPr lang="en-US" sz="5400" dirty="0"/>
          </a:p>
        </p:txBody>
      </p:sp>
      <p:sp>
        <p:nvSpPr>
          <p:cNvPr id="13" name="Text 11"/>
          <p:cNvSpPr txBox="1"/>
          <p:nvPr/>
        </p:nvSpPr>
        <p:spPr>
          <a:xfrm>
            <a:off x="4754880" y="2194560"/>
            <a:ext cx="1691640" cy="320040"/>
          </a:xfrm>
          <a:prstGeom prst="rect">
            <a:avLst/>
          </a:prstGeom>
          <a:noFill/>
          <a:ln/>
        </p:spPr>
        <p:txBody>
          <a:bodyPr wrap="square" lIns="0" tIns="0" rIns="0" bIns="0" rtlCol="0" anchor="ctr"/>
          <a:lstStyle/>
          <a:p>
            <a:pPr algn="ctr" indent="0" marL="0">
              <a:buNone/>
            </a:pPr>
            <a:r>
              <a:rPr lang="en-US" sz="1400" b="1" dirty="0">
                <a:solidFill>
                  <a:srgbClr val="1E2230"/>
                </a:solidFill>
                <a:latin typeface="Calibri" pitchFamily="34" charset="0"/>
                <a:ea typeface="Calibri" pitchFamily="34" charset="-122"/>
                <a:cs typeface="Calibri" pitchFamily="34" charset="-120"/>
              </a:rPr>
              <a:t>steps per media item</a:t>
            </a:r>
            <a:endParaRPr lang="en-US" sz="1400" dirty="0"/>
          </a:p>
        </p:txBody>
      </p:sp>
      <p:sp>
        <p:nvSpPr>
          <p:cNvPr id="14" name="Text 12"/>
          <p:cNvSpPr txBox="1"/>
          <p:nvPr/>
        </p:nvSpPr>
        <p:spPr>
          <a:xfrm>
            <a:off x="4754880" y="2514600"/>
            <a:ext cx="1691640" cy="457200"/>
          </a:xfrm>
          <a:prstGeom prst="rect">
            <a:avLst/>
          </a:prstGeom>
          <a:noFill/>
          <a:ln/>
        </p:spPr>
        <p:txBody>
          <a:bodyPr wrap="square" lIns="0" tIns="0" rIns="0" bIns="0" rtlCol="0" anchor="t"/>
          <a:lstStyle/>
          <a:p>
            <a:pPr algn="ctr" indent="0" marL="0">
              <a:buNone/>
            </a:pPr>
            <a:r>
              <a:rPr lang="en-US" sz="1100" dirty="0">
                <a:solidFill>
                  <a:srgbClr val="5A6272"/>
                </a:solidFill>
                <a:latin typeface="Calibri" pitchFamily="34" charset="0"/>
                <a:ea typeface="Calibri" pitchFamily="34" charset="-122"/>
                <a:cs typeface="Calibri" pitchFamily="34" charset="-120"/>
              </a:rPr>
              <a:t>Info · Metadata · Legal · Validations</a:t>
            </a:r>
            <a:endParaRPr lang="en-US" sz="1100" dirty="0"/>
          </a:p>
        </p:txBody>
      </p:sp>
      <p:sp>
        <p:nvSpPr>
          <p:cNvPr id="15" name="Shape 13"/>
          <p:cNvSpPr/>
          <p:nvPr/>
        </p:nvSpPr>
        <p:spPr>
          <a:xfrm>
            <a:off x="6720840" y="1234440"/>
            <a:ext cx="1874520" cy="1828800"/>
          </a:xfrm>
          <a:prstGeom prst="roundRect">
            <a:avLst>
              <a:gd name="adj" fmla="val 6000"/>
            </a:avLst>
          </a:prstGeom>
          <a:solidFill>
            <a:srgbClr val="E6ECF5"/>
          </a:solidFill>
          <a:ln w="12700">
            <a:solidFill>
              <a:srgbClr val="E6ECF5"/>
            </a:solidFill>
            <a:prstDash val="solid"/>
          </a:ln>
        </p:spPr>
      </p:sp>
      <p:sp>
        <p:nvSpPr>
          <p:cNvPr id="16" name="Text 14"/>
          <p:cNvSpPr txBox="1"/>
          <p:nvPr/>
        </p:nvSpPr>
        <p:spPr>
          <a:xfrm>
            <a:off x="6720840" y="1325880"/>
            <a:ext cx="1874520" cy="868680"/>
          </a:xfrm>
          <a:prstGeom prst="rect">
            <a:avLst/>
          </a:prstGeom>
          <a:noFill/>
          <a:ln/>
        </p:spPr>
        <p:txBody>
          <a:bodyPr wrap="square" lIns="0" tIns="0" rIns="0" bIns="0" rtlCol="0" anchor="ctr"/>
          <a:lstStyle/>
          <a:p>
            <a:pPr algn="ctr" indent="0" marL="0">
              <a:buNone/>
            </a:pPr>
            <a:r>
              <a:rPr lang="en-US" sz="5400" b="1" dirty="0">
                <a:solidFill>
                  <a:srgbClr val="00126B"/>
                </a:solidFill>
                <a:latin typeface="Calibri" pitchFamily="34" charset="0"/>
                <a:ea typeface="Calibri" pitchFamily="34" charset="-122"/>
                <a:cs typeface="Calibri" pitchFamily="34" charset="-120"/>
              </a:rPr>
              <a:t>1</a:t>
            </a:r>
            <a:endParaRPr lang="en-US" sz="5400" dirty="0"/>
          </a:p>
        </p:txBody>
      </p:sp>
      <p:sp>
        <p:nvSpPr>
          <p:cNvPr id="17" name="Text 15"/>
          <p:cNvSpPr txBox="1"/>
          <p:nvPr/>
        </p:nvSpPr>
        <p:spPr>
          <a:xfrm>
            <a:off x="6812280" y="2194560"/>
            <a:ext cx="1691640" cy="320040"/>
          </a:xfrm>
          <a:prstGeom prst="rect">
            <a:avLst/>
          </a:prstGeom>
          <a:noFill/>
          <a:ln/>
        </p:spPr>
        <p:txBody>
          <a:bodyPr wrap="square" lIns="0" tIns="0" rIns="0" bIns="0" rtlCol="0" anchor="ctr"/>
          <a:lstStyle/>
          <a:p>
            <a:pPr algn="ctr" indent="0" marL="0">
              <a:buNone/>
            </a:pPr>
            <a:r>
              <a:rPr lang="en-US" sz="1400" b="1" dirty="0">
                <a:solidFill>
                  <a:srgbClr val="1E2230"/>
                </a:solidFill>
                <a:latin typeface="Calibri" pitchFamily="34" charset="0"/>
                <a:ea typeface="Calibri" pitchFamily="34" charset="-122"/>
                <a:cs typeface="Calibri" pitchFamily="34" charset="-120"/>
              </a:rPr>
              <a:t>place</a:t>
            </a:r>
            <a:endParaRPr lang="en-US" sz="1400" dirty="0"/>
          </a:p>
        </p:txBody>
      </p:sp>
      <p:sp>
        <p:nvSpPr>
          <p:cNvPr id="18" name="Text 16"/>
          <p:cNvSpPr txBox="1"/>
          <p:nvPr/>
        </p:nvSpPr>
        <p:spPr>
          <a:xfrm>
            <a:off x="6812280" y="2514600"/>
            <a:ext cx="1691640" cy="457200"/>
          </a:xfrm>
          <a:prstGeom prst="rect">
            <a:avLst/>
          </a:prstGeom>
          <a:noFill/>
          <a:ln/>
        </p:spPr>
        <p:txBody>
          <a:bodyPr wrap="square" lIns="0" tIns="0" rIns="0" bIns="0" rtlCol="0" anchor="t"/>
          <a:lstStyle/>
          <a:p>
            <a:pPr algn="ctr" indent="0" marL="0">
              <a:buNone/>
            </a:pPr>
            <a:r>
              <a:rPr lang="en-US" sz="1100" dirty="0">
                <a:solidFill>
                  <a:srgbClr val="5A6272"/>
                </a:solidFill>
                <a:latin typeface="Calibri" pitchFamily="34" charset="0"/>
                <a:ea typeface="Calibri" pitchFamily="34" charset="-122"/>
                <a:cs typeface="Calibri" pitchFamily="34" charset="-120"/>
              </a:rPr>
              <a:t>for every deposit</a:t>
            </a:r>
            <a:endParaRPr lang="en-US" sz="1100" dirty="0"/>
          </a:p>
        </p:txBody>
      </p:sp>
      <p:sp>
        <p:nvSpPr>
          <p:cNvPr id="19" name="Shape 17"/>
          <p:cNvSpPr/>
          <p:nvPr/>
        </p:nvSpPr>
        <p:spPr>
          <a:xfrm>
            <a:off x="548640" y="3429000"/>
            <a:ext cx="566928" cy="566928"/>
          </a:xfrm>
          <a:prstGeom prst="ellipse">
            <a:avLst/>
          </a:prstGeom>
          <a:solidFill>
            <a:srgbClr val="00126B"/>
          </a:solidFill>
          <a:ln w="12700">
            <a:solidFill>
              <a:srgbClr val="00126B"/>
            </a:solidFill>
            <a:prstDash val="solid"/>
          </a:ln>
        </p:spPr>
      </p:sp>
      <p:pic>
        <p:nvPicPr>
          <p:cNvPr id="20" name="Image 0" descr="preencoded.png">    </p:cNvPr>
          <p:cNvPicPr>
            <a:picLocks noChangeAspect="1"/>
          </p:cNvPicPr>
          <p:nvPr/>
        </p:nvPicPr>
        <p:blipFill>
          <a:blip r:embed="rId1"/>
          <a:stretch>
            <a:fillRect/>
          </a:stretch>
        </p:blipFill>
        <p:spPr>
          <a:xfrm>
            <a:off x="696041" y="3576401"/>
            <a:ext cx="272125" cy="272125"/>
          </a:xfrm>
          <a:prstGeom prst="rect">
            <a:avLst/>
          </a:prstGeom>
        </p:spPr>
      </p:pic>
      <p:sp>
        <p:nvSpPr>
          <p:cNvPr id="21" name="Text 18"/>
          <p:cNvSpPr txBox="1"/>
          <p:nvPr/>
        </p:nvSpPr>
        <p:spPr>
          <a:xfrm>
            <a:off x="1261872" y="3456432"/>
            <a:ext cx="1920240" cy="292608"/>
          </a:xfrm>
          <a:prstGeom prst="rect">
            <a:avLst/>
          </a:prstGeom>
          <a:noFill/>
          <a:ln/>
        </p:spPr>
        <p:txBody>
          <a:bodyPr wrap="square" lIns="0" tIns="0" rIns="0" bIns="0" rtlCol="0" anchor="ctr"/>
          <a:lstStyle/>
          <a:p>
            <a:pPr indent="0" marL="0">
              <a:buNone/>
            </a:pPr>
            <a:r>
              <a:rPr lang="en-US" sz="1600" b="1" dirty="0">
                <a:solidFill>
                  <a:srgbClr val="1E2230"/>
                </a:solidFill>
                <a:latin typeface="Calibri" pitchFamily="34" charset="0"/>
                <a:ea typeface="Calibri" pitchFamily="34" charset="-122"/>
                <a:cs typeface="Calibri" pitchFamily="34" charset="-120"/>
              </a:rPr>
              <a:t>Power Apps</a:t>
            </a:r>
            <a:endParaRPr lang="en-US" sz="1600" dirty="0"/>
          </a:p>
        </p:txBody>
      </p:sp>
      <p:sp>
        <p:nvSpPr>
          <p:cNvPr id="22" name="Text 19"/>
          <p:cNvSpPr txBox="1"/>
          <p:nvPr/>
        </p:nvSpPr>
        <p:spPr>
          <a:xfrm>
            <a:off x="1261872" y="3749040"/>
            <a:ext cx="1920240" cy="274320"/>
          </a:xfrm>
          <a:prstGeom prst="rect">
            <a:avLst/>
          </a:prstGeom>
          <a:noFill/>
          <a:ln/>
        </p:spPr>
        <p:txBody>
          <a:bodyPr wrap="square" lIns="0" tIns="0" rIns="0" bIns="0" rtlCol="0" anchor="ctr"/>
          <a:lstStyle/>
          <a:p>
            <a:pPr indent="0" marL="0">
              <a:buNone/>
            </a:pPr>
            <a:r>
              <a:rPr lang="en-US" sz="1300" dirty="0">
                <a:solidFill>
                  <a:srgbClr val="5A6272"/>
                </a:solidFill>
                <a:latin typeface="Calibri" pitchFamily="34" charset="0"/>
                <a:ea typeface="Calibri" pitchFamily="34" charset="-122"/>
                <a:cs typeface="Calibri" pitchFamily="34" charset="-120"/>
              </a:rPr>
              <a:t>the screens</a:t>
            </a:r>
            <a:endParaRPr lang="en-US" sz="1300" dirty="0"/>
          </a:p>
        </p:txBody>
      </p:sp>
      <p:sp>
        <p:nvSpPr>
          <p:cNvPr id="23" name="Shape 20"/>
          <p:cNvSpPr/>
          <p:nvPr/>
        </p:nvSpPr>
        <p:spPr>
          <a:xfrm>
            <a:off x="3291840" y="3429000"/>
            <a:ext cx="566928" cy="566928"/>
          </a:xfrm>
          <a:prstGeom prst="ellipse">
            <a:avLst/>
          </a:prstGeom>
          <a:solidFill>
            <a:srgbClr val="00126B"/>
          </a:solidFill>
          <a:ln w="12700">
            <a:solidFill>
              <a:srgbClr val="00126B"/>
            </a:solidFill>
            <a:prstDash val="solid"/>
          </a:ln>
        </p:spPr>
      </p:sp>
      <p:pic>
        <p:nvPicPr>
          <p:cNvPr id="24" name="Image 1" descr="preencoded.png">    </p:cNvPr>
          <p:cNvPicPr>
            <a:picLocks noChangeAspect="1"/>
          </p:cNvPicPr>
          <p:nvPr/>
        </p:nvPicPr>
        <p:blipFill>
          <a:blip r:embed="rId2"/>
          <a:stretch>
            <a:fillRect/>
          </a:stretch>
        </p:blipFill>
        <p:spPr>
          <a:xfrm>
            <a:off x="3439241" y="3576401"/>
            <a:ext cx="272125" cy="272125"/>
          </a:xfrm>
          <a:prstGeom prst="rect">
            <a:avLst/>
          </a:prstGeom>
        </p:spPr>
      </p:pic>
      <p:sp>
        <p:nvSpPr>
          <p:cNvPr id="25" name="Text 21"/>
          <p:cNvSpPr txBox="1"/>
          <p:nvPr/>
        </p:nvSpPr>
        <p:spPr>
          <a:xfrm>
            <a:off x="4005072" y="3456432"/>
            <a:ext cx="1920240" cy="292608"/>
          </a:xfrm>
          <a:prstGeom prst="rect">
            <a:avLst/>
          </a:prstGeom>
          <a:noFill/>
          <a:ln/>
        </p:spPr>
        <p:txBody>
          <a:bodyPr wrap="square" lIns="0" tIns="0" rIns="0" bIns="0" rtlCol="0" anchor="ctr"/>
          <a:lstStyle/>
          <a:p>
            <a:pPr indent="0" marL="0">
              <a:buNone/>
            </a:pPr>
            <a:r>
              <a:rPr lang="en-US" sz="1600" b="1" dirty="0">
                <a:solidFill>
                  <a:srgbClr val="1E2230"/>
                </a:solidFill>
                <a:latin typeface="Calibri" pitchFamily="34" charset="0"/>
                <a:ea typeface="Calibri" pitchFamily="34" charset="-122"/>
                <a:cs typeface="Calibri" pitchFamily="34" charset="-120"/>
              </a:rPr>
              <a:t>SharePoint</a:t>
            </a:r>
            <a:endParaRPr lang="en-US" sz="1600" dirty="0"/>
          </a:p>
        </p:txBody>
      </p:sp>
      <p:sp>
        <p:nvSpPr>
          <p:cNvPr id="26" name="Text 22"/>
          <p:cNvSpPr txBox="1"/>
          <p:nvPr/>
        </p:nvSpPr>
        <p:spPr>
          <a:xfrm>
            <a:off x="4005072" y="3749040"/>
            <a:ext cx="1920240" cy="274320"/>
          </a:xfrm>
          <a:prstGeom prst="rect">
            <a:avLst/>
          </a:prstGeom>
          <a:noFill/>
          <a:ln/>
        </p:spPr>
        <p:txBody>
          <a:bodyPr wrap="square" lIns="0" tIns="0" rIns="0" bIns="0" rtlCol="0" anchor="ctr"/>
          <a:lstStyle/>
          <a:p>
            <a:pPr indent="0" marL="0">
              <a:buNone/>
            </a:pPr>
            <a:r>
              <a:rPr lang="en-US" sz="1300" dirty="0">
                <a:solidFill>
                  <a:srgbClr val="5A6272"/>
                </a:solidFill>
                <a:latin typeface="Calibri" pitchFamily="34" charset="0"/>
                <a:ea typeface="Calibri" pitchFamily="34" charset="-122"/>
                <a:cs typeface="Calibri" pitchFamily="34" charset="-120"/>
              </a:rPr>
              <a:t>the data</a:t>
            </a:r>
            <a:endParaRPr lang="en-US" sz="1300" dirty="0"/>
          </a:p>
        </p:txBody>
      </p:sp>
      <p:sp>
        <p:nvSpPr>
          <p:cNvPr id="27" name="Shape 23"/>
          <p:cNvSpPr/>
          <p:nvPr/>
        </p:nvSpPr>
        <p:spPr>
          <a:xfrm>
            <a:off x="6035040" y="3429000"/>
            <a:ext cx="566928" cy="566928"/>
          </a:xfrm>
          <a:prstGeom prst="ellipse">
            <a:avLst/>
          </a:prstGeom>
          <a:solidFill>
            <a:srgbClr val="00126B"/>
          </a:solidFill>
          <a:ln w="12700">
            <a:solidFill>
              <a:srgbClr val="00126B"/>
            </a:solidFill>
            <a:prstDash val="solid"/>
          </a:ln>
        </p:spPr>
      </p:sp>
      <p:pic>
        <p:nvPicPr>
          <p:cNvPr id="28" name="Image 2" descr="preencoded.png">    </p:cNvPr>
          <p:cNvPicPr>
            <a:picLocks noChangeAspect="1"/>
          </p:cNvPicPr>
          <p:nvPr/>
        </p:nvPicPr>
        <p:blipFill>
          <a:blip r:embed="rId3"/>
          <a:stretch>
            <a:fillRect/>
          </a:stretch>
        </p:blipFill>
        <p:spPr>
          <a:xfrm>
            <a:off x="6182441" y="3576401"/>
            <a:ext cx="272125" cy="272125"/>
          </a:xfrm>
          <a:prstGeom prst="rect">
            <a:avLst/>
          </a:prstGeom>
        </p:spPr>
      </p:pic>
      <p:sp>
        <p:nvSpPr>
          <p:cNvPr id="29" name="Text 24"/>
          <p:cNvSpPr txBox="1"/>
          <p:nvPr/>
        </p:nvSpPr>
        <p:spPr>
          <a:xfrm>
            <a:off x="6748272" y="3456432"/>
            <a:ext cx="1920240" cy="292608"/>
          </a:xfrm>
          <a:prstGeom prst="rect">
            <a:avLst/>
          </a:prstGeom>
          <a:noFill/>
          <a:ln/>
        </p:spPr>
        <p:txBody>
          <a:bodyPr wrap="square" lIns="0" tIns="0" rIns="0" bIns="0" rtlCol="0" anchor="ctr"/>
          <a:lstStyle/>
          <a:p>
            <a:pPr indent="0" marL="0">
              <a:buNone/>
            </a:pPr>
            <a:r>
              <a:rPr lang="en-US" sz="1600" b="1" dirty="0">
                <a:solidFill>
                  <a:srgbClr val="1E2230"/>
                </a:solidFill>
                <a:latin typeface="Calibri" pitchFamily="34" charset="0"/>
                <a:ea typeface="Calibri" pitchFamily="34" charset="-122"/>
                <a:cs typeface="Calibri" pitchFamily="34" charset="-120"/>
              </a:rPr>
              <a:t>Power Automate</a:t>
            </a:r>
            <a:endParaRPr lang="en-US" sz="1600" dirty="0"/>
          </a:p>
        </p:txBody>
      </p:sp>
      <p:sp>
        <p:nvSpPr>
          <p:cNvPr id="30" name="Text 25"/>
          <p:cNvSpPr txBox="1"/>
          <p:nvPr/>
        </p:nvSpPr>
        <p:spPr>
          <a:xfrm>
            <a:off x="6748272" y="3749040"/>
            <a:ext cx="1920240" cy="274320"/>
          </a:xfrm>
          <a:prstGeom prst="rect">
            <a:avLst/>
          </a:prstGeom>
          <a:noFill/>
          <a:ln/>
        </p:spPr>
        <p:txBody>
          <a:bodyPr wrap="square" lIns="0" tIns="0" rIns="0" bIns="0" rtlCol="0" anchor="ctr"/>
          <a:lstStyle/>
          <a:p>
            <a:pPr indent="0" marL="0">
              <a:buNone/>
            </a:pPr>
            <a:r>
              <a:rPr lang="en-US" sz="1300" dirty="0">
                <a:solidFill>
                  <a:srgbClr val="5A6272"/>
                </a:solidFill>
                <a:latin typeface="Calibri" pitchFamily="34" charset="0"/>
                <a:ea typeface="Calibri" pitchFamily="34" charset="-122"/>
                <a:cs typeface="Calibri" pitchFamily="34" charset="-120"/>
              </a:rPr>
              <a:t>the e-mails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indent="0" marL="0">
              <a:buNone/>
            </a:pPr>
            <a:r>
              <a:rPr lang="en-US" sz="3400" b="1" dirty="0">
                <a:solidFill>
                  <a:srgbClr val="00126B"/>
                </a:solidFill>
                <a:latin typeface="Calibri" pitchFamily="34" charset="0"/>
                <a:ea typeface="Calibri" pitchFamily="34" charset="-122"/>
                <a:cs typeface="Calibri" pitchFamily="34" charset="-120"/>
              </a:rPr>
              <a:t>How a request flows</a:t>
            </a:r>
            <a:endParaRPr lang="en-US" sz="3400" dirty="0"/>
          </a:p>
        </p:txBody>
      </p:sp>
      <p:sp>
        <p:nvSpPr>
          <p:cNvPr id="3" name="Shape 1"/>
          <p:cNvSpPr/>
          <p:nvPr/>
        </p:nvSpPr>
        <p:spPr>
          <a:xfrm>
            <a:off x="548640" y="1280160"/>
            <a:ext cx="1499616" cy="2560320"/>
          </a:xfrm>
          <a:prstGeom prst="roundRect">
            <a:avLst>
              <a:gd name="adj" fmla="val 6098"/>
            </a:avLst>
          </a:prstGeom>
          <a:solidFill>
            <a:srgbClr val="E6ECF5"/>
          </a:solidFill>
          <a:ln w="12700">
            <a:solidFill>
              <a:srgbClr val="D5DCEA"/>
            </a:solidFill>
            <a:prstDash val="solid"/>
          </a:ln>
        </p:spPr>
      </p:sp>
      <p:sp>
        <p:nvSpPr>
          <p:cNvPr id="4" name="Shape 2"/>
          <p:cNvSpPr/>
          <p:nvPr/>
        </p:nvSpPr>
        <p:spPr>
          <a:xfrm>
            <a:off x="978408" y="1481328"/>
            <a:ext cx="640080" cy="640080"/>
          </a:xfrm>
          <a:prstGeom prst="ellipse">
            <a:avLst/>
          </a:prstGeom>
          <a:solidFill>
            <a:srgbClr val="00126B"/>
          </a:solidFill>
          <a:ln w="12700">
            <a:solidFill>
              <a:srgbClr val="00126B"/>
            </a:solidFill>
            <a:prstDash val="solid"/>
          </a:ln>
        </p:spPr>
      </p:sp>
      <p:pic>
        <p:nvPicPr>
          <p:cNvPr id="5" name="Image 0" descr="preencoded.png">    </p:cNvPr>
          <p:cNvPicPr>
            <a:picLocks noChangeAspect="1"/>
          </p:cNvPicPr>
          <p:nvPr/>
        </p:nvPicPr>
        <p:blipFill>
          <a:blip r:embed="rId1"/>
          <a:stretch>
            <a:fillRect/>
          </a:stretch>
        </p:blipFill>
        <p:spPr>
          <a:xfrm>
            <a:off x="1144829" y="1647749"/>
            <a:ext cx="307238" cy="307238"/>
          </a:xfrm>
          <a:prstGeom prst="rect">
            <a:avLst/>
          </a:prstGeom>
        </p:spPr>
      </p:pic>
      <p:sp>
        <p:nvSpPr>
          <p:cNvPr id="6" name="Text 3"/>
          <p:cNvSpPr txBox="1"/>
          <p:nvPr/>
        </p:nvSpPr>
        <p:spPr>
          <a:xfrm>
            <a:off x="640080" y="2240280"/>
            <a:ext cx="1316736" cy="329184"/>
          </a:xfrm>
          <a:prstGeom prst="rect">
            <a:avLst/>
          </a:prstGeom>
          <a:noFill/>
          <a:ln/>
        </p:spPr>
        <p:txBody>
          <a:bodyPr wrap="square" lIns="0" tIns="0" rIns="0" bIns="0" rtlCol="0" anchor="ctr"/>
          <a:lstStyle/>
          <a:p>
            <a:pPr algn="ctr" indent="0" marL="0">
              <a:buNone/>
            </a:pPr>
            <a:r>
              <a:rPr lang="en-US" sz="1600" b="1" dirty="0">
                <a:solidFill>
                  <a:srgbClr val="1E2230"/>
                </a:solidFill>
                <a:latin typeface="Calibri" pitchFamily="34" charset="0"/>
                <a:ea typeface="Calibri" pitchFamily="34" charset="-122"/>
                <a:cs typeface="Calibri" pitchFamily="34" charset="-120"/>
              </a:rPr>
              <a:t>1. Create</a:t>
            </a:r>
            <a:endParaRPr lang="en-US" sz="1600" dirty="0"/>
          </a:p>
        </p:txBody>
      </p:sp>
      <p:sp>
        <p:nvSpPr>
          <p:cNvPr id="7" name="Text 4"/>
          <p:cNvSpPr txBox="1"/>
          <p:nvPr/>
        </p:nvSpPr>
        <p:spPr>
          <a:xfrm>
            <a:off x="658368" y="2587752"/>
            <a:ext cx="1280160" cy="685800"/>
          </a:xfrm>
          <a:prstGeom prst="rect">
            <a:avLst/>
          </a:prstGeom>
          <a:noFill/>
          <a:ln/>
        </p:spPr>
        <p:txBody>
          <a:bodyPr wrap="square" lIns="0" tIns="0" rIns="0" bIns="0" rtlCol="0" anchor="t"/>
          <a:lstStyle/>
          <a:p>
            <a:pPr algn="ctr" indent="0" marL="0">
              <a:buNone/>
            </a:pPr>
            <a:r>
              <a:rPr lang="en-US" sz="1200" dirty="0">
                <a:solidFill>
                  <a:srgbClr val="5A6272"/>
                </a:solidFill>
                <a:latin typeface="Calibri" pitchFamily="34" charset="0"/>
                <a:ea typeface="Calibri" pitchFamily="34" charset="-122"/>
                <a:cs typeface="Calibri" pitchFamily="34" charset="-120"/>
              </a:rPr>
              <a:t>The requestor opens a request</a:t>
            </a:r>
            <a:endParaRPr lang="en-US" sz="1200" dirty="0"/>
          </a:p>
        </p:txBody>
      </p:sp>
      <p:sp>
        <p:nvSpPr>
          <p:cNvPr id="8" name="Shape 5"/>
          <p:cNvSpPr/>
          <p:nvPr/>
        </p:nvSpPr>
        <p:spPr>
          <a:xfrm>
            <a:off x="749808" y="3364992"/>
            <a:ext cx="1097280" cy="274320"/>
          </a:xfrm>
          <a:prstGeom prst="roundRect">
            <a:avLst>
              <a:gd name="adj" fmla="val 50000"/>
            </a:avLst>
          </a:prstGeom>
          <a:solidFill>
            <a:srgbClr val="808080"/>
          </a:solidFill>
          <a:ln w="12700">
            <a:solidFill>
              <a:srgbClr val="808080"/>
            </a:solidFill>
            <a:prstDash val="solid"/>
          </a:ln>
        </p:spPr>
      </p:sp>
      <p:sp>
        <p:nvSpPr>
          <p:cNvPr id="9" name="Text 6"/>
          <p:cNvSpPr txBox="1"/>
          <p:nvPr/>
        </p:nvSpPr>
        <p:spPr>
          <a:xfrm>
            <a:off x="749808" y="3364992"/>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Draft</a:t>
            </a:r>
            <a:endParaRPr lang="en-US" sz="1100" dirty="0"/>
          </a:p>
        </p:txBody>
      </p:sp>
      <p:sp>
        <p:nvSpPr>
          <p:cNvPr id="10" name="Text 7"/>
          <p:cNvSpPr txBox="1"/>
          <p:nvPr/>
        </p:nvSpPr>
        <p:spPr>
          <a:xfrm>
            <a:off x="2029968" y="2286000"/>
            <a:ext cx="173736" cy="365760"/>
          </a:xfrm>
          <a:prstGeom prst="rect">
            <a:avLst/>
          </a:prstGeom>
          <a:noFill/>
          <a:ln/>
        </p:spPr>
        <p:txBody>
          <a:bodyPr wrap="square" lIns="0" tIns="0" rIns="0" bIns="0" rtlCol="0" anchor="ctr"/>
          <a:lstStyle/>
          <a:p>
            <a:pPr algn="ctr" indent="0" marL="0">
              <a:buNone/>
            </a:pPr>
            <a:r>
              <a:rPr lang="en-US" sz="2200" b="1" dirty="0">
                <a:solidFill>
                  <a:srgbClr val="3860B2"/>
                </a:solidFill>
                <a:latin typeface="Calibri" pitchFamily="34" charset="0"/>
                <a:ea typeface="Calibri" pitchFamily="34" charset="-122"/>
                <a:cs typeface="Calibri" pitchFamily="34" charset="-120"/>
              </a:rPr>
              <a:t>›</a:t>
            </a:r>
            <a:endParaRPr lang="en-US" sz="2200" dirty="0"/>
          </a:p>
        </p:txBody>
      </p:sp>
      <p:sp>
        <p:nvSpPr>
          <p:cNvPr id="11" name="Shape 8"/>
          <p:cNvSpPr/>
          <p:nvPr/>
        </p:nvSpPr>
        <p:spPr>
          <a:xfrm>
            <a:off x="2185416" y="1280160"/>
            <a:ext cx="1499616" cy="2560320"/>
          </a:xfrm>
          <a:prstGeom prst="roundRect">
            <a:avLst>
              <a:gd name="adj" fmla="val 6098"/>
            </a:avLst>
          </a:prstGeom>
          <a:solidFill>
            <a:srgbClr val="FFFFFF"/>
          </a:solidFill>
          <a:ln w="12700">
            <a:solidFill>
              <a:srgbClr val="D5DCEA"/>
            </a:solidFill>
            <a:prstDash val="solid"/>
          </a:ln>
        </p:spPr>
      </p:sp>
      <p:sp>
        <p:nvSpPr>
          <p:cNvPr id="12" name="Shape 9"/>
          <p:cNvSpPr/>
          <p:nvPr/>
        </p:nvSpPr>
        <p:spPr>
          <a:xfrm>
            <a:off x="2615184" y="1481328"/>
            <a:ext cx="640080" cy="640080"/>
          </a:xfrm>
          <a:prstGeom prst="ellipse">
            <a:avLst/>
          </a:prstGeom>
          <a:solidFill>
            <a:srgbClr val="00126B"/>
          </a:solidFill>
          <a:ln w="12700">
            <a:solidFill>
              <a:srgbClr val="00126B"/>
            </a:solidFill>
            <a:prstDash val="solid"/>
          </a:ln>
        </p:spPr>
      </p:sp>
      <p:pic>
        <p:nvPicPr>
          <p:cNvPr id="13" name="Image 1" descr="preencoded.png">    </p:cNvPr>
          <p:cNvPicPr>
            <a:picLocks noChangeAspect="1"/>
          </p:cNvPicPr>
          <p:nvPr/>
        </p:nvPicPr>
        <p:blipFill>
          <a:blip r:embed="rId2"/>
          <a:stretch>
            <a:fillRect/>
          </a:stretch>
        </p:blipFill>
        <p:spPr>
          <a:xfrm>
            <a:off x="2781605" y="1647749"/>
            <a:ext cx="307238" cy="307238"/>
          </a:xfrm>
          <a:prstGeom prst="rect">
            <a:avLst/>
          </a:prstGeom>
        </p:spPr>
      </p:pic>
      <p:sp>
        <p:nvSpPr>
          <p:cNvPr id="14" name="Text 10"/>
          <p:cNvSpPr txBox="1"/>
          <p:nvPr/>
        </p:nvSpPr>
        <p:spPr>
          <a:xfrm>
            <a:off x="2276856" y="2240280"/>
            <a:ext cx="1316736" cy="329184"/>
          </a:xfrm>
          <a:prstGeom prst="rect">
            <a:avLst/>
          </a:prstGeom>
          <a:noFill/>
          <a:ln/>
        </p:spPr>
        <p:txBody>
          <a:bodyPr wrap="square" lIns="0" tIns="0" rIns="0" bIns="0" rtlCol="0" anchor="ctr"/>
          <a:lstStyle/>
          <a:p>
            <a:pPr algn="ctr" indent="0" marL="0">
              <a:buNone/>
            </a:pPr>
            <a:r>
              <a:rPr lang="en-US" sz="1600" b="1" dirty="0">
                <a:solidFill>
                  <a:srgbClr val="1E2230"/>
                </a:solidFill>
                <a:latin typeface="Calibri" pitchFamily="34" charset="0"/>
                <a:ea typeface="Calibri" pitchFamily="34" charset="-122"/>
                <a:cs typeface="Calibri" pitchFamily="34" charset="-120"/>
              </a:rPr>
              <a:t>2. Add media</a:t>
            </a:r>
            <a:endParaRPr lang="en-US" sz="1600" dirty="0"/>
          </a:p>
        </p:txBody>
      </p:sp>
      <p:sp>
        <p:nvSpPr>
          <p:cNvPr id="15" name="Text 11"/>
          <p:cNvSpPr txBox="1"/>
          <p:nvPr/>
        </p:nvSpPr>
        <p:spPr>
          <a:xfrm>
            <a:off x="2295144" y="2587752"/>
            <a:ext cx="1280160" cy="685800"/>
          </a:xfrm>
          <a:prstGeom prst="rect">
            <a:avLst/>
          </a:prstGeom>
          <a:noFill/>
          <a:ln/>
        </p:spPr>
        <p:txBody>
          <a:bodyPr wrap="square" lIns="0" tIns="0" rIns="0" bIns="0" rtlCol="0" anchor="t"/>
          <a:lstStyle/>
          <a:p>
            <a:pPr algn="ctr" indent="0" marL="0">
              <a:buNone/>
            </a:pPr>
            <a:r>
              <a:rPr lang="en-US" sz="1200" dirty="0">
                <a:solidFill>
                  <a:srgbClr val="5A6272"/>
                </a:solidFill>
                <a:latin typeface="Calibri" pitchFamily="34" charset="0"/>
                <a:ea typeface="Calibri" pitchFamily="34" charset="-122"/>
                <a:cs typeface="Calibri" pitchFamily="34" charset="-120"/>
              </a:rPr>
              <a:t>Info · Metadata · Legal &amp; Docs · Validations</a:t>
            </a:r>
            <a:endParaRPr lang="en-US" sz="1200" dirty="0"/>
          </a:p>
        </p:txBody>
      </p:sp>
      <p:sp>
        <p:nvSpPr>
          <p:cNvPr id="16" name="Shape 12"/>
          <p:cNvSpPr/>
          <p:nvPr/>
        </p:nvSpPr>
        <p:spPr>
          <a:xfrm>
            <a:off x="2386584" y="3364992"/>
            <a:ext cx="1097280" cy="274320"/>
          </a:xfrm>
          <a:prstGeom prst="roundRect">
            <a:avLst>
              <a:gd name="adj" fmla="val 50000"/>
            </a:avLst>
          </a:prstGeom>
          <a:solidFill>
            <a:srgbClr val="808080"/>
          </a:solidFill>
          <a:ln w="12700">
            <a:solidFill>
              <a:srgbClr val="808080"/>
            </a:solidFill>
            <a:prstDash val="solid"/>
          </a:ln>
        </p:spPr>
      </p:sp>
      <p:sp>
        <p:nvSpPr>
          <p:cNvPr id="17" name="Text 13"/>
          <p:cNvSpPr txBox="1"/>
          <p:nvPr/>
        </p:nvSpPr>
        <p:spPr>
          <a:xfrm>
            <a:off x="2386584" y="3364992"/>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Draft</a:t>
            </a:r>
            <a:endParaRPr lang="en-US" sz="1100" dirty="0"/>
          </a:p>
        </p:txBody>
      </p:sp>
      <p:sp>
        <p:nvSpPr>
          <p:cNvPr id="18" name="Text 14"/>
          <p:cNvSpPr txBox="1"/>
          <p:nvPr/>
        </p:nvSpPr>
        <p:spPr>
          <a:xfrm>
            <a:off x="3666744" y="2286000"/>
            <a:ext cx="173736" cy="365760"/>
          </a:xfrm>
          <a:prstGeom prst="rect">
            <a:avLst/>
          </a:prstGeom>
          <a:noFill/>
          <a:ln/>
        </p:spPr>
        <p:txBody>
          <a:bodyPr wrap="square" lIns="0" tIns="0" rIns="0" bIns="0" rtlCol="0" anchor="ctr"/>
          <a:lstStyle/>
          <a:p>
            <a:pPr algn="ctr" indent="0" marL="0">
              <a:buNone/>
            </a:pPr>
            <a:r>
              <a:rPr lang="en-US" sz="2200" b="1" dirty="0">
                <a:solidFill>
                  <a:srgbClr val="3860B2"/>
                </a:solidFill>
                <a:latin typeface="Calibri" pitchFamily="34" charset="0"/>
                <a:ea typeface="Calibri" pitchFamily="34" charset="-122"/>
                <a:cs typeface="Calibri" pitchFamily="34" charset="-120"/>
              </a:rPr>
              <a:t>›</a:t>
            </a:r>
            <a:endParaRPr lang="en-US" sz="2200" dirty="0"/>
          </a:p>
        </p:txBody>
      </p:sp>
      <p:sp>
        <p:nvSpPr>
          <p:cNvPr id="19" name="Shape 15"/>
          <p:cNvSpPr/>
          <p:nvPr/>
        </p:nvSpPr>
        <p:spPr>
          <a:xfrm>
            <a:off x="3822192" y="1280160"/>
            <a:ext cx="1499616" cy="2560320"/>
          </a:xfrm>
          <a:prstGeom prst="roundRect">
            <a:avLst>
              <a:gd name="adj" fmla="val 6098"/>
            </a:avLst>
          </a:prstGeom>
          <a:solidFill>
            <a:srgbClr val="E6ECF5"/>
          </a:solidFill>
          <a:ln w="12700">
            <a:solidFill>
              <a:srgbClr val="D5DCEA"/>
            </a:solidFill>
            <a:prstDash val="solid"/>
          </a:ln>
        </p:spPr>
      </p:sp>
      <p:sp>
        <p:nvSpPr>
          <p:cNvPr id="20" name="Shape 16"/>
          <p:cNvSpPr/>
          <p:nvPr/>
        </p:nvSpPr>
        <p:spPr>
          <a:xfrm>
            <a:off x="4251960" y="1481328"/>
            <a:ext cx="640080" cy="640080"/>
          </a:xfrm>
          <a:prstGeom prst="ellipse">
            <a:avLst/>
          </a:prstGeom>
          <a:solidFill>
            <a:srgbClr val="00126B"/>
          </a:solidFill>
          <a:ln w="12700">
            <a:solidFill>
              <a:srgbClr val="00126B"/>
            </a:solidFill>
            <a:prstDash val="solid"/>
          </a:ln>
        </p:spPr>
      </p:sp>
      <p:pic>
        <p:nvPicPr>
          <p:cNvPr id="21" name="Image 2" descr="preencoded.png">    </p:cNvPr>
          <p:cNvPicPr>
            <a:picLocks noChangeAspect="1"/>
          </p:cNvPicPr>
          <p:nvPr/>
        </p:nvPicPr>
        <p:blipFill>
          <a:blip r:embed="rId3"/>
          <a:stretch>
            <a:fillRect/>
          </a:stretch>
        </p:blipFill>
        <p:spPr>
          <a:xfrm>
            <a:off x="4418381" y="1647749"/>
            <a:ext cx="307238" cy="307238"/>
          </a:xfrm>
          <a:prstGeom prst="rect">
            <a:avLst/>
          </a:prstGeom>
        </p:spPr>
      </p:pic>
      <p:sp>
        <p:nvSpPr>
          <p:cNvPr id="22" name="Text 17"/>
          <p:cNvSpPr txBox="1"/>
          <p:nvPr/>
        </p:nvSpPr>
        <p:spPr>
          <a:xfrm>
            <a:off x="3913632" y="2240280"/>
            <a:ext cx="1316736" cy="329184"/>
          </a:xfrm>
          <a:prstGeom prst="rect">
            <a:avLst/>
          </a:prstGeom>
          <a:noFill/>
          <a:ln/>
        </p:spPr>
        <p:txBody>
          <a:bodyPr wrap="square" lIns="0" tIns="0" rIns="0" bIns="0" rtlCol="0" anchor="ctr"/>
          <a:lstStyle/>
          <a:p>
            <a:pPr algn="ctr" indent="0" marL="0">
              <a:buNone/>
            </a:pPr>
            <a:r>
              <a:rPr lang="en-US" sz="1600" b="1" dirty="0">
                <a:solidFill>
                  <a:srgbClr val="1E2230"/>
                </a:solidFill>
                <a:latin typeface="Calibri" pitchFamily="34" charset="0"/>
                <a:ea typeface="Calibri" pitchFamily="34" charset="-122"/>
                <a:cs typeface="Calibri" pitchFamily="34" charset="-120"/>
              </a:rPr>
              <a:t>3. Submit</a:t>
            </a:r>
            <a:endParaRPr lang="en-US" sz="1600" dirty="0"/>
          </a:p>
        </p:txBody>
      </p:sp>
      <p:sp>
        <p:nvSpPr>
          <p:cNvPr id="23" name="Text 18"/>
          <p:cNvSpPr txBox="1"/>
          <p:nvPr/>
        </p:nvSpPr>
        <p:spPr>
          <a:xfrm>
            <a:off x="3931920" y="2587752"/>
            <a:ext cx="1280160" cy="685800"/>
          </a:xfrm>
          <a:prstGeom prst="rect">
            <a:avLst/>
          </a:prstGeom>
          <a:noFill/>
          <a:ln/>
        </p:spPr>
        <p:txBody>
          <a:bodyPr wrap="square" lIns="0" tIns="0" rIns="0" bIns="0" rtlCol="0" anchor="t"/>
          <a:lstStyle/>
          <a:p>
            <a:pPr algn="ctr" indent="0" marL="0">
              <a:buNone/>
            </a:pPr>
            <a:r>
              <a:rPr lang="en-US" sz="1200" dirty="0">
                <a:solidFill>
                  <a:srgbClr val="5A6272"/>
                </a:solidFill>
                <a:latin typeface="Calibri" pitchFamily="34" charset="0"/>
                <a:ea typeface="Calibri" pitchFamily="34" charset="-122"/>
                <a:cs typeface="Calibri" pitchFamily="34" charset="-120"/>
              </a:rPr>
              <a:t>The request goes to Central Deposit</a:t>
            </a:r>
            <a:endParaRPr lang="en-US" sz="1200" dirty="0"/>
          </a:p>
        </p:txBody>
      </p:sp>
      <p:sp>
        <p:nvSpPr>
          <p:cNvPr id="24" name="Shape 19"/>
          <p:cNvSpPr/>
          <p:nvPr/>
        </p:nvSpPr>
        <p:spPr>
          <a:xfrm>
            <a:off x="4023360" y="3364992"/>
            <a:ext cx="1097280" cy="274320"/>
          </a:xfrm>
          <a:prstGeom prst="roundRect">
            <a:avLst>
              <a:gd name="adj" fmla="val 50000"/>
            </a:avLst>
          </a:prstGeom>
          <a:solidFill>
            <a:srgbClr val="E08E00"/>
          </a:solidFill>
          <a:ln w="12700">
            <a:solidFill>
              <a:srgbClr val="E08E00"/>
            </a:solidFill>
            <a:prstDash val="solid"/>
          </a:ln>
        </p:spPr>
      </p:sp>
      <p:sp>
        <p:nvSpPr>
          <p:cNvPr id="25" name="Text 20"/>
          <p:cNvSpPr txBox="1"/>
          <p:nvPr/>
        </p:nvSpPr>
        <p:spPr>
          <a:xfrm>
            <a:off x="4023360" y="3364992"/>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Pending</a:t>
            </a:r>
            <a:endParaRPr lang="en-US" sz="1100" dirty="0"/>
          </a:p>
        </p:txBody>
      </p:sp>
      <p:sp>
        <p:nvSpPr>
          <p:cNvPr id="26" name="Text 21"/>
          <p:cNvSpPr txBox="1"/>
          <p:nvPr/>
        </p:nvSpPr>
        <p:spPr>
          <a:xfrm>
            <a:off x="5303520" y="2286000"/>
            <a:ext cx="173736" cy="365760"/>
          </a:xfrm>
          <a:prstGeom prst="rect">
            <a:avLst/>
          </a:prstGeom>
          <a:noFill/>
          <a:ln/>
        </p:spPr>
        <p:txBody>
          <a:bodyPr wrap="square" lIns="0" tIns="0" rIns="0" bIns="0" rtlCol="0" anchor="ctr"/>
          <a:lstStyle/>
          <a:p>
            <a:pPr algn="ctr" indent="0" marL="0">
              <a:buNone/>
            </a:pPr>
            <a:r>
              <a:rPr lang="en-US" sz="2200" b="1" dirty="0">
                <a:solidFill>
                  <a:srgbClr val="3860B2"/>
                </a:solidFill>
                <a:latin typeface="Calibri" pitchFamily="34" charset="0"/>
                <a:ea typeface="Calibri" pitchFamily="34" charset="-122"/>
                <a:cs typeface="Calibri" pitchFamily="34" charset="-120"/>
              </a:rPr>
              <a:t>›</a:t>
            </a:r>
            <a:endParaRPr lang="en-US" sz="2200" dirty="0"/>
          </a:p>
        </p:txBody>
      </p:sp>
      <p:sp>
        <p:nvSpPr>
          <p:cNvPr id="27" name="Shape 22"/>
          <p:cNvSpPr/>
          <p:nvPr/>
        </p:nvSpPr>
        <p:spPr>
          <a:xfrm>
            <a:off x="5458968" y="1280160"/>
            <a:ext cx="1499616" cy="2560320"/>
          </a:xfrm>
          <a:prstGeom prst="roundRect">
            <a:avLst>
              <a:gd name="adj" fmla="val 6098"/>
            </a:avLst>
          </a:prstGeom>
          <a:solidFill>
            <a:srgbClr val="FFFFFF"/>
          </a:solidFill>
          <a:ln w="12700">
            <a:solidFill>
              <a:srgbClr val="D5DCEA"/>
            </a:solidFill>
            <a:prstDash val="solid"/>
          </a:ln>
        </p:spPr>
      </p:sp>
      <p:sp>
        <p:nvSpPr>
          <p:cNvPr id="28" name="Shape 23"/>
          <p:cNvSpPr/>
          <p:nvPr/>
        </p:nvSpPr>
        <p:spPr>
          <a:xfrm>
            <a:off x="5888736" y="1481328"/>
            <a:ext cx="640080" cy="640080"/>
          </a:xfrm>
          <a:prstGeom prst="ellipse">
            <a:avLst/>
          </a:prstGeom>
          <a:solidFill>
            <a:srgbClr val="00126B"/>
          </a:solidFill>
          <a:ln w="12700">
            <a:solidFill>
              <a:srgbClr val="00126B"/>
            </a:solidFill>
            <a:prstDash val="solid"/>
          </a:ln>
        </p:spPr>
      </p:sp>
      <p:pic>
        <p:nvPicPr>
          <p:cNvPr id="29" name="Image 3" descr="preencoded.png">    </p:cNvPr>
          <p:cNvPicPr>
            <a:picLocks noChangeAspect="1"/>
          </p:cNvPicPr>
          <p:nvPr/>
        </p:nvPicPr>
        <p:blipFill>
          <a:blip r:embed="rId4"/>
          <a:stretch>
            <a:fillRect/>
          </a:stretch>
        </p:blipFill>
        <p:spPr>
          <a:xfrm>
            <a:off x="6055157" y="1647749"/>
            <a:ext cx="307238" cy="307238"/>
          </a:xfrm>
          <a:prstGeom prst="rect">
            <a:avLst/>
          </a:prstGeom>
        </p:spPr>
      </p:pic>
      <p:sp>
        <p:nvSpPr>
          <p:cNvPr id="30" name="Text 24"/>
          <p:cNvSpPr txBox="1"/>
          <p:nvPr/>
        </p:nvSpPr>
        <p:spPr>
          <a:xfrm>
            <a:off x="5550408" y="2240280"/>
            <a:ext cx="1316736" cy="329184"/>
          </a:xfrm>
          <a:prstGeom prst="rect">
            <a:avLst/>
          </a:prstGeom>
          <a:noFill/>
          <a:ln/>
        </p:spPr>
        <p:txBody>
          <a:bodyPr wrap="square" lIns="0" tIns="0" rIns="0" bIns="0" rtlCol="0" anchor="ctr"/>
          <a:lstStyle/>
          <a:p>
            <a:pPr algn="ctr" indent="0" marL="0">
              <a:buNone/>
            </a:pPr>
            <a:r>
              <a:rPr lang="en-US" sz="1600" b="1" dirty="0">
                <a:solidFill>
                  <a:srgbClr val="1E2230"/>
                </a:solidFill>
                <a:latin typeface="Calibri" pitchFamily="34" charset="0"/>
                <a:ea typeface="Calibri" pitchFamily="34" charset="-122"/>
                <a:cs typeface="Calibri" pitchFamily="34" charset="-120"/>
              </a:rPr>
              <a:t>4. Review</a:t>
            </a:r>
            <a:endParaRPr lang="en-US" sz="1600" dirty="0"/>
          </a:p>
        </p:txBody>
      </p:sp>
      <p:sp>
        <p:nvSpPr>
          <p:cNvPr id="31" name="Text 25"/>
          <p:cNvSpPr txBox="1"/>
          <p:nvPr/>
        </p:nvSpPr>
        <p:spPr>
          <a:xfrm>
            <a:off x="5568696" y="2587752"/>
            <a:ext cx="1280160" cy="685800"/>
          </a:xfrm>
          <a:prstGeom prst="rect">
            <a:avLst/>
          </a:prstGeom>
          <a:noFill/>
          <a:ln/>
        </p:spPr>
        <p:txBody>
          <a:bodyPr wrap="square" lIns="0" tIns="0" rIns="0" bIns="0" rtlCol="0" anchor="t"/>
          <a:lstStyle/>
          <a:p>
            <a:pPr algn="ctr" indent="0" marL="0">
              <a:buNone/>
            </a:pPr>
            <a:r>
              <a:rPr lang="en-US" sz="1200" dirty="0">
                <a:solidFill>
                  <a:srgbClr val="5A6272"/>
                </a:solidFill>
                <a:latin typeface="Calibri" pitchFamily="34" charset="0"/>
                <a:ea typeface="Calibri" pitchFamily="34" charset="-122"/>
                <a:cs typeface="Calibri" pitchFamily="34" charset="-120"/>
              </a:rPr>
              <a:t>An administrator checks it and adds notes</a:t>
            </a:r>
            <a:endParaRPr lang="en-US" sz="1200" dirty="0"/>
          </a:p>
        </p:txBody>
      </p:sp>
      <p:sp>
        <p:nvSpPr>
          <p:cNvPr id="32" name="Shape 26"/>
          <p:cNvSpPr/>
          <p:nvPr/>
        </p:nvSpPr>
        <p:spPr>
          <a:xfrm>
            <a:off x="5660136" y="3364992"/>
            <a:ext cx="1097280" cy="274320"/>
          </a:xfrm>
          <a:prstGeom prst="roundRect">
            <a:avLst>
              <a:gd name="adj" fmla="val 50000"/>
            </a:avLst>
          </a:prstGeom>
          <a:solidFill>
            <a:srgbClr val="9932CC"/>
          </a:solidFill>
          <a:ln w="12700">
            <a:solidFill>
              <a:srgbClr val="9932CC"/>
            </a:solidFill>
            <a:prstDash val="solid"/>
          </a:ln>
        </p:spPr>
      </p:sp>
      <p:sp>
        <p:nvSpPr>
          <p:cNvPr id="33" name="Text 27"/>
          <p:cNvSpPr txBox="1"/>
          <p:nvPr/>
        </p:nvSpPr>
        <p:spPr>
          <a:xfrm>
            <a:off x="5660136" y="3364992"/>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Processing</a:t>
            </a:r>
            <a:endParaRPr lang="en-US" sz="1100" dirty="0"/>
          </a:p>
        </p:txBody>
      </p:sp>
      <p:sp>
        <p:nvSpPr>
          <p:cNvPr id="34" name="Text 28"/>
          <p:cNvSpPr txBox="1"/>
          <p:nvPr/>
        </p:nvSpPr>
        <p:spPr>
          <a:xfrm>
            <a:off x="6940296" y="2286000"/>
            <a:ext cx="173736" cy="365760"/>
          </a:xfrm>
          <a:prstGeom prst="rect">
            <a:avLst/>
          </a:prstGeom>
          <a:noFill/>
          <a:ln/>
        </p:spPr>
        <p:txBody>
          <a:bodyPr wrap="square" lIns="0" tIns="0" rIns="0" bIns="0" rtlCol="0" anchor="ctr"/>
          <a:lstStyle/>
          <a:p>
            <a:pPr algn="ctr" indent="0" marL="0">
              <a:buNone/>
            </a:pPr>
            <a:r>
              <a:rPr lang="en-US" sz="2200" b="1" dirty="0">
                <a:solidFill>
                  <a:srgbClr val="3860B2"/>
                </a:solidFill>
                <a:latin typeface="Calibri" pitchFamily="34" charset="0"/>
                <a:ea typeface="Calibri" pitchFamily="34" charset="-122"/>
                <a:cs typeface="Calibri" pitchFamily="34" charset="-120"/>
              </a:rPr>
              <a:t>›</a:t>
            </a:r>
            <a:endParaRPr lang="en-US" sz="2200" dirty="0"/>
          </a:p>
        </p:txBody>
      </p:sp>
      <p:sp>
        <p:nvSpPr>
          <p:cNvPr id="35" name="Shape 29"/>
          <p:cNvSpPr/>
          <p:nvPr/>
        </p:nvSpPr>
        <p:spPr>
          <a:xfrm>
            <a:off x="7095744" y="1280160"/>
            <a:ext cx="1499616" cy="2560320"/>
          </a:xfrm>
          <a:prstGeom prst="roundRect">
            <a:avLst>
              <a:gd name="adj" fmla="val 6098"/>
            </a:avLst>
          </a:prstGeom>
          <a:solidFill>
            <a:srgbClr val="E6ECF5"/>
          </a:solidFill>
          <a:ln w="12700">
            <a:solidFill>
              <a:srgbClr val="D5DCEA"/>
            </a:solidFill>
            <a:prstDash val="solid"/>
          </a:ln>
        </p:spPr>
      </p:sp>
      <p:sp>
        <p:nvSpPr>
          <p:cNvPr id="36" name="Shape 30"/>
          <p:cNvSpPr/>
          <p:nvPr/>
        </p:nvSpPr>
        <p:spPr>
          <a:xfrm>
            <a:off x="7525512" y="1481328"/>
            <a:ext cx="640080" cy="640080"/>
          </a:xfrm>
          <a:prstGeom prst="ellipse">
            <a:avLst/>
          </a:prstGeom>
          <a:solidFill>
            <a:srgbClr val="00126B"/>
          </a:solidFill>
          <a:ln w="12700">
            <a:solidFill>
              <a:srgbClr val="00126B"/>
            </a:solidFill>
            <a:prstDash val="solid"/>
          </a:ln>
        </p:spPr>
      </p:sp>
      <p:pic>
        <p:nvPicPr>
          <p:cNvPr id="37" name="Image 4" descr="preencoded.png">    </p:cNvPr>
          <p:cNvPicPr>
            <a:picLocks noChangeAspect="1"/>
          </p:cNvPicPr>
          <p:nvPr/>
        </p:nvPicPr>
        <p:blipFill>
          <a:blip r:embed="rId5"/>
          <a:stretch>
            <a:fillRect/>
          </a:stretch>
        </p:blipFill>
        <p:spPr>
          <a:xfrm>
            <a:off x="7691933" y="1647749"/>
            <a:ext cx="307238" cy="307238"/>
          </a:xfrm>
          <a:prstGeom prst="rect">
            <a:avLst/>
          </a:prstGeom>
        </p:spPr>
      </p:pic>
      <p:sp>
        <p:nvSpPr>
          <p:cNvPr id="38" name="Text 31"/>
          <p:cNvSpPr txBox="1"/>
          <p:nvPr/>
        </p:nvSpPr>
        <p:spPr>
          <a:xfrm>
            <a:off x="7187184" y="2240280"/>
            <a:ext cx="1316736" cy="329184"/>
          </a:xfrm>
          <a:prstGeom prst="rect">
            <a:avLst/>
          </a:prstGeom>
          <a:noFill/>
          <a:ln/>
        </p:spPr>
        <p:txBody>
          <a:bodyPr wrap="square" lIns="0" tIns="0" rIns="0" bIns="0" rtlCol="0" anchor="ctr"/>
          <a:lstStyle/>
          <a:p>
            <a:pPr algn="ctr" indent="0" marL="0">
              <a:buNone/>
            </a:pPr>
            <a:r>
              <a:rPr lang="en-US" sz="1600" b="1" dirty="0">
                <a:solidFill>
                  <a:srgbClr val="1E2230"/>
                </a:solidFill>
                <a:latin typeface="Calibri" pitchFamily="34" charset="0"/>
                <a:ea typeface="Calibri" pitchFamily="34" charset="-122"/>
                <a:cs typeface="Calibri" pitchFamily="34" charset="-120"/>
              </a:rPr>
              <a:t>5. Decide</a:t>
            </a:r>
            <a:endParaRPr lang="en-US" sz="1600" dirty="0"/>
          </a:p>
        </p:txBody>
      </p:sp>
      <p:sp>
        <p:nvSpPr>
          <p:cNvPr id="39" name="Text 32"/>
          <p:cNvSpPr txBox="1"/>
          <p:nvPr/>
        </p:nvSpPr>
        <p:spPr>
          <a:xfrm>
            <a:off x="7205472" y="2587752"/>
            <a:ext cx="1280160" cy="685800"/>
          </a:xfrm>
          <a:prstGeom prst="rect">
            <a:avLst/>
          </a:prstGeom>
          <a:noFill/>
          <a:ln/>
        </p:spPr>
        <p:txBody>
          <a:bodyPr wrap="square" lIns="0" tIns="0" rIns="0" bIns="0" rtlCol="0" anchor="t"/>
          <a:lstStyle/>
          <a:p>
            <a:pPr algn="ctr" indent="0" marL="0">
              <a:buNone/>
            </a:pPr>
            <a:r>
              <a:rPr lang="en-US" sz="1200" dirty="0">
                <a:solidFill>
                  <a:srgbClr val="5A6272"/>
                </a:solidFill>
                <a:latin typeface="Calibri" pitchFamily="34" charset="0"/>
                <a:ea typeface="Calibri" pitchFamily="34" charset="-122"/>
                <a:cs typeface="Calibri" pitchFamily="34" charset="-120"/>
              </a:rPr>
              <a:t>Approved or rejected, then published</a:t>
            </a:r>
            <a:endParaRPr lang="en-US" sz="1200" dirty="0"/>
          </a:p>
        </p:txBody>
      </p:sp>
      <p:sp>
        <p:nvSpPr>
          <p:cNvPr id="40" name="Shape 33"/>
          <p:cNvSpPr/>
          <p:nvPr/>
        </p:nvSpPr>
        <p:spPr>
          <a:xfrm>
            <a:off x="7296912" y="3364992"/>
            <a:ext cx="1097280" cy="274320"/>
          </a:xfrm>
          <a:prstGeom prst="roundRect">
            <a:avLst>
              <a:gd name="adj" fmla="val 50000"/>
            </a:avLst>
          </a:prstGeom>
          <a:solidFill>
            <a:srgbClr val="1B7F2A"/>
          </a:solidFill>
          <a:ln w="12700">
            <a:solidFill>
              <a:srgbClr val="1B7F2A"/>
            </a:solidFill>
            <a:prstDash val="solid"/>
          </a:ln>
        </p:spPr>
      </p:sp>
      <p:sp>
        <p:nvSpPr>
          <p:cNvPr id="41" name="Text 34"/>
          <p:cNvSpPr txBox="1"/>
          <p:nvPr/>
        </p:nvSpPr>
        <p:spPr>
          <a:xfrm>
            <a:off x="7296912" y="3364992"/>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Approved</a:t>
            </a:r>
            <a:endParaRPr lang="en-US" sz="1100" dirty="0"/>
          </a:p>
        </p:txBody>
      </p:sp>
      <p:sp>
        <p:nvSpPr>
          <p:cNvPr id="42" name="Text 35"/>
          <p:cNvSpPr txBox="1"/>
          <p:nvPr/>
        </p:nvSpPr>
        <p:spPr>
          <a:xfrm>
            <a:off x="548640" y="4114800"/>
            <a:ext cx="8046720" cy="411480"/>
          </a:xfrm>
          <a:prstGeom prst="rect">
            <a:avLst/>
          </a:prstGeom>
          <a:noFill/>
          <a:ln/>
        </p:spPr>
        <p:txBody>
          <a:bodyPr wrap="square" lIns="0" tIns="0" rIns="0" bIns="0" rtlCol="0" anchor="ctr"/>
          <a:lstStyle/>
          <a:p>
            <a:pPr indent="0" marL="0">
              <a:buNone/>
            </a:pPr>
            <a:r>
              <a:rPr lang="en-US" sz="1500" i="1" dirty="0">
                <a:solidFill>
                  <a:srgbClr val="5A6272"/>
                </a:solidFill>
                <a:latin typeface="Calibri" pitchFamily="34" charset="0"/>
                <a:ea typeface="Calibri" pitchFamily="34" charset="-122"/>
                <a:cs typeface="Calibri" pitchFamily="34" charset="-120"/>
              </a:rPr>
              <a:t>At every moment, everyone can see exactly where a request is.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indent="0" marL="0">
              <a:buNone/>
            </a:pPr>
            <a:r>
              <a:rPr lang="en-US" sz="3400" b="1" dirty="0">
                <a:solidFill>
                  <a:srgbClr val="00126B"/>
                </a:solidFill>
                <a:latin typeface="Calibri" pitchFamily="34" charset="0"/>
                <a:ea typeface="Calibri" pitchFamily="34" charset="-122"/>
                <a:cs typeface="Calibri" pitchFamily="34" charset="-120"/>
              </a:rPr>
              <a:t>Two roles, two dashboards</a:t>
            </a:r>
            <a:endParaRPr lang="en-US" sz="3400" dirty="0"/>
          </a:p>
        </p:txBody>
      </p:sp>
      <p:sp>
        <p:nvSpPr>
          <p:cNvPr id="3" name="Shape 1"/>
          <p:cNvSpPr/>
          <p:nvPr/>
        </p:nvSpPr>
        <p:spPr>
          <a:xfrm>
            <a:off x="548640" y="1188720"/>
            <a:ext cx="3931920" cy="2697480"/>
          </a:xfrm>
          <a:prstGeom prst="roundRect">
            <a:avLst>
              <a:gd name="adj" fmla="val 4068"/>
            </a:avLst>
          </a:prstGeom>
          <a:solidFill>
            <a:srgbClr val="E6ECF5"/>
          </a:solidFill>
          <a:ln w="12700">
            <a:solidFill>
              <a:srgbClr val="E6ECF5"/>
            </a:solidFill>
            <a:prstDash val="solid"/>
          </a:ln>
        </p:spPr>
      </p:sp>
      <p:sp>
        <p:nvSpPr>
          <p:cNvPr id="4" name="Text 2"/>
          <p:cNvSpPr txBox="1"/>
          <p:nvPr/>
        </p:nvSpPr>
        <p:spPr>
          <a:xfrm>
            <a:off x="777240" y="1298448"/>
            <a:ext cx="3474720" cy="384048"/>
          </a:xfrm>
          <a:prstGeom prst="rect">
            <a:avLst/>
          </a:prstGeom>
          <a:noFill/>
          <a:ln/>
        </p:spPr>
        <p:txBody>
          <a:bodyPr wrap="square" lIns="0" tIns="0" rIns="0" bIns="0" rtlCol="0" anchor="ctr"/>
          <a:lstStyle/>
          <a:p>
            <a:pPr indent="0" marL="0">
              <a:buNone/>
            </a:pPr>
            <a:r>
              <a:rPr lang="en-US" sz="1800" b="1" dirty="0">
                <a:solidFill>
                  <a:srgbClr val="3860B2"/>
                </a:solidFill>
                <a:latin typeface="Calibri" pitchFamily="34" charset="0"/>
                <a:ea typeface="Calibri" pitchFamily="34" charset="-122"/>
                <a:cs typeface="Calibri" pitchFamily="34" charset="-120"/>
              </a:rPr>
              <a:t>Requestor</a:t>
            </a:r>
            <a:endParaRPr lang="en-US" sz="1800" dirty="0"/>
          </a:p>
        </p:txBody>
      </p:sp>
      <p:sp>
        <p:nvSpPr>
          <p:cNvPr id="5" name="Shape 3"/>
          <p:cNvSpPr/>
          <p:nvPr/>
        </p:nvSpPr>
        <p:spPr>
          <a:xfrm>
            <a:off x="777240" y="1783080"/>
            <a:ext cx="1097280" cy="1920240"/>
          </a:xfrm>
          <a:prstGeom prst="rect">
            <a:avLst/>
          </a:prstGeom>
          <a:solidFill>
            <a:srgbClr val="FFFFFF"/>
          </a:solidFill>
          <a:ln w="9525">
            <a:solidFill>
              <a:srgbClr val="D5DCEA"/>
            </a:solidFill>
            <a:prstDash val="solid"/>
          </a:ln>
        </p:spPr>
      </p:sp>
      <p:sp>
        <p:nvSpPr>
          <p:cNvPr id="6" name="Shape 4"/>
          <p:cNvSpPr/>
          <p:nvPr/>
        </p:nvSpPr>
        <p:spPr>
          <a:xfrm>
            <a:off x="777240" y="1783080"/>
            <a:ext cx="1097280" cy="64008"/>
          </a:xfrm>
          <a:prstGeom prst="rect">
            <a:avLst/>
          </a:prstGeom>
          <a:solidFill>
            <a:srgbClr val="D68C00"/>
          </a:solidFill>
          <a:ln w="12700">
            <a:solidFill>
              <a:srgbClr val="D68C00"/>
            </a:solidFill>
            <a:prstDash val="solid"/>
          </a:ln>
        </p:spPr>
      </p:sp>
      <p:sp>
        <p:nvSpPr>
          <p:cNvPr id="7" name="Text 5"/>
          <p:cNvSpPr txBox="1"/>
          <p:nvPr/>
        </p:nvSpPr>
        <p:spPr>
          <a:xfrm>
            <a:off x="832104" y="1901952"/>
            <a:ext cx="987552" cy="457200"/>
          </a:xfrm>
          <a:prstGeom prst="rect">
            <a:avLst/>
          </a:prstGeom>
          <a:noFill/>
          <a:ln/>
        </p:spPr>
        <p:txBody>
          <a:bodyPr wrap="square" lIns="0" tIns="0" rIns="0" bIns="0" rtlCol="0" anchor="t"/>
          <a:lstStyle/>
          <a:p>
            <a:pPr algn="ctr" indent="0" marL="0">
              <a:buNone/>
            </a:pPr>
            <a:r>
              <a:rPr lang="en-US" sz="1000" b="1" dirty="0">
                <a:solidFill>
                  <a:srgbClr val="1E2230"/>
                </a:solidFill>
                <a:latin typeface="Calibri" pitchFamily="34" charset="0"/>
                <a:ea typeface="Calibri" pitchFamily="34" charset="-122"/>
                <a:cs typeface="Calibri" pitchFamily="34" charset="-120"/>
              </a:rPr>
              <a:t>Requires my attention</a:t>
            </a:r>
            <a:endParaRPr lang="en-US" sz="1000" dirty="0"/>
          </a:p>
        </p:txBody>
      </p:sp>
      <p:sp>
        <p:nvSpPr>
          <p:cNvPr id="8" name="Shape 6"/>
          <p:cNvSpPr/>
          <p:nvPr/>
        </p:nvSpPr>
        <p:spPr>
          <a:xfrm>
            <a:off x="850392" y="2432304"/>
            <a:ext cx="950976" cy="310896"/>
          </a:xfrm>
          <a:prstGeom prst="roundRect">
            <a:avLst>
              <a:gd name="adj" fmla="val 14706"/>
            </a:avLst>
          </a:prstGeom>
          <a:solidFill>
            <a:srgbClr val="F1F4F9"/>
          </a:solidFill>
          <a:ln w="12700">
            <a:solidFill>
              <a:srgbClr val="F1F4F9"/>
            </a:solidFill>
            <a:prstDash val="solid"/>
          </a:ln>
        </p:spPr>
      </p:sp>
      <p:sp>
        <p:nvSpPr>
          <p:cNvPr id="9" name="Shape 7"/>
          <p:cNvSpPr/>
          <p:nvPr/>
        </p:nvSpPr>
        <p:spPr>
          <a:xfrm>
            <a:off x="850392" y="2825496"/>
            <a:ext cx="950976" cy="310896"/>
          </a:xfrm>
          <a:prstGeom prst="roundRect">
            <a:avLst>
              <a:gd name="adj" fmla="val 14706"/>
            </a:avLst>
          </a:prstGeom>
          <a:solidFill>
            <a:srgbClr val="F1F4F9"/>
          </a:solidFill>
          <a:ln w="12700">
            <a:solidFill>
              <a:srgbClr val="F1F4F9"/>
            </a:solidFill>
            <a:prstDash val="solid"/>
          </a:ln>
        </p:spPr>
      </p:sp>
      <p:sp>
        <p:nvSpPr>
          <p:cNvPr id="10" name="Shape 8"/>
          <p:cNvSpPr/>
          <p:nvPr/>
        </p:nvSpPr>
        <p:spPr>
          <a:xfrm>
            <a:off x="850392" y="3218688"/>
            <a:ext cx="950976" cy="310896"/>
          </a:xfrm>
          <a:prstGeom prst="roundRect">
            <a:avLst>
              <a:gd name="adj" fmla="val 14706"/>
            </a:avLst>
          </a:prstGeom>
          <a:solidFill>
            <a:srgbClr val="F1F4F9"/>
          </a:solidFill>
          <a:ln w="12700">
            <a:solidFill>
              <a:srgbClr val="F1F4F9"/>
            </a:solidFill>
            <a:prstDash val="solid"/>
          </a:ln>
        </p:spPr>
      </p:sp>
      <p:sp>
        <p:nvSpPr>
          <p:cNvPr id="11" name="Shape 9"/>
          <p:cNvSpPr/>
          <p:nvPr/>
        </p:nvSpPr>
        <p:spPr>
          <a:xfrm>
            <a:off x="1965960" y="1783080"/>
            <a:ext cx="1097280" cy="1920240"/>
          </a:xfrm>
          <a:prstGeom prst="rect">
            <a:avLst/>
          </a:prstGeom>
          <a:solidFill>
            <a:srgbClr val="FFFFFF"/>
          </a:solidFill>
          <a:ln w="9525">
            <a:solidFill>
              <a:srgbClr val="D5DCEA"/>
            </a:solidFill>
            <a:prstDash val="solid"/>
          </a:ln>
        </p:spPr>
      </p:sp>
      <p:sp>
        <p:nvSpPr>
          <p:cNvPr id="12" name="Shape 10"/>
          <p:cNvSpPr/>
          <p:nvPr/>
        </p:nvSpPr>
        <p:spPr>
          <a:xfrm>
            <a:off x="1965960" y="1783080"/>
            <a:ext cx="1097280" cy="64008"/>
          </a:xfrm>
          <a:prstGeom prst="rect">
            <a:avLst/>
          </a:prstGeom>
          <a:solidFill>
            <a:srgbClr val="3860B2"/>
          </a:solidFill>
          <a:ln w="12700">
            <a:solidFill>
              <a:srgbClr val="3860B2"/>
            </a:solidFill>
            <a:prstDash val="solid"/>
          </a:ln>
        </p:spPr>
      </p:sp>
      <p:sp>
        <p:nvSpPr>
          <p:cNvPr id="13" name="Text 11"/>
          <p:cNvSpPr txBox="1"/>
          <p:nvPr/>
        </p:nvSpPr>
        <p:spPr>
          <a:xfrm>
            <a:off x="2020824" y="1901952"/>
            <a:ext cx="987552" cy="457200"/>
          </a:xfrm>
          <a:prstGeom prst="rect">
            <a:avLst/>
          </a:prstGeom>
          <a:noFill/>
          <a:ln/>
        </p:spPr>
        <p:txBody>
          <a:bodyPr wrap="square" lIns="0" tIns="0" rIns="0" bIns="0" rtlCol="0" anchor="t"/>
          <a:lstStyle/>
          <a:p>
            <a:pPr algn="ctr" indent="0" marL="0">
              <a:buNone/>
            </a:pPr>
            <a:r>
              <a:rPr lang="en-US" sz="1000" b="1" dirty="0">
                <a:solidFill>
                  <a:srgbClr val="1E2230"/>
                </a:solidFill>
                <a:latin typeface="Calibri" pitchFamily="34" charset="0"/>
                <a:ea typeface="Calibri" pitchFamily="34" charset="-122"/>
                <a:cs typeface="Calibri" pitchFamily="34" charset="-120"/>
              </a:rPr>
              <a:t>5 latest updates</a:t>
            </a:r>
            <a:endParaRPr lang="en-US" sz="1000" dirty="0"/>
          </a:p>
        </p:txBody>
      </p:sp>
      <p:sp>
        <p:nvSpPr>
          <p:cNvPr id="14" name="Shape 12"/>
          <p:cNvSpPr/>
          <p:nvPr/>
        </p:nvSpPr>
        <p:spPr>
          <a:xfrm>
            <a:off x="2039112" y="2432304"/>
            <a:ext cx="950976" cy="310896"/>
          </a:xfrm>
          <a:prstGeom prst="roundRect">
            <a:avLst>
              <a:gd name="adj" fmla="val 14706"/>
            </a:avLst>
          </a:prstGeom>
          <a:solidFill>
            <a:srgbClr val="F1F4F9"/>
          </a:solidFill>
          <a:ln w="12700">
            <a:solidFill>
              <a:srgbClr val="F1F4F9"/>
            </a:solidFill>
            <a:prstDash val="solid"/>
          </a:ln>
        </p:spPr>
      </p:sp>
      <p:sp>
        <p:nvSpPr>
          <p:cNvPr id="15" name="Shape 13"/>
          <p:cNvSpPr/>
          <p:nvPr/>
        </p:nvSpPr>
        <p:spPr>
          <a:xfrm>
            <a:off x="2039112" y="2825496"/>
            <a:ext cx="950976" cy="310896"/>
          </a:xfrm>
          <a:prstGeom prst="roundRect">
            <a:avLst>
              <a:gd name="adj" fmla="val 14706"/>
            </a:avLst>
          </a:prstGeom>
          <a:solidFill>
            <a:srgbClr val="F1F4F9"/>
          </a:solidFill>
          <a:ln w="12700">
            <a:solidFill>
              <a:srgbClr val="F1F4F9"/>
            </a:solidFill>
            <a:prstDash val="solid"/>
          </a:ln>
        </p:spPr>
      </p:sp>
      <p:sp>
        <p:nvSpPr>
          <p:cNvPr id="16" name="Shape 14"/>
          <p:cNvSpPr/>
          <p:nvPr/>
        </p:nvSpPr>
        <p:spPr>
          <a:xfrm>
            <a:off x="2039112" y="3218688"/>
            <a:ext cx="950976" cy="310896"/>
          </a:xfrm>
          <a:prstGeom prst="roundRect">
            <a:avLst>
              <a:gd name="adj" fmla="val 14706"/>
            </a:avLst>
          </a:prstGeom>
          <a:solidFill>
            <a:srgbClr val="F1F4F9"/>
          </a:solidFill>
          <a:ln w="12700">
            <a:solidFill>
              <a:srgbClr val="F1F4F9"/>
            </a:solidFill>
            <a:prstDash val="solid"/>
          </a:ln>
        </p:spPr>
      </p:sp>
      <p:sp>
        <p:nvSpPr>
          <p:cNvPr id="17" name="Shape 15"/>
          <p:cNvSpPr/>
          <p:nvPr/>
        </p:nvSpPr>
        <p:spPr>
          <a:xfrm>
            <a:off x="3154680" y="1783080"/>
            <a:ext cx="1097280" cy="1920240"/>
          </a:xfrm>
          <a:prstGeom prst="rect">
            <a:avLst/>
          </a:prstGeom>
          <a:solidFill>
            <a:srgbClr val="FFFFFF"/>
          </a:solidFill>
          <a:ln w="9525">
            <a:solidFill>
              <a:srgbClr val="D5DCEA"/>
            </a:solidFill>
            <a:prstDash val="solid"/>
          </a:ln>
        </p:spPr>
      </p:sp>
      <p:sp>
        <p:nvSpPr>
          <p:cNvPr id="18" name="Shape 16"/>
          <p:cNvSpPr/>
          <p:nvPr/>
        </p:nvSpPr>
        <p:spPr>
          <a:xfrm>
            <a:off x="3154680" y="1783080"/>
            <a:ext cx="1097280" cy="64008"/>
          </a:xfrm>
          <a:prstGeom prst="rect">
            <a:avLst/>
          </a:prstGeom>
          <a:solidFill>
            <a:srgbClr val="2E7D32"/>
          </a:solidFill>
          <a:ln w="12700">
            <a:solidFill>
              <a:srgbClr val="2E7D32"/>
            </a:solidFill>
            <a:prstDash val="solid"/>
          </a:ln>
        </p:spPr>
      </p:sp>
      <p:sp>
        <p:nvSpPr>
          <p:cNvPr id="19" name="Text 17"/>
          <p:cNvSpPr txBox="1"/>
          <p:nvPr/>
        </p:nvSpPr>
        <p:spPr>
          <a:xfrm>
            <a:off x="3209544" y="1901952"/>
            <a:ext cx="987552" cy="457200"/>
          </a:xfrm>
          <a:prstGeom prst="rect">
            <a:avLst/>
          </a:prstGeom>
          <a:noFill/>
          <a:ln/>
        </p:spPr>
        <p:txBody>
          <a:bodyPr wrap="square" lIns="0" tIns="0" rIns="0" bIns="0" rtlCol="0" anchor="t"/>
          <a:lstStyle/>
          <a:p>
            <a:pPr algn="ctr" indent="0" marL="0">
              <a:buNone/>
            </a:pPr>
            <a:r>
              <a:rPr lang="en-US" sz="1000" b="1" dirty="0">
                <a:solidFill>
                  <a:srgbClr val="1E2230"/>
                </a:solidFill>
                <a:latin typeface="Calibri" pitchFamily="34" charset="0"/>
                <a:ea typeface="Calibri" pitchFamily="34" charset="-122"/>
                <a:cs typeface="Calibri" pitchFamily="34" charset="-120"/>
              </a:rPr>
              <a:t>Final validations</a:t>
            </a:r>
            <a:endParaRPr lang="en-US" sz="1000" dirty="0"/>
          </a:p>
        </p:txBody>
      </p:sp>
      <p:sp>
        <p:nvSpPr>
          <p:cNvPr id="20" name="Shape 18"/>
          <p:cNvSpPr/>
          <p:nvPr/>
        </p:nvSpPr>
        <p:spPr>
          <a:xfrm>
            <a:off x="3227832" y="2432304"/>
            <a:ext cx="950976" cy="310896"/>
          </a:xfrm>
          <a:prstGeom prst="roundRect">
            <a:avLst>
              <a:gd name="adj" fmla="val 14706"/>
            </a:avLst>
          </a:prstGeom>
          <a:solidFill>
            <a:srgbClr val="F1F4F9"/>
          </a:solidFill>
          <a:ln w="12700">
            <a:solidFill>
              <a:srgbClr val="F1F4F9"/>
            </a:solidFill>
            <a:prstDash val="solid"/>
          </a:ln>
        </p:spPr>
      </p:sp>
      <p:sp>
        <p:nvSpPr>
          <p:cNvPr id="21" name="Shape 19"/>
          <p:cNvSpPr/>
          <p:nvPr/>
        </p:nvSpPr>
        <p:spPr>
          <a:xfrm>
            <a:off x="3227832" y="2825496"/>
            <a:ext cx="950976" cy="310896"/>
          </a:xfrm>
          <a:prstGeom prst="roundRect">
            <a:avLst>
              <a:gd name="adj" fmla="val 14706"/>
            </a:avLst>
          </a:prstGeom>
          <a:solidFill>
            <a:srgbClr val="F1F4F9"/>
          </a:solidFill>
          <a:ln w="12700">
            <a:solidFill>
              <a:srgbClr val="F1F4F9"/>
            </a:solidFill>
            <a:prstDash val="solid"/>
          </a:ln>
        </p:spPr>
      </p:sp>
      <p:sp>
        <p:nvSpPr>
          <p:cNvPr id="22" name="Shape 20"/>
          <p:cNvSpPr/>
          <p:nvPr/>
        </p:nvSpPr>
        <p:spPr>
          <a:xfrm>
            <a:off x="3227832" y="3218688"/>
            <a:ext cx="950976" cy="310896"/>
          </a:xfrm>
          <a:prstGeom prst="roundRect">
            <a:avLst>
              <a:gd name="adj" fmla="val 14706"/>
            </a:avLst>
          </a:prstGeom>
          <a:solidFill>
            <a:srgbClr val="F1F4F9"/>
          </a:solidFill>
          <a:ln w="12700">
            <a:solidFill>
              <a:srgbClr val="F1F4F9"/>
            </a:solidFill>
            <a:prstDash val="solid"/>
          </a:ln>
        </p:spPr>
      </p:sp>
      <p:sp>
        <p:nvSpPr>
          <p:cNvPr id="23" name="Shape 21"/>
          <p:cNvSpPr/>
          <p:nvPr/>
        </p:nvSpPr>
        <p:spPr>
          <a:xfrm>
            <a:off x="4663440" y="1188720"/>
            <a:ext cx="3931920" cy="2697480"/>
          </a:xfrm>
          <a:prstGeom prst="roundRect">
            <a:avLst>
              <a:gd name="adj" fmla="val 4068"/>
            </a:avLst>
          </a:prstGeom>
          <a:solidFill>
            <a:srgbClr val="E6ECF5"/>
          </a:solidFill>
          <a:ln w="12700">
            <a:solidFill>
              <a:srgbClr val="E6ECF5"/>
            </a:solidFill>
            <a:prstDash val="solid"/>
          </a:ln>
        </p:spPr>
      </p:sp>
      <p:sp>
        <p:nvSpPr>
          <p:cNvPr id="24" name="Text 22"/>
          <p:cNvSpPr txBox="1"/>
          <p:nvPr/>
        </p:nvSpPr>
        <p:spPr>
          <a:xfrm>
            <a:off x="4892040" y="1298448"/>
            <a:ext cx="3474720" cy="384048"/>
          </a:xfrm>
          <a:prstGeom prst="rect">
            <a:avLst/>
          </a:prstGeom>
          <a:noFill/>
          <a:ln/>
        </p:spPr>
        <p:txBody>
          <a:bodyPr wrap="square" lIns="0" tIns="0" rIns="0" bIns="0" rtlCol="0" anchor="ctr"/>
          <a:lstStyle/>
          <a:p>
            <a:pPr indent="0" marL="0">
              <a:buNone/>
            </a:pPr>
            <a:r>
              <a:rPr lang="en-US" sz="1800" b="1" dirty="0">
                <a:solidFill>
                  <a:srgbClr val="00126B"/>
                </a:solidFill>
                <a:latin typeface="Calibri" pitchFamily="34" charset="0"/>
                <a:ea typeface="Calibri" pitchFamily="34" charset="-122"/>
                <a:cs typeface="Calibri" pitchFamily="34" charset="-120"/>
              </a:rPr>
              <a:t>Administrator</a:t>
            </a:r>
            <a:endParaRPr lang="en-US" sz="1800" dirty="0"/>
          </a:p>
        </p:txBody>
      </p:sp>
      <p:sp>
        <p:nvSpPr>
          <p:cNvPr id="25" name="Shape 23"/>
          <p:cNvSpPr/>
          <p:nvPr/>
        </p:nvSpPr>
        <p:spPr>
          <a:xfrm>
            <a:off x="4892040" y="1783080"/>
            <a:ext cx="1097280" cy="1920240"/>
          </a:xfrm>
          <a:prstGeom prst="rect">
            <a:avLst/>
          </a:prstGeom>
          <a:solidFill>
            <a:srgbClr val="FFFFFF"/>
          </a:solidFill>
          <a:ln w="9525">
            <a:solidFill>
              <a:srgbClr val="D5DCEA"/>
            </a:solidFill>
            <a:prstDash val="solid"/>
          </a:ln>
        </p:spPr>
      </p:sp>
      <p:sp>
        <p:nvSpPr>
          <p:cNvPr id="26" name="Shape 24"/>
          <p:cNvSpPr/>
          <p:nvPr/>
        </p:nvSpPr>
        <p:spPr>
          <a:xfrm>
            <a:off x="4892040" y="1783080"/>
            <a:ext cx="1097280" cy="64008"/>
          </a:xfrm>
          <a:prstGeom prst="rect">
            <a:avLst/>
          </a:prstGeom>
          <a:solidFill>
            <a:srgbClr val="D68C00"/>
          </a:solidFill>
          <a:ln w="12700">
            <a:solidFill>
              <a:srgbClr val="D68C00"/>
            </a:solidFill>
            <a:prstDash val="solid"/>
          </a:ln>
        </p:spPr>
      </p:sp>
      <p:sp>
        <p:nvSpPr>
          <p:cNvPr id="27" name="Text 25"/>
          <p:cNvSpPr txBox="1"/>
          <p:nvPr/>
        </p:nvSpPr>
        <p:spPr>
          <a:xfrm>
            <a:off x="4946904" y="1901952"/>
            <a:ext cx="987552" cy="457200"/>
          </a:xfrm>
          <a:prstGeom prst="rect">
            <a:avLst/>
          </a:prstGeom>
          <a:noFill/>
          <a:ln/>
        </p:spPr>
        <p:txBody>
          <a:bodyPr wrap="square" lIns="0" tIns="0" rIns="0" bIns="0" rtlCol="0" anchor="t"/>
          <a:lstStyle/>
          <a:p>
            <a:pPr algn="ctr" indent="0" marL="0">
              <a:buNone/>
            </a:pPr>
            <a:r>
              <a:rPr lang="en-US" sz="1000" b="1" dirty="0">
                <a:solidFill>
                  <a:srgbClr val="1E2230"/>
                </a:solidFill>
                <a:latin typeface="Calibri" pitchFamily="34" charset="0"/>
                <a:ea typeface="Calibri" pitchFamily="34" charset="-122"/>
                <a:cs typeface="Calibri" pitchFamily="34" charset="-120"/>
              </a:rPr>
              <a:t>TODO, oldest first</a:t>
            </a:r>
            <a:endParaRPr lang="en-US" sz="1000" dirty="0"/>
          </a:p>
        </p:txBody>
      </p:sp>
      <p:sp>
        <p:nvSpPr>
          <p:cNvPr id="28" name="Shape 26"/>
          <p:cNvSpPr/>
          <p:nvPr/>
        </p:nvSpPr>
        <p:spPr>
          <a:xfrm>
            <a:off x="4965192" y="2432304"/>
            <a:ext cx="950976" cy="310896"/>
          </a:xfrm>
          <a:prstGeom prst="roundRect">
            <a:avLst>
              <a:gd name="adj" fmla="val 14706"/>
            </a:avLst>
          </a:prstGeom>
          <a:solidFill>
            <a:srgbClr val="F1F4F9"/>
          </a:solidFill>
          <a:ln w="12700">
            <a:solidFill>
              <a:srgbClr val="F1F4F9"/>
            </a:solidFill>
            <a:prstDash val="solid"/>
          </a:ln>
        </p:spPr>
      </p:sp>
      <p:sp>
        <p:nvSpPr>
          <p:cNvPr id="29" name="Shape 27"/>
          <p:cNvSpPr/>
          <p:nvPr/>
        </p:nvSpPr>
        <p:spPr>
          <a:xfrm>
            <a:off x="4965192" y="2825496"/>
            <a:ext cx="950976" cy="310896"/>
          </a:xfrm>
          <a:prstGeom prst="roundRect">
            <a:avLst>
              <a:gd name="adj" fmla="val 14706"/>
            </a:avLst>
          </a:prstGeom>
          <a:solidFill>
            <a:srgbClr val="F1F4F9"/>
          </a:solidFill>
          <a:ln w="12700">
            <a:solidFill>
              <a:srgbClr val="F1F4F9"/>
            </a:solidFill>
            <a:prstDash val="solid"/>
          </a:ln>
        </p:spPr>
      </p:sp>
      <p:sp>
        <p:nvSpPr>
          <p:cNvPr id="30" name="Shape 28"/>
          <p:cNvSpPr/>
          <p:nvPr/>
        </p:nvSpPr>
        <p:spPr>
          <a:xfrm>
            <a:off x="4965192" y="3218688"/>
            <a:ext cx="950976" cy="310896"/>
          </a:xfrm>
          <a:prstGeom prst="roundRect">
            <a:avLst>
              <a:gd name="adj" fmla="val 14706"/>
            </a:avLst>
          </a:prstGeom>
          <a:solidFill>
            <a:srgbClr val="F1F4F9"/>
          </a:solidFill>
          <a:ln w="12700">
            <a:solidFill>
              <a:srgbClr val="F1F4F9"/>
            </a:solidFill>
            <a:prstDash val="solid"/>
          </a:ln>
        </p:spPr>
      </p:sp>
      <p:sp>
        <p:nvSpPr>
          <p:cNvPr id="31" name="Shape 29"/>
          <p:cNvSpPr/>
          <p:nvPr/>
        </p:nvSpPr>
        <p:spPr>
          <a:xfrm>
            <a:off x="6080760" y="1783080"/>
            <a:ext cx="1097280" cy="1920240"/>
          </a:xfrm>
          <a:prstGeom prst="rect">
            <a:avLst/>
          </a:prstGeom>
          <a:solidFill>
            <a:srgbClr val="FFFFFF"/>
          </a:solidFill>
          <a:ln w="9525">
            <a:solidFill>
              <a:srgbClr val="D5DCEA"/>
            </a:solidFill>
            <a:prstDash val="solid"/>
          </a:ln>
        </p:spPr>
      </p:sp>
      <p:sp>
        <p:nvSpPr>
          <p:cNvPr id="32" name="Shape 30"/>
          <p:cNvSpPr/>
          <p:nvPr/>
        </p:nvSpPr>
        <p:spPr>
          <a:xfrm>
            <a:off x="6080760" y="1783080"/>
            <a:ext cx="1097280" cy="64008"/>
          </a:xfrm>
          <a:prstGeom prst="rect">
            <a:avLst/>
          </a:prstGeom>
          <a:solidFill>
            <a:srgbClr val="3860B2"/>
          </a:solidFill>
          <a:ln w="12700">
            <a:solidFill>
              <a:srgbClr val="3860B2"/>
            </a:solidFill>
            <a:prstDash val="solid"/>
          </a:ln>
        </p:spPr>
      </p:sp>
      <p:sp>
        <p:nvSpPr>
          <p:cNvPr id="33" name="Text 31"/>
          <p:cNvSpPr txBox="1"/>
          <p:nvPr/>
        </p:nvSpPr>
        <p:spPr>
          <a:xfrm>
            <a:off x="6135624" y="1901952"/>
            <a:ext cx="987552" cy="457200"/>
          </a:xfrm>
          <a:prstGeom prst="rect">
            <a:avLst/>
          </a:prstGeom>
          <a:noFill/>
          <a:ln/>
        </p:spPr>
        <p:txBody>
          <a:bodyPr wrap="square" lIns="0" tIns="0" rIns="0" bIns="0" rtlCol="0" anchor="t"/>
          <a:lstStyle/>
          <a:p>
            <a:pPr algn="ctr" indent="0" marL="0">
              <a:buNone/>
            </a:pPr>
            <a:r>
              <a:rPr lang="en-US" sz="1000" b="1" dirty="0">
                <a:solidFill>
                  <a:srgbClr val="1E2230"/>
                </a:solidFill>
                <a:latin typeface="Calibri" pitchFamily="34" charset="0"/>
                <a:ea typeface="Calibri" pitchFamily="34" charset="-122"/>
                <a:cs typeface="Calibri" pitchFamily="34" charset="-120"/>
              </a:rPr>
              <a:t>5 latest in progress</a:t>
            </a:r>
            <a:endParaRPr lang="en-US" sz="1000" dirty="0"/>
          </a:p>
        </p:txBody>
      </p:sp>
      <p:sp>
        <p:nvSpPr>
          <p:cNvPr id="34" name="Shape 32"/>
          <p:cNvSpPr/>
          <p:nvPr/>
        </p:nvSpPr>
        <p:spPr>
          <a:xfrm>
            <a:off x="6153912" y="2432304"/>
            <a:ext cx="950976" cy="310896"/>
          </a:xfrm>
          <a:prstGeom prst="roundRect">
            <a:avLst>
              <a:gd name="adj" fmla="val 14706"/>
            </a:avLst>
          </a:prstGeom>
          <a:solidFill>
            <a:srgbClr val="F1F4F9"/>
          </a:solidFill>
          <a:ln w="12700">
            <a:solidFill>
              <a:srgbClr val="F1F4F9"/>
            </a:solidFill>
            <a:prstDash val="solid"/>
          </a:ln>
        </p:spPr>
      </p:sp>
      <p:sp>
        <p:nvSpPr>
          <p:cNvPr id="35" name="Shape 33"/>
          <p:cNvSpPr/>
          <p:nvPr/>
        </p:nvSpPr>
        <p:spPr>
          <a:xfrm>
            <a:off x="6153912" y="2825496"/>
            <a:ext cx="950976" cy="310896"/>
          </a:xfrm>
          <a:prstGeom prst="roundRect">
            <a:avLst>
              <a:gd name="adj" fmla="val 14706"/>
            </a:avLst>
          </a:prstGeom>
          <a:solidFill>
            <a:srgbClr val="F1F4F9"/>
          </a:solidFill>
          <a:ln w="12700">
            <a:solidFill>
              <a:srgbClr val="F1F4F9"/>
            </a:solidFill>
            <a:prstDash val="solid"/>
          </a:ln>
        </p:spPr>
      </p:sp>
      <p:sp>
        <p:nvSpPr>
          <p:cNvPr id="36" name="Shape 34"/>
          <p:cNvSpPr/>
          <p:nvPr/>
        </p:nvSpPr>
        <p:spPr>
          <a:xfrm>
            <a:off x="6153912" y="3218688"/>
            <a:ext cx="950976" cy="310896"/>
          </a:xfrm>
          <a:prstGeom prst="roundRect">
            <a:avLst>
              <a:gd name="adj" fmla="val 14706"/>
            </a:avLst>
          </a:prstGeom>
          <a:solidFill>
            <a:srgbClr val="F1F4F9"/>
          </a:solidFill>
          <a:ln w="12700">
            <a:solidFill>
              <a:srgbClr val="F1F4F9"/>
            </a:solidFill>
            <a:prstDash val="solid"/>
          </a:ln>
        </p:spPr>
      </p:sp>
      <p:sp>
        <p:nvSpPr>
          <p:cNvPr id="37" name="Shape 35"/>
          <p:cNvSpPr/>
          <p:nvPr/>
        </p:nvSpPr>
        <p:spPr>
          <a:xfrm>
            <a:off x="7269480" y="1783080"/>
            <a:ext cx="1097280" cy="1920240"/>
          </a:xfrm>
          <a:prstGeom prst="rect">
            <a:avLst/>
          </a:prstGeom>
          <a:solidFill>
            <a:srgbClr val="FFFFFF"/>
          </a:solidFill>
          <a:ln w="9525">
            <a:solidFill>
              <a:srgbClr val="D5DCEA"/>
            </a:solidFill>
            <a:prstDash val="solid"/>
          </a:ln>
        </p:spPr>
      </p:sp>
      <p:sp>
        <p:nvSpPr>
          <p:cNvPr id="38" name="Shape 36"/>
          <p:cNvSpPr/>
          <p:nvPr/>
        </p:nvSpPr>
        <p:spPr>
          <a:xfrm>
            <a:off x="7269480" y="1783080"/>
            <a:ext cx="1097280" cy="64008"/>
          </a:xfrm>
          <a:prstGeom prst="rect">
            <a:avLst/>
          </a:prstGeom>
          <a:solidFill>
            <a:srgbClr val="2E7D32"/>
          </a:solidFill>
          <a:ln w="12700">
            <a:solidFill>
              <a:srgbClr val="2E7D32"/>
            </a:solidFill>
            <a:prstDash val="solid"/>
          </a:ln>
        </p:spPr>
      </p:sp>
      <p:sp>
        <p:nvSpPr>
          <p:cNvPr id="39" name="Text 37"/>
          <p:cNvSpPr txBox="1"/>
          <p:nvPr/>
        </p:nvSpPr>
        <p:spPr>
          <a:xfrm>
            <a:off x="7324344" y="1901952"/>
            <a:ext cx="987552" cy="457200"/>
          </a:xfrm>
          <a:prstGeom prst="rect">
            <a:avLst/>
          </a:prstGeom>
          <a:noFill/>
          <a:ln/>
        </p:spPr>
        <p:txBody>
          <a:bodyPr wrap="square" lIns="0" tIns="0" rIns="0" bIns="0" rtlCol="0" anchor="t"/>
          <a:lstStyle/>
          <a:p>
            <a:pPr algn="ctr" indent="0" marL="0">
              <a:buNone/>
            </a:pPr>
            <a:r>
              <a:rPr lang="en-US" sz="1000" b="1" dirty="0">
                <a:solidFill>
                  <a:srgbClr val="1E2230"/>
                </a:solidFill>
                <a:latin typeface="Calibri" pitchFamily="34" charset="0"/>
                <a:ea typeface="Calibri" pitchFamily="34" charset="-122"/>
                <a:cs typeface="Calibri" pitchFamily="34" charset="-120"/>
              </a:rPr>
              <a:t>Final validations</a:t>
            </a:r>
            <a:endParaRPr lang="en-US" sz="1000" dirty="0"/>
          </a:p>
        </p:txBody>
      </p:sp>
      <p:sp>
        <p:nvSpPr>
          <p:cNvPr id="40" name="Shape 38"/>
          <p:cNvSpPr/>
          <p:nvPr/>
        </p:nvSpPr>
        <p:spPr>
          <a:xfrm>
            <a:off x="7342632" y="2432304"/>
            <a:ext cx="950976" cy="310896"/>
          </a:xfrm>
          <a:prstGeom prst="roundRect">
            <a:avLst>
              <a:gd name="adj" fmla="val 14706"/>
            </a:avLst>
          </a:prstGeom>
          <a:solidFill>
            <a:srgbClr val="F1F4F9"/>
          </a:solidFill>
          <a:ln w="12700">
            <a:solidFill>
              <a:srgbClr val="F1F4F9"/>
            </a:solidFill>
            <a:prstDash val="solid"/>
          </a:ln>
        </p:spPr>
      </p:sp>
      <p:sp>
        <p:nvSpPr>
          <p:cNvPr id="41" name="Shape 39"/>
          <p:cNvSpPr/>
          <p:nvPr/>
        </p:nvSpPr>
        <p:spPr>
          <a:xfrm>
            <a:off x="7342632" y="2825496"/>
            <a:ext cx="950976" cy="310896"/>
          </a:xfrm>
          <a:prstGeom prst="roundRect">
            <a:avLst>
              <a:gd name="adj" fmla="val 14706"/>
            </a:avLst>
          </a:prstGeom>
          <a:solidFill>
            <a:srgbClr val="F1F4F9"/>
          </a:solidFill>
          <a:ln w="12700">
            <a:solidFill>
              <a:srgbClr val="F1F4F9"/>
            </a:solidFill>
            <a:prstDash val="solid"/>
          </a:ln>
        </p:spPr>
      </p:sp>
      <p:sp>
        <p:nvSpPr>
          <p:cNvPr id="42" name="Shape 40"/>
          <p:cNvSpPr/>
          <p:nvPr/>
        </p:nvSpPr>
        <p:spPr>
          <a:xfrm>
            <a:off x="7342632" y="3218688"/>
            <a:ext cx="950976" cy="310896"/>
          </a:xfrm>
          <a:prstGeom prst="roundRect">
            <a:avLst>
              <a:gd name="adj" fmla="val 14706"/>
            </a:avLst>
          </a:prstGeom>
          <a:solidFill>
            <a:srgbClr val="F1F4F9"/>
          </a:solidFill>
          <a:ln w="12700">
            <a:solidFill>
              <a:srgbClr val="F1F4F9"/>
            </a:solidFill>
            <a:prstDash val="solid"/>
          </a:ln>
        </p:spPr>
      </p:sp>
      <p:sp>
        <p:nvSpPr>
          <p:cNvPr id="43" name="Text 41"/>
          <p:cNvSpPr txBox="1"/>
          <p:nvPr/>
        </p:nvSpPr>
        <p:spPr>
          <a:xfrm>
            <a:off x="548640" y="4069080"/>
            <a:ext cx="8046720" cy="457200"/>
          </a:xfrm>
          <a:prstGeom prst="rect">
            <a:avLst/>
          </a:prstGeom>
          <a:noFill/>
          <a:ln/>
        </p:spPr>
        <p:txBody>
          <a:bodyPr wrap="square" lIns="0" tIns="0" rIns="0" bIns="0" rtlCol="0" anchor="ctr"/>
          <a:lstStyle/>
          <a:p>
            <a:pPr indent="0" marL="0">
              <a:buNone/>
            </a:pPr>
            <a:r>
              <a:rPr lang="en-US" sz="1400" i="1" dirty="0">
                <a:solidFill>
                  <a:srgbClr val="5A6272"/>
                </a:solidFill>
                <a:latin typeface="Calibri" pitchFamily="34" charset="0"/>
                <a:ea typeface="Calibri" pitchFamily="34" charset="-122"/>
                <a:cs typeface="Calibri" pitchFamily="34" charset="-120"/>
              </a:rPr>
              <a:t>Each list has a counter and an info icon that explains how it is sorted: your priorities, in one glance.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indent="0" marL="0">
              <a:buNone/>
            </a:pPr>
            <a:r>
              <a:rPr lang="en-US" sz="3400" b="1" dirty="0">
                <a:solidFill>
                  <a:srgbClr val="00126B"/>
                </a:solidFill>
                <a:latin typeface="Calibri" pitchFamily="34" charset="0"/>
                <a:ea typeface="Calibri" pitchFamily="34" charset="-122"/>
                <a:cs typeface="Calibri" pitchFamily="34" charset="-120"/>
              </a:rPr>
              <a:t>Quality built in</a:t>
            </a:r>
            <a:endParaRPr lang="en-US" sz="3400" dirty="0"/>
          </a:p>
        </p:txBody>
      </p:sp>
      <p:sp>
        <p:nvSpPr>
          <p:cNvPr id="3" name="Shape 1"/>
          <p:cNvSpPr/>
          <p:nvPr/>
        </p:nvSpPr>
        <p:spPr>
          <a:xfrm>
            <a:off x="548640" y="1188720"/>
            <a:ext cx="3931920" cy="1417320"/>
          </a:xfrm>
          <a:prstGeom prst="roundRect">
            <a:avLst>
              <a:gd name="adj" fmla="val 6452"/>
            </a:avLst>
          </a:prstGeom>
          <a:solidFill>
            <a:srgbClr val="FFFFFF"/>
          </a:solidFill>
          <a:ln w="12700">
            <a:solidFill>
              <a:srgbClr val="D5DCEA"/>
            </a:solidFill>
            <a:prstDash val="solid"/>
          </a:ln>
          <a:effectLst>
            <a:outerShdw sx="100000" sy="100000" kx="0" ky="0" algn="bl" rotWithShape="0" blurRad="50800" dist="19050" dir="5400000">
              <a:srgbClr val="000000">
                <a:alpha val="12000"/>
              </a:srgbClr>
            </a:outerShdw>
          </a:effectLst>
        </p:spPr>
      </p:sp>
      <p:sp>
        <p:nvSpPr>
          <p:cNvPr id="4" name="Shape 2"/>
          <p:cNvSpPr/>
          <p:nvPr/>
        </p:nvSpPr>
        <p:spPr>
          <a:xfrm>
            <a:off x="777240" y="1463040"/>
            <a:ext cx="566928" cy="566928"/>
          </a:xfrm>
          <a:prstGeom prst="ellipse">
            <a:avLst/>
          </a:prstGeom>
          <a:solidFill>
            <a:srgbClr val="E8B400"/>
          </a:solidFill>
          <a:ln w="12700">
            <a:solidFill>
              <a:srgbClr val="E8B400"/>
            </a:solidFill>
            <a:prstDash val="solid"/>
          </a:ln>
        </p:spPr>
      </p:sp>
      <p:pic>
        <p:nvPicPr>
          <p:cNvPr id="5" name="Image 0" descr="preencoded.png">    </p:cNvPr>
          <p:cNvPicPr>
            <a:picLocks noChangeAspect="1"/>
          </p:cNvPicPr>
          <p:nvPr/>
        </p:nvPicPr>
        <p:blipFill>
          <a:blip r:embed="rId1"/>
          <a:stretch>
            <a:fillRect/>
          </a:stretch>
        </p:blipFill>
        <p:spPr>
          <a:xfrm>
            <a:off x="924641" y="1610441"/>
            <a:ext cx="272125" cy="272125"/>
          </a:xfrm>
          <a:prstGeom prst="rect">
            <a:avLst/>
          </a:prstGeom>
        </p:spPr>
      </p:pic>
      <p:sp>
        <p:nvSpPr>
          <p:cNvPr id="6" name="Text 3"/>
          <p:cNvSpPr txBox="1"/>
          <p:nvPr/>
        </p:nvSpPr>
        <p:spPr>
          <a:xfrm>
            <a:off x="1508760" y="1444752"/>
            <a:ext cx="2743200" cy="347472"/>
          </a:xfrm>
          <a:prstGeom prst="rect">
            <a:avLst/>
          </a:prstGeom>
          <a:noFill/>
          <a:ln/>
        </p:spPr>
        <p:txBody>
          <a:bodyPr wrap="square" lIns="0" tIns="0" rIns="0" bIns="0" rtlCol="0" anchor="ctr"/>
          <a:lstStyle/>
          <a:p>
            <a:pPr indent="0" marL="0">
              <a:buNone/>
            </a:pPr>
            <a:r>
              <a:rPr lang="en-US" sz="1600" b="1" dirty="0">
                <a:solidFill>
                  <a:srgbClr val="1E2230"/>
                </a:solidFill>
                <a:latin typeface="Calibri" pitchFamily="34" charset="0"/>
                <a:ea typeface="Calibri" pitchFamily="34" charset="-122"/>
                <a:cs typeface="Calibri" pitchFamily="34" charset="-120"/>
              </a:rPr>
              <a:t>Missing? It turns yellow</a:t>
            </a:r>
            <a:endParaRPr lang="en-US" sz="1600" dirty="0"/>
          </a:p>
        </p:txBody>
      </p:sp>
      <p:sp>
        <p:nvSpPr>
          <p:cNvPr id="7" name="Text 4"/>
          <p:cNvSpPr txBox="1"/>
          <p:nvPr/>
        </p:nvSpPr>
        <p:spPr>
          <a:xfrm>
            <a:off x="1508760" y="1810512"/>
            <a:ext cx="2788920" cy="640080"/>
          </a:xfrm>
          <a:prstGeom prst="rect">
            <a:avLst/>
          </a:prstGeom>
          <a:noFill/>
          <a:ln/>
        </p:spPr>
        <p:txBody>
          <a:bodyPr wrap="square" lIns="0" tIns="0" rIns="0" bIns="0" rtlCol="0" anchor="t"/>
          <a:lstStyle/>
          <a:p>
            <a:pPr indent="0" marL="0">
              <a:buNone/>
            </a:pPr>
            <a:r>
              <a:rPr lang="en-US" sz="1300" dirty="0">
                <a:solidFill>
                  <a:srgbClr val="5A6272"/>
                </a:solidFill>
                <a:latin typeface="Calibri" pitchFamily="34" charset="0"/>
                <a:ea typeface="Calibri" pitchFamily="34" charset="-122"/>
                <a:cs typeface="Calibri" pitchFamily="34" charset="-120"/>
              </a:rPr>
              <a:t>Empty mandatory fields get a yellow border until they are filled.</a:t>
            </a:r>
            <a:endParaRPr lang="en-US" sz="1300" dirty="0"/>
          </a:p>
        </p:txBody>
      </p:sp>
      <p:sp>
        <p:nvSpPr>
          <p:cNvPr id="8" name="Shape 5"/>
          <p:cNvSpPr/>
          <p:nvPr/>
        </p:nvSpPr>
        <p:spPr>
          <a:xfrm>
            <a:off x="4663440" y="1188720"/>
            <a:ext cx="3931920" cy="1417320"/>
          </a:xfrm>
          <a:prstGeom prst="roundRect">
            <a:avLst>
              <a:gd name="adj" fmla="val 6452"/>
            </a:avLst>
          </a:prstGeom>
          <a:solidFill>
            <a:srgbClr val="FFFFFF"/>
          </a:solidFill>
          <a:ln w="12700">
            <a:solidFill>
              <a:srgbClr val="D5DCEA"/>
            </a:solidFill>
            <a:prstDash val="solid"/>
          </a:ln>
          <a:effectLst>
            <a:outerShdw sx="100000" sy="100000" kx="0" ky="0" algn="bl" rotWithShape="0" blurRad="50800" dist="19050" dir="5400000">
              <a:srgbClr val="000000">
                <a:alpha val="12000"/>
              </a:srgbClr>
            </a:outerShdw>
          </a:effectLst>
        </p:spPr>
      </p:sp>
      <p:sp>
        <p:nvSpPr>
          <p:cNvPr id="9" name="Shape 6"/>
          <p:cNvSpPr/>
          <p:nvPr/>
        </p:nvSpPr>
        <p:spPr>
          <a:xfrm>
            <a:off x="4892040" y="1463040"/>
            <a:ext cx="566928" cy="566928"/>
          </a:xfrm>
          <a:prstGeom prst="ellipse">
            <a:avLst/>
          </a:prstGeom>
          <a:solidFill>
            <a:srgbClr val="00126B"/>
          </a:solidFill>
          <a:ln w="12700">
            <a:solidFill>
              <a:srgbClr val="00126B"/>
            </a:solidFill>
            <a:prstDash val="solid"/>
          </a:ln>
        </p:spPr>
      </p:sp>
      <p:pic>
        <p:nvPicPr>
          <p:cNvPr id="10" name="Image 1" descr="preencoded.png">    </p:cNvPr>
          <p:cNvPicPr>
            <a:picLocks noChangeAspect="1"/>
          </p:cNvPicPr>
          <p:nvPr/>
        </p:nvPicPr>
        <p:blipFill>
          <a:blip r:embed="rId2"/>
          <a:stretch>
            <a:fillRect/>
          </a:stretch>
        </p:blipFill>
        <p:spPr>
          <a:xfrm>
            <a:off x="5039441" y="1610441"/>
            <a:ext cx="272125" cy="272125"/>
          </a:xfrm>
          <a:prstGeom prst="rect">
            <a:avLst/>
          </a:prstGeom>
        </p:spPr>
      </p:pic>
      <p:sp>
        <p:nvSpPr>
          <p:cNvPr id="11" name="Text 7"/>
          <p:cNvSpPr txBox="1"/>
          <p:nvPr/>
        </p:nvSpPr>
        <p:spPr>
          <a:xfrm>
            <a:off x="5623560" y="1444752"/>
            <a:ext cx="2743200" cy="347472"/>
          </a:xfrm>
          <a:prstGeom prst="rect">
            <a:avLst/>
          </a:prstGeom>
          <a:noFill/>
          <a:ln/>
        </p:spPr>
        <p:txBody>
          <a:bodyPr wrap="square" lIns="0" tIns="0" rIns="0" bIns="0" rtlCol="0" anchor="ctr"/>
          <a:lstStyle/>
          <a:p>
            <a:pPr indent="0" marL="0">
              <a:buNone/>
            </a:pPr>
            <a:r>
              <a:rPr lang="en-US" sz="1600" b="1" dirty="0">
                <a:solidFill>
                  <a:srgbClr val="1E2230"/>
                </a:solidFill>
                <a:latin typeface="Calibri" pitchFamily="34" charset="0"/>
                <a:ea typeface="Calibri" pitchFamily="34" charset="-122"/>
                <a:cs typeface="Calibri" pitchFamily="34" charset="-120"/>
              </a:rPr>
              <a:t>Checks that fit the type</a:t>
            </a:r>
            <a:endParaRPr lang="en-US" sz="1600" dirty="0"/>
          </a:p>
        </p:txBody>
      </p:sp>
      <p:sp>
        <p:nvSpPr>
          <p:cNvPr id="12" name="Text 8"/>
          <p:cNvSpPr txBox="1"/>
          <p:nvPr/>
        </p:nvSpPr>
        <p:spPr>
          <a:xfrm>
            <a:off x="5623560" y="1810512"/>
            <a:ext cx="2788920" cy="640080"/>
          </a:xfrm>
          <a:prstGeom prst="rect">
            <a:avLst/>
          </a:prstGeom>
          <a:noFill/>
          <a:ln/>
        </p:spPr>
        <p:txBody>
          <a:bodyPr wrap="square" lIns="0" tIns="0" rIns="0" bIns="0" rtlCol="0" anchor="t"/>
          <a:lstStyle/>
          <a:p>
            <a:pPr indent="0" marL="0">
              <a:buNone/>
            </a:pPr>
            <a:r>
              <a:rPr lang="en-US" sz="1300" dirty="0">
                <a:solidFill>
                  <a:srgbClr val="5A6272"/>
                </a:solidFill>
                <a:latin typeface="Calibri" pitchFamily="34" charset="0"/>
                <a:ea typeface="Calibri" pitchFamily="34" charset="-122"/>
                <a:cs typeface="Calibri" pitchFamily="34" charset="-120"/>
              </a:rPr>
              <a:t>The validation checklist adapts to photo, video or podcast.</a:t>
            </a:r>
            <a:endParaRPr lang="en-US" sz="1300" dirty="0"/>
          </a:p>
        </p:txBody>
      </p:sp>
      <p:sp>
        <p:nvSpPr>
          <p:cNvPr id="13" name="Shape 9"/>
          <p:cNvSpPr/>
          <p:nvPr/>
        </p:nvSpPr>
        <p:spPr>
          <a:xfrm>
            <a:off x="548640" y="2788920"/>
            <a:ext cx="3931920" cy="1417320"/>
          </a:xfrm>
          <a:prstGeom prst="roundRect">
            <a:avLst>
              <a:gd name="adj" fmla="val 6452"/>
            </a:avLst>
          </a:prstGeom>
          <a:solidFill>
            <a:srgbClr val="FFFFFF"/>
          </a:solidFill>
          <a:ln w="12700">
            <a:solidFill>
              <a:srgbClr val="D5DCEA"/>
            </a:solidFill>
            <a:prstDash val="solid"/>
          </a:ln>
          <a:effectLst>
            <a:outerShdw sx="100000" sy="100000" kx="0" ky="0" algn="bl" rotWithShape="0" blurRad="50800" dist="19050" dir="5400000">
              <a:srgbClr val="000000">
                <a:alpha val="12000"/>
              </a:srgbClr>
            </a:outerShdw>
          </a:effectLst>
        </p:spPr>
      </p:sp>
      <p:sp>
        <p:nvSpPr>
          <p:cNvPr id="14" name="Shape 10"/>
          <p:cNvSpPr/>
          <p:nvPr/>
        </p:nvSpPr>
        <p:spPr>
          <a:xfrm>
            <a:off x="777240" y="3063240"/>
            <a:ext cx="566928" cy="566928"/>
          </a:xfrm>
          <a:prstGeom prst="ellipse">
            <a:avLst/>
          </a:prstGeom>
          <a:solidFill>
            <a:srgbClr val="00126B"/>
          </a:solidFill>
          <a:ln w="12700">
            <a:solidFill>
              <a:srgbClr val="00126B"/>
            </a:solidFill>
            <a:prstDash val="solid"/>
          </a:ln>
        </p:spPr>
      </p:sp>
      <p:pic>
        <p:nvPicPr>
          <p:cNvPr id="15" name="Image 2" descr="preencoded.png">    </p:cNvPr>
          <p:cNvPicPr>
            <a:picLocks noChangeAspect="1"/>
          </p:cNvPicPr>
          <p:nvPr/>
        </p:nvPicPr>
        <p:blipFill>
          <a:blip r:embed="rId3"/>
          <a:stretch>
            <a:fillRect/>
          </a:stretch>
        </p:blipFill>
        <p:spPr>
          <a:xfrm>
            <a:off x="924641" y="3210641"/>
            <a:ext cx="272125" cy="272125"/>
          </a:xfrm>
          <a:prstGeom prst="rect">
            <a:avLst/>
          </a:prstGeom>
        </p:spPr>
      </p:pic>
      <p:sp>
        <p:nvSpPr>
          <p:cNvPr id="16" name="Text 11"/>
          <p:cNvSpPr txBox="1"/>
          <p:nvPr/>
        </p:nvSpPr>
        <p:spPr>
          <a:xfrm>
            <a:off x="1508760" y="3044952"/>
            <a:ext cx="2743200" cy="347472"/>
          </a:xfrm>
          <a:prstGeom prst="rect">
            <a:avLst/>
          </a:prstGeom>
          <a:noFill/>
          <a:ln/>
        </p:spPr>
        <p:txBody>
          <a:bodyPr wrap="square" lIns="0" tIns="0" rIns="0" bIns="0" rtlCol="0" anchor="ctr"/>
          <a:lstStyle/>
          <a:p>
            <a:pPr indent="0" marL="0">
              <a:buNone/>
            </a:pPr>
            <a:r>
              <a:rPr lang="en-US" sz="1600" b="1" dirty="0">
                <a:solidFill>
                  <a:srgbClr val="1E2230"/>
                </a:solidFill>
                <a:latin typeface="Calibri" pitchFamily="34" charset="0"/>
                <a:ea typeface="Calibri" pitchFamily="34" charset="-122"/>
                <a:cs typeface="Calibri" pitchFamily="34" charset="-120"/>
              </a:rPr>
              <a:t>Legal and documents</a:t>
            </a:r>
            <a:endParaRPr lang="en-US" sz="1600" dirty="0"/>
          </a:p>
        </p:txBody>
      </p:sp>
      <p:sp>
        <p:nvSpPr>
          <p:cNvPr id="17" name="Text 12"/>
          <p:cNvSpPr txBox="1"/>
          <p:nvPr/>
        </p:nvSpPr>
        <p:spPr>
          <a:xfrm>
            <a:off x="1508760" y="3410712"/>
            <a:ext cx="2788920" cy="640080"/>
          </a:xfrm>
          <a:prstGeom prst="rect">
            <a:avLst/>
          </a:prstGeom>
          <a:noFill/>
          <a:ln/>
        </p:spPr>
        <p:txBody>
          <a:bodyPr wrap="square" lIns="0" tIns="0" rIns="0" bIns="0" rtlCol="0" anchor="t"/>
          <a:lstStyle/>
          <a:p>
            <a:pPr indent="0" marL="0">
              <a:buNone/>
            </a:pPr>
            <a:r>
              <a:rPr lang="en-US" sz="1300" dirty="0">
                <a:solidFill>
                  <a:srgbClr val="5A6272"/>
                </a:solidFill>
                <a:latin typeface="Calibri" pitchFamily="34" charset="0"/>
                <a:ea typeface="Calibri" pitchFamily="34" charset="-122"/>
                <a:cs typeface="Calibri" pitchFamily="34" charset="-120"/>
              </a:rPr>
              <a:t>Contract case, model releases, music licences and subtitle files.</a:t>
            </a:r>
            <a:endParaRPr lang="en-US" sz="1300" dirty="0"/>
          </a:p>
        </p:txBody>
      </p:sp>
      <p:sp>
        <p:nvSpPr>
          <p:cNvPr id="18" name="Shape 13"/>
          <p:cNvSpPr/>
          <p:nvPr/>
        </p:nvSpPr>
        <p:spPr>
          <a:xfrm>
            <a:off x="4663440" y="2788920"/>
            <a:ext cx="3931920" cy="1417320"/>
          </a:xfrm>
          <a:prstGeom prst="roundRect">
            <a:avLst>
              <a:gd name="adj" fmla="val 6452"/>
            </a:avLst>
          </a:prstGeom>
          <a:solidFill>
            <a:srgbClr val="FFFFFF"/>
          </a:solidFill>
          <a:ln w="12700">
            <a:solidFill>
              <a:srgbClr val="D5DCEA"/>
            </a:solidFill>
            <a:prstDash val="solid"/>
          </a:ln>
          <a:effectLst>
            <a:outerShdw sx="100000" sy="100000" kx="0" ky="0" algn="bl" rotWithShape="0" blurRad="50800" dist="19050" dir="5400000">
              <a:srgbClr val="000000">
                <a:alpha val="12000"/>
              </a:srgbClr>
            </a:outerShdw>
          </a:effectLst>
        </p:spPr>
      </p:sp>
      <p:sp>
        <p:nvSpPr>
          <p:cNvPr id="19" name="Shape 14"/>
          <p:cNvSpPr/>
          <p:nvPr/>
        </p:nvSpPr>
        <p:spPr>
          <a:xfrm>
            <a:off x="4892040" y="3063240"/>
            <a:ext cx="566928" cy="566928"/>
          </a:xfrm>
          <a:prstGeom prst="ellipse">
            <a:avLst/>
          </a:prstGeom>
          <a:solidFill>
            <a:srgbClr val="00126B"/>
          </a:solidFill>
          <a:ln w="12700">
            <a:solidFill>
              <a:srgbClr val="00126B"/>
            </a:solidFill>
            <a:prstDash val="solid"/>
          </a:ln>
        </p:spPr>
      </p:sp>
      <p:pic>
        <p:nvPicPr>
          <p:cNvPr id="20" name="Image 3" descr="preencoded.png">    </p:cNvPr>
          <p:cNvPicPr>
            <a:picLocks noChangeAspect="1"/>
          </p:cNvPicPr>
          <p:nvPr/>
        </p:nvPicPr>
        <p:blipFill>
          <a:blip r:embed="rId4"/>
          <a:stretch>
            <a:fillRect/>
          </a:stretch>
        </p:blipFill>
        <p:spPr>
          <a:xfrm>
            <a:off x="5039441" y="3210641"/>
            <a:ext cx="272125" cy="272125"/>
          </a:xfrm>
          <a:prstGeom prst="rect">
            <a:avLst/>
          </a:prstGeom>
        </p:spPr>
      </p:pic>
      <p:sp>
        <p:nvSpPr>
          <p:cNvPr id="21" name="Text 15"/>
          <p:cNvSpPr txBox="1"/>
          <p:nvPr/>
        </p:nvSpPr>
        <p:spPr>
          <a:xfrm>
            <a:off x="5623560" y="3044952"/>
            <a:ext cx="2743200" cy="347472"/>
          </a:xfrm>
          <a:prstGeom prst="rect">
            <a:avLst/>
          </a:prstGeom>
          <a:noFill/>
          <a:ln/>
        </p:spPr>
        <p:txBody>
          <a:bodyPr wrap="square" lIns="0" tIns="0" rIns="0" bIns="0" rtlCol="0" anchor="ctr"/>
          <a:lstStyle/>
          <a:p>
            <a:pPr indent="0" marL="0">
              <a:buNone/>
            </a:pPr>
            <a:r>
              <a:rPr lang="en-US" sz="1600" b="1" dirty="0">
                <a:solidFill>
                  <a:srgbClr val="1E2230"/>
                </a:solidFill>
                <a:latin typeface="Calibri" pitchFamily="34" charset="0"/>
                <a:ea typeface="Calibri" pitchFamily="34" charset="-122"/>
                <a:cs typeface="Calibri" pitchFamily="34" charset="-120"/>
              </a:rPr>
              <a:t>Visuals checked on screen</a:t>
            </a:r>
            <a:endParaRPr lang="en-US" sz="1600" dirty="0"/>
          </a:p>
        </p:txBody>
      </p:sp>
      <p:sp>
        <p:nvSpPr>
          <p:cNvPr id="22" name="Text 16"/>
          <p:cNvSpPr txBox="1"/>
          <p:nvPr/>
        </p:nvSpPr>
        <p:spPr>
          <a:xfrm>
            <a:off x="5623560" y="3410712"/>
            <a:ext cx="2788920" cy="640080"/>
          </a:xfrm>
          <a:prstGeom prst="rect">
            <a:avLst/>
          </a:prstGeom>
          <a:noFill/>
          <a:ln/>
        </p:spPr>
        <p:txBody>
          <a:bodyPr wrap="square" lIns="0" tIns="0" rIns="0" bIns="0" rtlCol="0" anchor="t"/>
          <a:lstStyle/>
          <a:p>
            <a:pPr indent="0" marL="0">
              <a:buNone/>
            </a:pPr>
            <a:r>
              <a:rPr lang="en-US" sz="1300" dirty="0">
                <a:solidFill>
                  <a:srgbClr val="5A6272"/>
                </a:solidFill>
                <a:latin typeface="Calibri" pitchFamily="34" charset="0"/>
                <a:ea typeface="Calibri" pitchFamily="34" charset="-122"/>
                <a:cs typeface="Calibri" pitchFamily="34" charset="-120"/>
              </a:rPr>
              <a:t>Previews show whether an image has the right size and format.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indent="0" marL="0">
              <a:buNone/>
            </a:pPr>
            <a:r>
              <a:rPr lang="en-US" sz="3400" b="1" dirty="0">
                <a:solidFill>
                  <a:srgbClr val="00126B"/>
                </a:solidFill>
                <a:latin typeface="Calibri" pitchFamily="34" charset="0"/>
                <a:ea typeface="Calibri" pitchFamily="34" charset="-122"/>
                <a:cs typeface="Calibri" pitchFamily="34" charset="-120"/>
              </a:rPr>
              <a:t>Nothing slips through</a:t>
            </a:r>
            <a:endParaRPr lang="en-US" sz="3400" dirty="0"/>
          </a:p>
        </p:txBody>
      </p:sp>
      <p:sp>
        <p:nvSpPr>
          <p:cNvPr id="3" name="Shape 1"/>
          <p:cNvSpPr/>
          <p:nvPr/>
        </p:nvSpPr>
        <p:spPr>
          <a:xfrm>
            <a:off x="1280160" y="1325880"/>
            <a:ext cx="1097280" cy="1097280"/>
          </a:xfrm>
          <a:prstGeom prst="ellipse">
            <a:avLst/>
          </a:prstGeom>
          <a:solidFill>
            <a:srgbClr val="00126B"/>
          </a:solidFill>
          <a:ln w="12700">
            <a:solidFill>
              <a:srgbClr val="00126B"/>
            </a:solidFill>
            <a:prstDash val="solid"/>
          </a:ln>
        </p:spPr>
      </p:sp>
      <p:pic>
        <p:nvPicPr>
          <p:cNvPr id="4" name="Image 0" descr="preencoded.png">    </p:cNvPr>
          <p:cNvPicPr>
            <a:picLocks noChangeAspect="1"/>
          </p:cNvPicPr>
          <p:nvPr/>
        </p:nvPicPr>
        <p:blipFill>
          <a:blip r:embed="rId1"/>
          <a:stretch>
            <a:fillRect/>
          </a:stretch>
        </p:blipFill>
        <p:spPr>
          <a:xfrm>
            <a:off x="1565453" y="1611173"/>
            <a:ext cx="526694" cy="526694"/>
          </a:xfrm>
          <a:prstGeom prst="rect">
            <a:avLst/>
          </a:prstGeom>
        </p:spPr>
      </p:pic>
      <p:sp>
        <p:nvSpPr>
          <p:cNvPr id="5" name="Text 2"/>
          <p:cNvSpPr txBox="1"/>
          <p:nvPr/>
        </p:nvSpPr>
        <p:spPr>
          <a:xfrm>
            <a:off x="548640" y="2606040"/>
            <a:ext cx="2560320" cy="384048"/>
          </a:xfrm>
          <a:prstGeom prst="rect">
            <a:avLst/>
          </a:prstGeom>
          <a:noFill/>
          <a:ln/>
        </p:spPr>
        <p:txBody>
          <a:bodyPr wrap="square" lIns="0" tIns="0" rIns="0" bIns="0" rtlCol="0" anchor="ctr"/>
          <a:lstStyle/>
          <a:p>
            <a:pPr algn="ctr" indent="0" marL="0">
              <a:buNone/>
            </a:pPr>
            <a:r>
              <a:rPr lang="en-US" sz="1800" b="1" dirty="0">
                <a:solidFill>
                  <a:srgbClr val="1E2230"/>
                </a:solidFill>
                <a:latin typeface="Calibri" pitchFamily="34" charset="0"/>
                <a:ea typeface="Calibri" pitchFamily="34" charset="-122"/>
                <a:cs typeface="Calibri" pitchFamily="34" charset="-120"/>
              </a:rPr>
              <a:t>Notes icon</a:t>
            </a:r>
            <a:endParaRPr lang="en-US" sz="1800" dirty="0"/>
          </a:p>
        </p:txBody>
      </p:sp>
      <p:sp>
        <p:nvSpPr>
          <p:cNvPr id="6" name="Text 3"/>
          <p:cNvSpPr txBox="1"/>
          <p:nvPr/>
        </p:nvSpPr>
        <p:spPr>
          <a:xfrm>
            <a:off x="685800" y="3017520"/>
            <a:ext cx="2286000" cy="822960"/>
          </a:xfrm>
          <a:prstGeom prst="rect">
            <a:avLst/>
          </a:prstGeom>
          <a:noFill/>
          <a:ln/>
        </p:spPr>
        <p:txBody>
          <a:bodyPr wrap="square" lIns="0" tIns="0" rIns="0" bIns="0" rtlCol="0" anchor="t"/>
          <a:lstStyle/>
          <a:p>
            <a:pPr algn="ctr" indent="0" marL="0">
              <a:buNone/>
            </a:pPr>
            <a:r>
              <a:rPr lang="en-US" sz="1400" dirty="0">
                <a:solidFill>
                  <a:srgbClr val="5A6272"/>
                </a:solidFill>
                <a:latin typeface="Calibri" pitchFamily="34" charset="0"/>
                <a:ea typeface="Calibri" pitchFamily="34" charset="-122"/>
                <a:cs typeface="Calibri" pitchFamily="34" charset="-120"/>
              </a:rPr>
              <a:t>On every request: shows when there are notes to read.</a:t>
            </a:r>
            <a:endParaRPr lang="en-US" sz="1400" dirty="0"/>
          </a:p>
        </p:txBody>
      </p:sp>
      <p:sp>
        <p:nvSpPr>
          <p:cNvPr id="7" name="Shape 4"/>
          <p:cNvSpPr/>
          <p:nvPr/>
        </p:nvSpPr>
        <p:spPr>
          <a:xfrm>
            <a:off x="4023360" y="1325880"/>
            <a:ext cx="1097280" cy="1097280"/>
          </a:xfrm>
          <a:prstGeom prst="ellipse">
            <a:avLst/>
          </a:prstGeom>
          <a:solidFill>
            <a:srgbClr val="D0312D"/>
          </a:solidFill>
          <a:ln w="12700">
            <a:solidFill>
              <a:srgbClr val="D0312D"/>
            </a:solidFill>
            <a:prstDash val="solid"/>
          </a:ln>
        </p:spPr>
      </p:sp>
      <p:pic>
        <p:nvPicPr>
          <p:cNvPr id="8" name="Image 1" descr="preencoded.png">    </p:cNvPr>
          <p:cNvPicPr>
            <a:picLocks noChangeAspect="1"/>
          </p:cNvPicPr>
          <p:nvPr/>
        </p:nvPicPr>
        <p:blipFill>
          <a:blip r:embed="rId2"/>
          <a:stretch>
            <a:fillRect/>
          </a:stretch>
        </p:blipFill>
        <p:spPr>
          <a:xfrm>
            <a:off x="4308653" y="1611173"/>
            <a:ext cx="526694" cy="526694"/>
          </a:xfrm>
          <a:prstGeom prst="rect">
            <a:avLst/>
          </a:prstGeom>
        </p:spPr>
      </p:pic>
      <p:sp>
        <p:nvSpPr>
          <p:cNvPr id="9" name="Text 5"/>
          <p:cNvSpPr txBox="1"/>
          <p:nvPr/>
        </p:nvSpPr>
        <p:spPr>
          <a:xfrm>
            <a:off x="3291840" y="2606040"/>
            <a:ext cx="2560320" cy="384048"/>
          </a:xfrm>
          <a:prstGeom prst="rect">
            <a:avLst/>
          </a:prstGeom>
          <a:noFill/>
          <a:ln/>
        </p:spPr>
        <p:txBody>
          <a:bodyPr wrap="square" lIns="0" tIns="0" rIns="0" bIns="0" rtlCol="0" anchor="ctr"/>
          <a:lstStyle/>
          <a:p>
            <a:pPr algn="ctr" indent="0" marL="0">
              <a:buNone/>
            </a:pPr>
            <a:r>
              <a:rPr lang="en-US" sz="1800" b="1" dirty="0">
                <a:solidFill>
                  <a:srgbClr val="1E2230"/>
                </a:solidFill>
                <a:latin typeface="Calibri" pitchFamily="34" charset="0"/>
                <a:ea typeface="Calibri" pitchFamily="34" charset="-122"/>
                <a:cs typeface="Calibri" pitchFamily="34" charset="-120"/>
              </a:rPr>
              <a:t>Bell</a:t>
            </a:r>
            <a:endParaRPr lang="en-US" sz="1800" dirty="0"/>
          </a:p>
        </p:txBody>
      </p:sp>
      <p:sp>
        <p:nvSpPr>
          <p:cNvPr id="10" name="Text 6"/>
          <p:cNvSpPr txBox="1"/>
          <p:nvPr/>
        </p:nvSpPr>
        <p:spPr>
          <a:xfrm>
            <a:off x="3429000" y="3017520"/>
            <a:ext cx="2286000" cy="822960"/>
          </a:xfrm>
          <a:prstGeom prst="rect">
            <a:avLst/>
          </a:prstGeom>
          <a:noFill/>
          <a:ln/>
        </p:spPr>
        <p:txBody>
          <a:bodyPr wrap="square" lIns="0" tIns="0" rIns="0" bIns="0" rtlCol="0" anchor="t"/>
          <a:lstStyle/>
          <a:p>
            <a:pPr algn="ctr" indent="0" marL="0">
              <a:buNone/>
            </a:pPr>
            <a:r>
              <a:rPr lang="en-US" sz="1400" dirty="0">
                <a:solidFill>
                  <a:srgbClr val="5A6272"/>
                </a:solidFill>
                <a:latin typeface="Calibri" pitchFamily="34" charset="0"/>
                <a:ea typeface="Calibri" pitchFamily="34" charset="-122"/>
                <a:cs typeface="Calibri" pitchFamily="34" charset="-120"/>
              </a:rPr>
              <a:t>Days left to the shooting or filming date. Red under 7 days.</a:t>
            </a:r>
            <a:endParaRPr lang="en-US" sz="1400" dirty="0"/>
          </a:p>
        </p:txBody>
      </p:sp>
      <p:sp>
        <p:nvSpPr>
          <p:cNvPr id="11" name="Shape 7"/>
          <p:cNvSpPr/>
          <p:nvPr/>
        </p:nvSpPr>
        <p:spPr>
          <a:xfrm>
            <a:off x="6766560" y="1325880"/>
            <a:ext cx="1097280" cy="1097280"/>
          </a:xfrm>
          <a:prstGeom prst="ellipse">
            <a:avLst/>
          </a:prstGeom>
          <a:solidFill>
            <a:srgbClr val="3860B2"/>
          </a:solidFill>
          <a:ln w="12700">
            <a:solidFill>
              <a:srgbClr val="3860B2"/>
            </a:solidFill>
            <a:prstDash val="solid"/>
          </a:ln>
        </p:spPr>
      </p:sp>
      <p:pic>
        <p:nvPicPr>
          <p:cNvPr id="12" name="Image 2" descr="preencoded.png">    </p:cNvPr>
          <p:cNvPicPr>
            <a:picLocks noChangeAspect="1"/>
          </p:cNvPicPr>
          <p:nvPr/>
        </p:nvPicPr>
        <p:blipFill>
          <a:blip r:embed="rId3"/>
          <a:stretch>
            <a:fillRect/>
          </a:stretch>
        </p:blipFill>
        <p:spPr>
          <a:xfrm>
            <a:off x="7051853" y="1611173"/>
            <a:ext cx="526694" cy="526694"/>
          </a:xfrm>
          <a:prstGeom prst="rect">
            <a:avLst/>
          </a:prstGeom>
        </p:spPr>
      </p:pic>
      <p:sp>
        <p:nvSpPr>
          <p:cNvPr id="13" name="Text 8"/>
          <p:cNvSpPr txBox="1"/>
          <p:nvPr/>
        </p:nvSpPr>
        <p:spPr>
          <a:xfrm>
            <a:off x="6035040" y="2606040"/>
            <a:ext cx="2560320" cy="384048"/>
          </a:xfrm>
          <a:prstGeom prst="rect">
            <a:avLst/>
          </a:prstGeom>
          <a:noFill/>
          <a:ln/>
        </p:spPr>
        <p:txBody>
          <a:bodyPr wrap="square" lIns="0" tIns="0" rIns="0" bIns="0" rtlCol="0" anchor="ctr"/>
          <a:lstStyle/>
          <a:p>
            <a:pPr algn="ctr" indent="0" marL="0">
              <a:buNone/>
            </a:pPr>
            <a:r>
              <a:rPr lang="en-US" sz="1800" b="1" dirty="0">
                <a:solidFill>
                  <a:srgbClr val="1E2230"/>
                </a:solidFill>
                <a:latin typeface="Calibri" pitchFamily="34" charset="0"/>
                <a:ea typeface="Calibri" pitchFamily="34" charset="-122"/>
                <a:cs typeface="Calibri" pitchFamily="34" charset="-120"/>
              </a:rPr>
              <a:t>E-mail</a:t>
            </a:r>
            <a:endParaRPr lang="en-US" sz="1800" dirty="0"/>
          </a:p>
        </p:txBody>
      </p:sp>
      <p:sp>
        <p:nvSpPr>
          <p:cNvPr id="14" name="Text 9"/>
          <p:cNvSpPr txBox="1"/>
          <p:nvPr/>
        </p:nvSpPr>
        <p:spPr>
          <a:xfrm>
            <a:off x="6172200" y="3017520"/>
            <a:ext cx="2286000" cy="822960"/>
          </a:xfrm>
          <a:prstGeom prst="rect">
            <a:avLst/>
          </a:prstGeom>
          <a:noFill/>
          <a:ln/>
        </p:spPr>
        <p:txBody>
          <a:bodyPr wrap="square" lIns="0" tIns="0" rIns="0" bIns="0" rtlCol="0" anchor="t"/>
          <a:lstStyle/>
          <a:p>
            <a:pPr algn="ctr" indent="0" marL="0">
              <a:buNone/>
            </a:pPr>
            <a:r>
              <a:rPr lang="en-US" sz="1400" dirty="0">
                <a:solidFill>
                  <a:srgbClr val="5A6272"/>
                </a:solidFill>
                <a:latin typeface="Calibri" pitchFamily="34" charset="0"/>
                <a:ea typeface="Calibri" pitchFamily="34" charset="-122"/>
                <a:cs typeface="Calibri" pitchFamily="34" charset="-120"/>
              </a:rPr>
              <a:t>When a status changes or a request is handed over.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indent="0" marL="0">
              <a:buNone/>
            </a:pPr>
            <a:r>
              <a:rPr lang="en-US" sz="3400" b="1" dirty="0">
                <a:solidFill>
                  <a:srgbClr val="00126B"/>
                </a:solidFill>
                <a:latin typeface="Calibri" pitchFamily="34" charset="0"/>
                <a:ea typeface="Calibri" pitchFamily="34" charset="-122"/>
                <a:cs typeface="Calibri" pitchFamily="34" charset="-120"/>
              </a:rPr>
              <a:t>One consistent experience</a:t>
            </a:r>
            <a:endParaRPr lang="en-US" sz="3400" dirty="0"/>
          </a:p>
        </p:txBody>
      </p:sp>
      <p:sp>
        <p:nvSpPr>
          <p:cNvPr id="3" name="Shape 1"/>
          <p:cNvSpPr/>
          <p:nvPr/>
        </p:nvSpPr>
        <p:spPr>
          <a:xfrm>
            <a:off x="548640" y="1188720"/>
            <a:ext cx="8046720" cy="566928"/>
          </a:xfrm>
          <a:prstGeom prst="rect">
            <a:avLst/>
          </a:prstGeom>
          <a:solidFill>
            <a:srgbClr val="00126B"/>
          </a:solidFill>
          <a:ln w="12700">
            <a:solidFill>
              <a:srgbClr val="00126B"/>
            </a:solidFill>
            <a:prstDash val="solid"/>
          </a:ln>
        </p:spPr>
      </p:sp>
      <p:sp>
        <p:nvSpPr>
          <p:cNvPr id="4" name="Text 2"/>
          <p:cNvSpPr txBox="1"/>
          <p:nvPr/>
        </p:nvSpPr>
        <p:spPr>
          <a:xfrm>
            <a:off x="777240" y="1243584"/>
            <a:ext cx="20116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Central Deposit</a:t>
            </a:r>
            <a:endParaRPr lang="en-US" sz="1400" dirty="0"/>
          </a:p>
        </p:txBody>
      </p:sp>
      <p:sp>
        <p:nvSpPr>
          <p:cNvPr id="5" name="Text 3"/>
          <p:cNvSpPr txBox="1"/>
          <p:nvPr/>
        </p:nvSpPr>
        <p:spPr>
          <a:xfrm>
            <a:off x="777240" y="1481328"/>
            <a:ext cx="2011680" cy="201168"/>
          </a:xfrm>
          <a:prstGeom prst="rect">
            <a:avLst/>
          </a:prstGeom>
          <a:noFill/>
          <a:ln/>
        </p:spPr>
        <p:txBody>
          <a:bodyPr wrap="square" lIns="0" tIns="0" rIns="0" bIns="0" rtlCol="0" anchor="ctr"/>
          <a:lstStyle/>
          <a:p>
            <a:pPr indent="0" marL="0">
              <a:buNone/>
            </a:pPr>
            <a:r>
              <a:rPr lang="en-US" sz="900" dirty="0">
                <a:solidFill>
                  <a:srgbClr val="BACAE2"/>
                </a:solidFill>
                <a:latin typeface="Calibri" pitchFamily="34" charset="0"/>
                <a:ea typeface="Calibri" pitchFamily="34" charset="-122"/>
                <a:cs typeface="Calibri" pitchFamily="34" charset="-120"/>
              </a:rPr>
              <a:t>Ticket System</a:t>
            </a:r>
            <a:endParaRPr lang="en-US" sz="900" dirty="0"/>
          </a:p>
        </p:txBody>
      </p:sp>
      <p:sp>
        <p:nvSpPr>
          <p:cNvPr id="6" name="Shape 4"/>
          <p:cNvSpPr/>
          <p:nvPr/>
        </p:nvSpPr>
        <p:spPr>
          <a:xfrm>
            <a:off x="3621024" y="1298448"/>
            <a:ext cx="749808" cy="347472"/>
          </a:xfrm>
          <a:prstGeom prst="roundRect">
            <a:avLst>
              <a:gd name="adj" fmla="val 26316"/>
            </a:avLst>
          </a:prstGeom>
          <a:solidFill>
            <a:srgbClr val="3860B2"/>
          </a:solidFill>
          <a:ln w="12700">
            <a:solidFill>
              <a:srgbClr val="3860B2"/>
            </a:solidFill>
            <a:prstDash val="solid"/>
          </a:ln>
        </p:spPr>
      </p:sp>
      <p:sp>
        <p:nvSpPr>
          <p:cNvPr id="7" name="Text 5"/>
          <p:cNvSpPr txBox="1"/>
          <p:nvPr/>
        </p:nvSpPr>
        <p:spPr>
          <a:xfrm>
            <a:off x="3621024" y="1298448"/>
            <a:ext cx="74980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Dashboard</a:t>
            </a:r>
            <a:endParaRPr lang="en-US" sz="1000" dirty="0"/>
          </a:p>
        </p:txBody>
      </p:sp>
      <p:sp>
        <p:nvSpPr>
          <p:cNvPr id="8" name="Text 6"/>
          <p:cNvSpPr txBox="1"/>
          <p:nvPr/>
        </p:nvSpPr>
        <p:spPr>
          <a:xfrm>
            <a:off x="4407408" y="1298448"/>
            <a:ext cx="74980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Requests</a:t>
            </a:r>
            <a:endParaRPr lang="en-US" sz="1000" dirty="0"/>
          </a:p>
        </p:txBody>
      </p:sp>
      <p:sp>
        <p:nvSpPr>
          <p:cNvPr id="9" name="Text 7"/>
          <p:cNvSpPr txBox="1"/>
          <p:nvPr/>
        </p:nvSpPr>
        <p:spPr>
          <a:xfrm>
            <a:off x="5193792" y="1298448"/>
            <a:ext cx="74980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Review</a:t>
            </a:r>
            <a:endParaRPr lang="en-US" sz="1000" dirty="0"/>
          </a:p>
        </p:txBody>
      </p:sp>
      <p:sp>
        <p:nvSpPr>
          <p:cNvPr id="10" name="Text 8"/>
          <p:cNvSpPr txBox="1"/>
          <p:nvPr/>
        </p:nvSpPr>
        <p:spPr>
          <a:xfrm>
            <a:off x="5980176" y="1298448"/>
            <a:ext cx="74980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Export</a:t>
            </a:r>
            <a:endParaRPr lang="en-US" sz="1000" dirty="0"/>
          </a:p>
        </p:txBody>
      </p:sp>
      <p:sp>
        <p:nvSpPr>
          <p:cNvPr id="11" name="Text 9"/>
          <p:cNvSpPr txBox="1"/>
          <p:nvPr/>
        </p:nvSpPr>
        <p:spPr>
          <a:xfrm>
            <a:off x="6766560" y="1298448"/>
            <a:ext cx="74980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Help</a:t>
            </a:r>
            <a:endParaRPr lang="en-US" sz="1000" dirty="0"/>
          </a:p>
        </p:txBody>
      </p:sp>
      <p:sp>
        <p:nvSpPr>
          <p:cNvPr id="12" name="Text 10"/>
          <p:cNvSpPr txBox="1"/>
          <p:nvPr/>
        </p:nvSpPr>
        <p:spPr>
          <a:xfrm>
            <a:off x="7726680" y="1243584"/>
            <a:ext cx="777240" cy="457200"/>
          </a:xfrm>
          <a:prstGeom prst="rect">
            <a:avLst/>
          </a:prstGeom>
          <a:noFill/>
          <a:ln/>
        </p:spPr>
        <p:txBody>
          <a:bodyPr wrap="square" lIns="0" tIns="0" rIns="0" bIns="0" rtlCol="0" anchor="ctr"/>
          <a:lstStyle/>
          <a:p>
            <a:pPr algn="r" indent="0" marL="0">
              <a:buNone/>
            </a:pPr>
            <a:r>
              <a:rPr lang="en-US" sz="900" dirty="0">
                <a:solidFill>
                  <a:srgbClr val="BACAE2"/>
                </a:solidFill>
                <a:latin typeface="Calibri" pitchFamily="34" charset="0"/>
                <a:ea typeface="Calibri" pitchFamily="34" charset="-122"/>
                <a:cs typeface="Calibri" pitchFamily="34" charset="-120"/>
              </a:rPr>
              <a:t>Name</a:t>
            </a:r>
            <a:endParaRPr lang="en-US" sz="900" dirty="0"/>
          </a:p>
          <a:p>
            <a:pPr algn="r" indent="0" marL="0">
              <a:buNone/>
            </a:pPr>
            <a:r>
              <a:rPr lang="en-US" sz="900" dirty="0">
                <a:solidFill>
                  <a:srgbClr val="BACAE2"/>
                </a:solidFill>
                <a:latin typeface="Calibri" pitchFamily="34" charset="0"/>
                <a:ea typeface="Calibri" pitchFamily="34" charset="-122"/>
                <a:cs typeface="Calibri" pitchFamily="34" charset="-120"/>
              </a:rPr>
              <a:t>DG</a:t>
            </a:r>
            <a:endParaRPr lang="en-US" sz="900" dirty="0"/>
          </a:p>
        </p:txBody>
      </p:sp>
      <p:sp>
        <p:nvSpPr>
          <p:cNvPr id="13" name="Text 11"/>
          <p:cNvSpPr txBox="1"/>
          <p:nvPr/>
        </p:nvSpPr>
        <p:spPr>
          <a:xfrm>
            <a:off x="548640" y="1828800"/>
            <a:ext cx="8046720" cy="274320"/>
          </a:xfrm>
          <a:prstGeom prst="rect">
            <a:avLst/>
          </a:prstGeom>
          <a:noFill/>
          <a:ln/>
        </p:spPr>
        <p:txBody>
          <a:bodyPr wrap="square" lIns="0" tIns="0" rIns="0" bIns="0" rtlCol="0" anchor="ctr"/>
          <a:lstStyle/>
          <a:p>
            <a:pPr algn="ctr" indent="0" marL="0">
              <a:buNone/>
            </a:pPr>
            <a:r>
              <a:rPr lang="en-US" sz="1200" i="1" dirty="0">
                <a:solidFill>
                  <a:srgbClr val="5A6272"/>
                </a:solidFill>
                <a:latin typeface="Calibri" pitchFamily="34" charset="0"/>
                <a:ea typeface="Calibri" pitchFamily="34" charset="-122"/>
                <a:cs typeface="Calibri" pitchFamily="34" charset="-120"/>
              </a:rPr>
              <a:t>The same header and menu on all 15 screens</a:t>
            </a:r>
            <a:endParaRPr lang="en-US" sz="1200" dirty="0"/>
          </a:p>
        </p:txBody>
      </p:sp>
      <p:sp>
        <p:nvSpPr>
          <p:cNvPr id="14" name="Shape 12"/>
          <p:cNvSpPr/>
          <p:nvPr/>
        </p:nvSpPr>
        <p:spPr>
          <a:xfrm>
            <a:off x="548640" y="2377440"/>
            <a:ext cx="502920" cy="502920"/>
          </a:xfrm>
          <a:prstGeom prst="ellipse">
            <a:avLst/>
          </a:prstGeom>
          <a:solidFill>
            <a:srgbClr val="E6ECF5"/>
          </a:solidFill>
          <a:ln w="12700">
            <a:solidFill>
              <a:srgbClr val="E6ECF5"/>
            </a:solidFill>
            <a:prstDash val="solid"/>
          </a:ln>
        </p:spPr>
      </p:sp>
      <p:pic>
        <p:nvPicPr>
          <p:cNvPr id="15" name="Image 0" descr="preencoded.png">    </p:cNvPr>
          <p:cNvPicPr>
            <a:picLocks noChangeAspect="1"/>
          </p:cNvPicPr>
          <p:nvPr/>
        </p:nvPicPr>
        <p:blipFill>
          <a:blip r:embed="rId1"/>
          <a:stretch>
            <a:fillRect/>
          </a:stretch>
        </p:blipFill>
        <p:spPr>
          <a:xfrm>
            <a:off x="679399" y="2508199"/>
            <a:ext cx="241402" cy="241402"/>
          </a:xfrm>
          <a:prstGeom prst="rect">
            <a:avLst/>
          </a:prstGeom>
        </p:spPr>
      </p:pic>
      <p:sp>
        <p:nvSpPr>
          <p:cNvPr id="16" name="Text 13"/>
          <p:cNvSpPr txBox="1"/>
          <p:nvPr/>
        </p:nvSpPr>
        <p:spPr>
          <a:xfrm>
            <a:off x="1234440" y="2359152"/>
            <a:ext cx="3200400" cy="310896"/>
          </a:xfrm>
          <a:prstGeom prst="rect">
            <a:avLst/>
          </a:prstGeom>
          <a:noFill/>
          <a:ln/>
        </p:spPr>
        <p:txBody>
          <a:bodyPr wrap="square" lIns="0" tIns="0" rIns="0" bIns="0" rtlCol="0" anchor="ctr"/>
          <a:lstStyle/>
          <a:p>
            <a:pPr indent="0" marL="0">
              <a:buNone/>
            </a:pPr>
            <a:r>
              <a:rPr lang="en-US" sz="1500" b="1" dirty="0">
                <a:solidFill>
                  <a:srgbClr val="1E2230"/>
                </a:solidFill>
                <a:latin typeface="Calibri" pitchFamily="34" charset="0"/>
                <a:ea typeface="Calibri" pitchFamily="34" charset="-122"/>
                <a:cs typeface="Calibri" pitchFamily="34" charset="-120"/>
              </a:rPr>
              <a:t>Menu by role</a:t>
            </a:r>
            <a:endParaRPr lang="en-US" sz="1500" dirty="0"/>
          </a:p>
        </p:txBody>
      </p:sp>
      <p:sp>
        <p:nvSpPr>
          <p:cNvPr id="17" name="Text 14"/>
          <p:cNvSpPr txBox="1"/>
          <p:nvPr/>
        </p:nvSpPr>
        <p:spPr>
          <a:xfrm>
            <a:off x="1234440" y="2670048"/>
            <a:ext cx="3200400" cy="457200"/>
          </a:xfrm>
          <a:prstGeom prst="rect">
            <a:avLst/>
          </a:prstGeom>
          <a:noFill/>
          <a:ln/>
        </p:spPr>
        <p:txBody>
          <a:bodyPr wrap="square" lIns="0" tIns="0" rIns="0" bIns="0" rtlCol="0" anchor="t"/>
          <a:lstStyle/>
          <a:p>
            <a:pPr indent="0" marL="0">
              <a:buNone/>
            </a:pPr>
            <a:r>
              <a:rPr lang="en-US" sz="1300" dirty="0">
                <a:solidFill>
                  <a:srgbClr val="5A6272"/>
                </a:solidFill>
                <a:latin typeface="Calibri" pitchFamily="34" charset="0"/>
                <a:ea typeface="Calibri" pitchFamily="34" charset="-122"/>
                <a:cs typeface="Calibri" pitchFamily="34" charset="-120"/>
              </a:rPr>
              <a:t>Each person sees only what their role allows.</a:t>
            </a:r>
            <a:endParaRPr lang="en-US" sz="1300" dirty="0"/>
          </a:p>
        </p:txBody>
      </p:sp>
      <p:sp>
        <p:nvSpPr>
          <p:cNvPr id="18" name="Shape 15"/>
          <p:cNvSpPr/>
          <p:nvPr/>
        </p:nvSpPr>
        <p:spPr>
          <a:xfrm>
            <a:off x="4663440" y="2377440"/>
            <a:ext cx="502920" cy="502920"/>
          </a:xfrm>
          <a:prstGeom prst="ellipse">
            <a:avLst/>
          </a:prstGeom>
          <a:solidFill>
            <a:srgbClr val="E6ECF5"/>
          </a:solidFill>
          <a:ln w="12700">
            <a:solidFill>
              <a:srgbClr val="E6ECF5"/>
            </a:solidFill>
            <a:prstDash val="solid"/>
          </a:ln>
        </p:spPr>
      </p:sp>
      <p:pic>
        <p:nvPicPr>
          <p:cNvPr id="19" name="Image 1" descr="preencoded.png">    </p:cNvPr>
          <p:cNvPicPr>
            <a:picLocks noChangeAspect="1"/>
          </p:cNvPicPr>
          <p:nvPr/>
        </p:nvPicPr>
        <p:blipFill>
          <a:blip r:embed="rId2"/>
          <a:stretch>
            <a:fillRect/>
          </a:stretch>
        </p:blipFill>
        <p:spPr>
          <a:xfrm>
            <a:off x="4794199" y="2508199"/>
            <a:ext cx="241402" cy="241402"/>
          </a:xfrm>
          <a:prstGeom prst="rect">
            <a:avLst/>
          </a:prstGeom>
        </p:spPr>
      </p:pic>
      <p:sp>
        <p:nvSpPr>
          <p:cNvPr id="20" name="Text 16"/>
          <p:cNvSpPr txBox="1"/>
          <p:nvPr/>
        </p:nvSpPr>
        <p:spPr>
          <a:xfrm>
            <a:off x="5349240" y="2359152"/>
            <a:ext cx="3200400" cy="310896"/>
          </a:xfrm>
          <a:prstGeom prst="rect">
            <a:avLst/>
          </a:prstGeom>
          <a:noFill/>
          <a:ln/>
        </p:spPr>
        <p:txBody>
          <a:bodyPr wrap="square" lIns="0" tIns="0" rIns="0" bIns="0" rtlCol="0" anchor="ctr"/>
          <a:lstStyle/>
          <a:p>
            <a:pPr indent="0" marL="0">
              <a:buNone/>
            </a:pPr>
            <a:r>
              <a:rPr lang="en-US" sz="1500" b="1" dirty="0">
                <a:solidFill>
                  <a:srgbClr val="1E2230"/>
                </a:solidFill>
                <a:latin typeface="Calibri" pitchFamily="34" charset="0"/>
                <a:ea typeface="Calibri" pitchFamily="34" charset="-122"/>
                <a:cs typeface="Calibri" pitchFamily="34" charset="-120"/>
              </a:rPr>
              <a:t>Review and back</a:t>
            </a:r>
            <a:endParaRPr lang="en-US" sz="1500" dirty="0"/>
          </a:p>
        </p:txBody>
      </p:sp>
      <p:sp>
        <p:nvSpPr>
          <p:cNvPr id="21" name="Text 17"/>
          <p:cNvSpPr txBox="1"/>
          <p:nvPr/>
        </p:nvSpPr>
        <p:spPr>
          <a:xfrm>
            <a:off x="5349240" y="2670048"/>
            <a:ext cx="3200400" cy="457200"/>
          </a:xfrm>
          <a:prstGeom prst="rect">
            <a:avLst/>
          </a:prstGeom>
          <a:noFill/>
          <a:ln/>
        </p:spPr>
        <p:txBody>
          <a:bodyPr wrap="square" lIns="0" tIns="0" rIns="0" bIns="0" rtlCol="0" anchor="t"/>
          <a:lstStyle/>
          <a:p>
            <a:pPr indent="0" marL="0">
              <a:buNone/>
            </a:pPr>
            <a:r>
              <a:rPr lang="en-US" sz="1300" dirty="0">
                <a:solidFill>
                  <a:srgbClr val="5A6272"/>
                </a:solidFill>
                <a:latin typeface="Calibri" pitchFamily="34" charset="0"/>
                <a:ea typeface="Calibri" pitchFamily="34" charset="-122"/>
                <a:cs typeface="Calibri" pitchFamily="34" charset="-120"/>
              </a:rPr>
              <a:t>From the review list into a request, and back, in one click.</a:t>
            </a:r>
            <a:endParaRPr lang="en-US" sz="1300" dirty="0"/>
          </a:p>
        </p:txBody>
      </p:sp>
      <p:sp>
        <p:nvSpPr>
          <p:cNvPr id="22" name="Shape 18"/>
          <p:cNvSpPr/>
          <p:nvPr/>
        </p:nvSpPr>
        <p:spPr>
          <a:xfrm>
            <a:off x="548640" y="3474720"/>
            <a:ext cx="502920" cy="502920"/>
          </a:xfrm>
          <a:prstGeom prst="ellipse">
            <a:avLst/>
          </a:prstGeom>
          <a:solidFill>
            <a:srgbClr val="E6ECF5"/>
          </a:solidFill>
          <a:ln w="12700">
            <a:solidFill>
              <a:srgbClr val="E6ECF5"/>
            </a:solidFill>
            <a:prstDash val="solid"/>
          </a:ln>
        </p:spPr>
      </p:sp>
      <p:pic>
        <p:nvPicPr>
          <p:cNvPr id="23" name="Image 2" descr="preencoded.png">    </p:cNvPr>
          <p:cNvPicPr>
            <a:picLocks noChangeAspect="1"/>
          </p:cNvPicPr>
          <p:nvPr/>
        </p:nvPicPr>
        <p:blipFill>
          <a:blip r:embed="rId3"/>
          <a:stretch>
            <a:fillRect/>
          </a:stretch>
        </p:blipFill>
        <p:spPr>
          <a:xfrm>
            <a:off x="679399" y="3605479"/>
            <a:ext cx="241402" cy="241402"/>
          </a:xfrm>
          <a:prstGeom prst="rect">
            <a:avLst/>
          </a:prstGeom>
        </p:spPr>
      </p:pic>
      <p:sp>
        <p:nvSpPr>
          <p:cNvPr id="24" name="Text 19"/>
          <p:cNvSpPr txBox="1"/>
          <p:nvPr/>
        </p:nvSpPr>
        <p:spPr>
          <a:xfrm>
            <a:off x="1234440" y="3456432"/>
            <a:ext cx="3200400" cy="310896"/>
          </a:xfrm>
          <a:prstGeom prst="rect">
            <a:avLst/>
          </a:prstGeom>
          <a:noFill/>
          <a:ln/>
        </p:spPr>
        <p:txBody>
          <a:bodyPr wrap="square" lIns="0" tIns="0" rIns="0" bIns="0" rtlCol="0" anchor="ctr"/>
          <a:lstStyle/>
          <a:p>
            <a:pPr indent="0" marL="0">
              <a:buNone/>
            </a:pPr>
            <a:r>
              <a:rPr lang="en-US" sz="1500" b="1" dirty="0">
                <a:solidFill>
                  <a:srgbClr val="1E2230"/>
                </a:solidFill>
                <a:latin typeface="Calibri" pitchFamily="34" charset="0"/>
                <a:ea typeface="Calibri" pitchFamily="34" charset="-122"/>
                <a:cs typeface="Calibri" pitchFamily="34" charset="-120"/>
              </a:rPr>
              <a:t>Short numbers</a:t>
            </a:r>
            <a:endParaRPr lang="en-US" sz="1500" dirty="0"/>
          </a:p>
        </p:txBody>
      </p:sp>
      <p:sp>
        <p:nvSpPr>
          <p:cNvPr id="25" name="Text 20"/>
          <p:cNvSpPr txBox="1"/>
          <p:nvPr/>
        </p:nvSpPr>
        <p:spPr>
          <a:xfrm>
            <a:off x="1234440" y="3767328"/>
            <a:ext cx="3200400" cy="457200"/>
          </a:xfrm>
          <a:prstGeom prst="rect">
            <a:avLst/>
          </a:prstGeom>
          <a:noFill/>
          <a:ln/>
        </p:spPr>
        <p:txBody>
          <a:bodyPr wrap="square" lIns="0" tIns="0" rIns="0" bIns="0" rtlCol="0" anchor="t"/>
          <a:lstStyle/>
          <a:p>
            <a:pPr indent="0" marL="0">
              <a:buNone/>
            </a:pPr>
            <a:r>
              <a:rPr lang="en-US" sz="1300" dirty="0">
                <a:solidFill>
                  <a:srgbClr val="5A6272"/>
                </a:solidFill>
                <a:latin typeface="Calibri" pitchFamily="34" charset="0"/>
                <a:ea typeface="Calibri" pitchFamily="34" charset="-122"/>
                <a:cs typeface="Calibri" pitchFamily="34" charset="-120"/>
              </a:rPr>
              <a:t>Easy to read and to say: 26-0001-01.</a:t>
            </a:r>
            <a:endParaRPr lang="en-US" sz="1300" dirty="0"/>
          </a:p>
        </p:txBody>
      </p:sp>
      <p:sp>
        <p:nvSpPr>
          <p:cNvPr id="26" name="Shape 21"/>
          <p:cNvSpPr/>
          <p:nvPr/>
        </p:nvSpPr>
        <p:spPr>
          <a:xfrm>
            <a:off x="4663440" y="3474720"/>
            <a:ext cx="502920" cy="502920"/>
          </a:xfrm>
          <a:prstGeom prst="ellipse">
            <a:avLst/>
          </a:prstGeom>
          <a:solidFill>
            <a:srgbClr val="E6ECF5"/>
          </a:solidFill>
          <a:ln w="12700">
            <a:solidFill>
              <a:srgbClr val="E6ECF5"/>
            </a:solidFill>
            <a:prstDash val="solid"/>
          </a:ln>
        </p:spPr>
      </p:sp>
      <p:pic>
        <p:nvPicPr>
          <p:cNvPr id="27" name="Image 3" descr="preencoded.png">    </p:cNvPr>
          <p:cNvPicPr>
            <a:picLocks noChangeAspect="1"/>
          </p:cNvPicPr>
          <p:nvPr/>
        </p:nvPicPr>
        <p:blipFill>
          <a:blip r:embed="rId4"/>
          <a:stretch>
            <a:fillRect/>
          </a:stretch>
        </p:blipFill>
        <p:spPr>
          <a:xfrm>
            <a:off x="4794199" y="3605479"/>
            <a:ext cx="241402" cy="241402"/>
          </a:xfrm>
          <a:prstGeom prst="rect">
            <a:avLst/>
          </a:prstGeom>
        </p:spPr>
      </p:pic>
      <p:sp>
        <p:nvSpPr>
          <p:cNvPr id="28" name="Text 22"/>
          <p:cNvSpPr txBox="1"/>
          <p:nvPr/>
        </p:nvSpPr>
        <p:spPr>
          <a:xfrm>
            <a:off x="5349240" y="3456432"/>
            <a:ext cx="3200400" cy="310896"/>
          </a:xfrm>
          <a:prstGeom prst="rect">
            <a:avLst/>
          </a:prstGeom>
          <a:noFill/>
          <a:ln/>
        </p:spPr>
        <p:txBody>
          <a:bodyPr wrap="square" lIns="0" tIns="0" rIns="0" bIns="0" rtlCol="0" anchor="ctr"/>
          <a:lstStyle/>
          <a:p>
            <a:pPr indent="0" marL="0">
              <a:buNone/>
            </a:pPr>
            <a:r>
              <a:rPr lang="en-US" sz="1500" b="1" dirty="0">
                <a:solidFill>
                  <a:srgbClr val="1E2230"/>
                </a:solidFill>
                <a:latin typeface="Calibri" pitchFamily="34" charset="0"/>
                <a:ea typeface="Calibri" pitchFamily="34" charset="-122"/>
                <a:cs typeface="Calibri" pitchFamily="34" charset="-120"/>
              </a:rPr>
              <a:t>One-page print</a:t>
            </a:r>
            <a:endParaRPr lang="en-US" sz="1500" dirty="0"/>
          </a:p>
        </p:txBody>
      </p:sp>
      <p:sp>
        <p:nvSpPr>
          <p:cNvPr id="29" name="Text 23"/>
          <p:cNvSpPr txBox="1"/>
          <p:nvPr/>
        </p:nvSpPr>
        <p:spPr>
          <a:xfrm>
            <a:off x="5349240" y="3767328"/>
            <a:ext cx="3200400" cy="457200"/>
          </a:xfrm>
          <a:prstGeom prst="rect">
            <a:avLst/>
          </a:prstGeom>
          <a:noFill/>
          <a:ln/>
        </p:spPr>
        <p:txBody>
          <a:bodyPr wrap="square" lIns="0" tIns="0" rIns="0" bIns="0" rtlCol="0" anchor="t"/>
          <a:lstStyle/>
          <a:p>
            <a:pPr indent="0" marL="0">
              <a:buNone/>
            </a:pPr>
            <a:r>
              <a:rPr lang="en-US" sz="1300" dirty="0">
                <a:solidFill>
                  <a:srgbClr val="5A6272"/>
                </a:solidFill>
                <a:latin typeface="Calibri" pitchFamily="34" charset="0"/>
                <a:ea typeface="Calibri" pitchFamily="34" charset="-122"/>
                <a:cs typeface="Calibri" pitchFamily="34" charset="-120"/>
              </a:rPr>
              <a:t>Every request prints on one clear page.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indent="0" marL="0">
              <a:buNone/>
            </a:pPr>
            <a:r>
              <a:rPr lang="en-US" sz="3400" b="1" dirty="0">
                <a:solidFill>
                  <a:srgbClr val="00126B"/>
                </a:solidFill>
                <a:latin typeface="Calibri" pitchFamily="34" charset="0"/>
                <a:ea typeface="Calibri" pitchFamily="34" charset="-122"/>
                <a:cs typeface="Calibri" pitchFamily="34" charset="-120"/>
              </a:rPr>
              <a:t>Where we are and next steps</a:t>
            </a:r>
            <a:endParaRPr lang="en-US" sz="3400" dirty="0"/>
          </a:p>
        </p:txBody>
      </p:sp>
      <p:sp>
        <p:nvSpPr>
          <p:cNvPr id="3" name="Shape 1"/>
          <p:cNvSpPr/>
          <p:nvPr/>
        </p:nvSpPr>
        <p:spPr>
          <a:xfrm>
            <a:off x="548640" y="1188720"/>
            <a:ext cx="8046720" cy="685800"/>
          </a:xfrm>
          <a:prstGeom prst="roundRect">
            <a:avLst>
              <a:gd name="adj" fmla="val 16000"/>
            </a:avLst>
          </a:prstGeom>
          <a:solidFill>
            <a:srgbClr val="E6ECF5"/>
          </a:solidFill>
          <a:ln w="12700">
            <a:solidFill>
              <a:srgbClr val="E6ECF5"/>
            </a:solidFill>
            <a:prstDash val="solid"/>
          </a:ln>
        </p:spPr>
      </p:sp>
      <p:sp>
        <p:nvSpPr>
          <p:cNvPr id="4" name="Shape 2"/>
          <p:cNvSpPr/>
          <p:nvPr/>
        </p:nvSpPr>
        <p:spPr>
          <a:xfrm>
            <a:off x="777240" y="1307592"/>
            <a:ext cx="457200" cy="457200"/>
          </a:xfrm>
          <a:prstGeom prst="ellipse">
            <a:avLst/>
          </a:prstGeom>
          <a:solidFill>
            <a:srgbClr val="1B7F2A"/>
          </a:solidFill>
          <a:ln w="12700">
            <a:solidFill>
              <a:srgbClr val="1B7F2A"/>
            </a:solidFill>
            <a:prstDash val="solid"/>
          </a:ln>
        </p:spPr>
      </p:sp>
      <p:pic>
        <p:nvPicPr>
          <p:cNvPr id="5" name="Image 0" descr="preencoded.png">    </p:cNvPr>
          <p:cNvPicPr>
            <a:picLocks noChangeAspect="1"/>
          </p:cNvPicPr>
          <p:nvPr/>
        </p:nvPicPr>
        <p:blipFill>
          <a:blip r:embed="rId1"/>
          <a:stretch>
            <a:fillRect/>
          </a:stretch>
        </p:blipFill>
        <p:spPr>
          <a:xfrm>
            <a:off x="896112" y="1426464"/>
            <a:ext cx="219456" cy="219456"/>
          </a:xfrm>
          <a:prstGeom prst="rect">
            <a:avLst/>
          </a:prstGeom>
        </p:spPr>
      </p:pic>
      <p:sp>
        <p:nvSpPr>
          <p:cNvPr id="6" name="Text 3"/>
          <p:cNvSpPr txBox="1"/>
          <p:nvPr/>
        </p:nvSpPr>
        <p:spPr>
          <a:xfrm>
            <a:off x="1417320" y="1307592"/>
            <a:ext cx="6949440" cy="457200"/>
          </a:xfrm>
          <a:prstGeom prst="rect">
            <a:avLst/>
          </a:prstGeom>
          <a:noFill/>
          <a:ln/>
        </p:spPr>
        <p:txBody>
          <a:bodyPr wrap="square" lIns="0" tIns="0" rIns="0" bIns="0" rtlCol="0" anchor="ctr"/>
          <a:lstStyle/>
          <a:p>
            <a:pPr indent="0" marL="0">
              <a:buNone/>
            </a:pPr>
            <a:r>
              <a:rPr lang="en-US" sz="1600" b="1" dirty="0">
                <a:solidFill>
                  <a:srgbClr val="1E2230"/>
                </a:solidFill>
                <a:latin typeface="Calibri" pitchFamily="34" charset="0"/>
                <a:ea typeface="Calibri" pitchFamily="34" charset="-122"/>
                <a:cs typeface="Calibri" pitchFamily="34" charset="-120"/>
              </a:rPr>
              <a:t>Built and refined in short, regular iterations: ready for user testing.</a:t>
            </a:r>
            <a:endParaRPr lang="en-US" sz="1600" dirty="0"/>
          </a:p>
        </p:txBody>
      </p:sp>
      <p:sp>
        <p:nvSpPr>
          <p:cNvPr id="7" name="Shape 4"/>
          <p:cNvSpPr/>
          <p:nvPr/>
        </p:nvSpPr>
        <p:spPr>
          <a:xfrm>
            <a:off x="1828800" y="2697480"/>
            <a:ext cx="5486400" cy="0"/>
          </a:xfrm>
          <a:prstGeom prst="line">
            <a:avLst/>
          </a:prstGeom>
          <a:noFill/>
          <a:ln w="25400">
            <a:solidFill>
              <a:srgbClr val="D5DCEA"/>
            </a:solidFill>
            <a:prstDash val="solid"/>
          </a:ln>
        </p:spPr>
      </p:sp>
      <p:sp>
        <p:nvSpPr>
          <p:cNvPr id="8" name="Shape 5"/>
          <p:cNvSpPr/>
          <p:nvPr/>
        </p:nvSpPr>
        <p:spPr>
          <a:xfrm>
            <a:off x="1554480" y="2423160"/>
            <a:ext cx="548640" cy="548640"/>
          </a:xfrm>
          <a:prstGeom prst="ellipse">
            <a:avLst/>
          </a:prstGeom>
          <a:solidFill>
            <a:srgbClr val="D68C00"/>
          </a:solidFill>
          <a:ln w="38100">
            <a:solidFill>
              <a:srgbClr val="FFFFFF"/>
            </a:solidFill>
            <a:prstDash val="solid"/>
          </a:ln>
        </p:spPr>
      </p:sp>
      <p:sp>
        <p:nvSpPr>
          <p:cNvPr id="9" name="Text 6"/>
          <p:cNvSpPr txBox="1"/>
          <p:nvPr/>
        </p:nvSpPr>
        <p:spPr>
          <a:xfrm>
            <a:off x="1554480"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txBox="1"/>
          <p:nvPr/>
        </p:nvSpPr>
        <p:spPr>
          <a:xfrm>
            <a:off x="548640" y="3108960"/>
            <a:ext cx="2560320" cy="365760"/>
          </a:xfrm>
          <a:prstGeom prst="rect">
            <a:avLst/>
          </a:prstGeom>
          <a:noFill/>
          <a:ln/>
        </p:spPr>
        <p:txBody>
          <a:bodyPr wrap="square" lIns="0" tIns="0" rIns="0" bIns="0" rtlCol="0" anchor="ctr"/>
          <a:lstStyle/>
          <a:p>
            <a:pPr algn="ctr" indent="0" marL="0">
              <a:buNone/>
            </a:pPr>
            <a:r>
              <a:rPr lang="en-US" sz="1800" b="1" dirty="0">
                <a:solidFill>
                  <a:srgbClr val="1E2230"/>
                </a:solidFill>
                <a:latin typeface="Calibri" pitchFamily="34" charset="0"/>
                <a:ea typeface="Calibri" pitchFamily="34" charset="-122"/>
                <a:cs typeface="Calibri" pitchFamily="34" charset="-120"/>
              </a:rPr>
              <a:t>Test</a:t>
            </a:r>
            <a:endParaRPr lang="en-US" sz="1800" dirty="0"/>
          </a:p>
        </p:txBody>
      </p:sp>
      <p:sp>
        <p:nvSpPr>
          <p:cNvPr id="11" name="Text 8"/>
          <p:cNvSpPr txBox="1"/>
          <p:nvPr/>
        </p:nvSpPr>
        <p:spPr>
          <a:xfrm>
            <a:off x="731520" y="3474720"/>
            <a:ext cx="2194560" cy="548640"/>
          </a:xfrm>
          <a:prstGeom prst="rect">
            <a:avLst/>
          </a:prstGeom>
          <a:noFill/>
          <a:ln/>
        </p:spPr>
        <p:txBody>
          <a:bodyPr wrap="square" lIns="0" tIns="0" rIns="0" bIns="0" rtlCol="0" anchor="t"/>
          <a:lstStyle/>
          <a:p>
            <a:pPr algn="ctr" indent="0" marL="0">
              <a:buNone/>
            </a:pPr>
            <a:r>
              <a:rPr lang="en-US" sz="1300" dirty="0">
                <a:solidFill>
                  <a:srgbClr val="5A6272"/>
                </a:solidFill>
                <a:latin typeface="Calibri" pitchFamily="34" charset="0"/>
                <a:ea typeface="Calibri" pitchFamily="34" charset="-122"/>
                <a:cs typeface="Calibri" pitchFamily="34" charset="-120"/>
              </a:rPr>
              <a:t>With requestors and administrators</a:t>
            </a:r>
            <a:endParaRPr lang="en-US" sz="1300" dirty="0"/>
          </a:p>
        </p:txBody>
      </p:sp>
      <p:sp>
        <p:nvSpPr>
          <p:cNvPr id="12" name="Shape 9"/>
          <p:cNvSpPr/>
          <p:nvPr/>
        </p:nvSpPr>
        <p:spPr>
          <a:xfrm>
            <a:off x="4297680" y="2423160"/>
            <a:ext cx="548640" cy="548640"/>
          </a:xfrm>
          <a:prstGeom prst="ellipse">
            <a:avLst/>
          </a:prstGeom>
          <a:solidFill>
            <a:srgbClr val="D68C00"/>
          </a:solidFill>
          <a:ln w="38100">
            <a:solidFill>
              <a:srgbClr val="FFFFFF"/>
            </a:solidFill>
            <a:prstDash val="solid"/>
          </a:ln>
        </p:spPr>
      </p:sp>
      <p:sp>
        <p:nvSpPr>
          <p:cNvPr id="13" name="Text 10"/>
          <p:cNvSpPr txBox="1"/>
          <p:nvPr/>
        </p:nvSpPr>
        <p:spPr>
          <a:xfrm>
            <a:off x="4297680"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1"/>
          <p:cNvSpPr txBox="1"/>
          <p:nvPr/>
        </p:nvSpPr>
        <p:spPr>
          <a:xfrm>
            <a:off x="3291840" y="3108960"/>
            <a:ext cx="2560320" cy="365760"/>
          </a:xfrm>
          <a:prstGeom prst="rect">
            <a:avLst/>
          </a:prstGeom>
          <a:noFill/>
          <a:ln/>
        </p:spPr>
        <p:txBody>
          <a:bodyPr wrap="square" lIns="0" tIns="0" rIns="0" bIns="0" rtlCol="0" anchor="ctr"/>
          <a:lstStyle/>
          <a:p>
            <a:pPr algn="ctr" indent="0" marL="0">
              <a:buNone/>
            </a:pPr>
            <a:r>
              <a:rPr lang="en-US" sz="1800" b="1" dirty="0">
                <a:solidFill>
                  <a:srgbClr val="1E2230"/>
                </a:solidFill>
                <a:latin typeface="Calibri" pitchFamily="34" charset="0"/>
                <a:ea typeface="Calibri" pitchFamily="34" charset="-122"/>
                <a:cs typeface="Calibri" pitchFamily="34" charset="-120"/>
              </a:rPr>
              <a:t>Notify</a:t>
            </a:r>
            <a:endParaRPr lang="en-US" sz="1800" dirty="0"/>
          </a:p>
        </p:txBody>
      </p:sp>
      <p:sp>
        <p:nvSpPr>
          <p:cNvPr id="15" name="Text 12"/>
          <p:cNvSpPr txBox="1"/>
          <p:nvPr/>
        </p:nvSpPr>
        <p:spPr>
          <a:xfrm>
            <a:off x="3474720" y="3474720"/>
            <a:ext cx="2194560" cy="548640"/>
          </a:xfrm>
          <a:prstGeom prst="rect">
            <a:avLst/>
          </a:prstGeom>
          <a:noFill/>
          <a:ln/>
        </p:spPr>
        <p:txBody>
          <a:bodyPr wrap="square" lIns="0" tIns="0" rIns="0" bIns="0" rtlCol="0" anchor="t"/>
          <a:lstStyle/>
          <a:p>
            <a:pPr algn="ctr" indent="0" marL="0">
              <a:buNone/>
            </a:pPr>
            <a:r>
              <a:rPr lang="en-US" sz="1300" dirty="0">
                <a:solidFill>
                  <a:srgbClr val="5A6272"/>
                </a:solidFill>
                <a:latin typeface="Calibri" pitchFamily="34" charset="0"/>
                <a:ea typeface="Calibri" pitchFamily="34" charset="-122"/>
                <a:cs typeface="Calibri" pitchFamily="34" charset="-120"/>
              </a:rPr>
              <a:t>Switch on the e-mail notifications</a:t>
            </a:r>
            <a:endParaRPr lang="en-US" sz="1300" dirty="0"/>
          </a:p>
        </p:txBody>
      </p:sp>
      <p:sp>
        <p:nvSpPr>
          <p:cNvPr id="16" name="Shape 13"/>
          <p:cNvSpPr/>
          <p:nvPr/>
        </p:nvSpPr>
        <p:spPr>
          <a:xfrm>
            <a:off x="7040880" y="2423160"/>
            <a:ext cx="548640" cy="548640"/>
          </a:xfrm>
          <a:prstGeom prst="ellipse">
            <a:avLst/>
          </a:prstGeom>
          <a:solidFill>
            <a:srgbClr val="D68C00"/>
          </a:solidFill>
          <a:ln w="38100">
            <a:solidFill>
              <a:srgbClr val="FFFFFF"/>
            </a:solidFill>
            <a:prstDash val="solid"/>
          </a:ln>
        </p:spPr>
      </p:sp>
      <p:sp>
        <p:nvSpPr>
          <p:cNvPr id="17" name="Text 14"/>
          <p:cNvSpPr txBox="1"/>
          <p:nvPr/>
        </p:nvSpPr>
        <p:spPr>
          <a:xfrm>
            <a:off x="7040880"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5"/>
          <p:cNvSpPr txBox="1"/>
          <p:nvPr/>
        </p:nvSpPr>
        <p:spPr>
          <a:xfrm>
            <a:off x="6035040" y="3108960"/>
            <a:ext cx="2560320" cy="365760"/>
          </a:xfrm>
          <a:prstGeom prst="rect">
            <a:avLst/>
          </a:prstGeom>
          <a:noFill/>
          <a:ln/>
        </p:spPr>
        <p:txBody>
          <a:bodyPr wrap="square" lIns="0" tIns="0" rIns="0" bIns="0" rtlCol="0" anchor="ctr"/>
          <a:lstStyle/>
          <a:p>
            <a:pPr algn="ctr" indent="0" marL="0">
              <a:buNone/>
            </a:pPr>
            <a:r>
              <a:rPr lang="en-US" sz="1800" b="1" dirty="0">
                <a:solidFill>
                  <a:srgbClr val="1E2230"/>
                </a:solidFill>
                <a:latin typeface="Calibri" pitchFamily="34" charset="0"/>
                <a:ea typeface="Calibri" pitchFamily="34" charset="-122"/>
                <a:cs typeface="Calibri" pitchFamily="34" charset="-120"/>
              </a:rPr>
              <a:t>Go live</a:t>
            </a:r>
            <a:endParaRPr lang="en-US" sz="1800" dirty="0"/>
          </a:p>
        </p:txBody>
      </p:sp>
      <p:sp>
        <p:nvSpPr>
          <p:cNvPr id="19" name="Text 16"/>
          <p:cNvSpPr txBox="1"/>
          <p:nvPr/>
        </p:nvSpPr>
        <p:spPr>
          <a:xfrm>
            <a:off x="6217920" y="3474720"/>
            <a:ext cx="2194560" cy="548640"/>
          </a:xfrm>
          <a:prstGeom prst="rect">
            <a:avLst/>
          </a:prstGeom>
          <a:noFill/>
          <a:ln/>
        </p:spPr>
        <p:txBody>
          <a:bodyPr wrap="square" lIns="0" tIns="0" rIns="0" bIns="0" rtlCol="0" anchor="t"/>
          <a:lstStyle/>
          <a:p>
            <a:pPr algn="ctr" indent="0" marL="0">
              <a:buNone/>
            </a:pPr>
            <a:r>
              <a:rPr lang="en-US" sz="1300" dirty="0">
                <a:solidFill>
                  <a:srgbClr val="5A6272"/>
                </a:solidFill>
                <a:latin typeface="Calibri" pitchFamily="34" charset="0"/>
                <a:ea typeface="Calibri" pitchFamily="34" charset="-122"/>
                <a:cs typeface="Calibri" pitchFamily="34" charset="-120"/>
              </a:rPr>
              <a:t>Train the users, then launch</a:t>
            </a:r>
            <a:endParaRPr lang="en-US" sz="1300" dirty="0"/>
          </a:p>
        </p:txBody>
      </p:sp>
      <p:sp>
        <p:nvSpPr>
          <p:cNvPr id="20" name="Text 17"/>
          <p:cNvSpPr txBox="1"/>
          <p:nvPr/>
        </p:nvSpPr>
        <p:spPr>
          <a:xfrm>
            <a:off x="548640" y="4206240"/>
            <a:ext cx="8046720" cy="365760"/>
          </a:xfrm>
          <a:prstGeom prst="rect">
            <a:avLst/>
          </a:prstGeom>
          <a:noFill/>
          <a:ln/>
        </p:spPr>
        <p:txBody>
          <a:bodyPr wrap="square" lIns="0" tIns="0" rIns="0" bIns="0" rtlCol="0" anchor="ctr"/>
          <a:lstStyle/>
          <a:p>
            <a:pPr algn="ctr" indent="0" marL="0">
              <a:buNone/>
            </a:pPr>
            <a:r>
              <a:rPr lang="en-US" sz="1500" i="1" dirty="0">
                <a:solidFill>
                  <a:srgbClr val="00126B"/>
                </a:solidFill>
                <a:latin typeface="Calibri" pitchFamily="34" charset="0"/>
                <a:ea typeface="Calibri" pitchFamily="34" charset="-122"/>
                <a:cs typeface="Calibri" pitchFamily="34" charset="-120"/>
              </a:rPr>
              <a:t>We would value your feedback before go-live.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26B"/>
        </a:solidFill>
      </p:bgPr>
    </p:bg>
    <p:spTree>
      <p:nvGrpSpPr>
        <p:cNvPr id="1" name=""/>
        <p:cNvGrpSpPr/>
        <p:nvPr/>
      </p:nvGrpSpPr>
      <p:grpSpPr>
        <a:xfrm>
          <a:off x="0" y="0"/>
          <a:ext cx="0" cy="0"/>
          <a:chOff x="0" y="0"/>
          <a:chExt cx="0" cy="0"/>
        </a:xfrm>
      </p:grpSpPr>
      <p:sp>
        <p:nvSpPr>
          <p:cNvPr id="2" name="Text 0"/>
          <p:cNvSpPr txBox="1"/>
          <p:nvPr/>
        </p:nvSpPr>
        <p:spPr>
          <a:xfrm>
            <a:off x="548640" y="1371600"/>
            <a:ext cx="804672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Text 1"/>
          <p:cNvSpPr txBox="1"/>
          <p:nvPr/>
        </p:nvSpPr>
        <p:spPr>
          <a:xfrm>
            <a:off x="548640" y="2331720"/>
            <a:ext cx="8046720" cy="457200"/>
          </a:xfrm>
          <a:prstGeom prst="rect">
            <a:avLst/>
          </a:prstGeom>
          <a:noFill/>
          <a:ln/>
        </p:spPr>
        <p:txBody>
          <a:bodyPr wrap="square" lIns="0" tIns="0" rIns="0" bIns="0" rtlCol="0" anchor="ctr"/>
          <a:lstStyle/>
          <a:p>
            <a:pPr algn="ctr" indent="0" marL="0">
              <a:buNone/>
            </a:pPr>
            <a:r>
              <a:rPr lang="en-US" sz="2000" dirty="0">
                <a:solidFill>
                  <a:srgbClr val="DCE4F7"/>
                </a:solidFill>
                <a:latin typeface="Calibri" pitchFamily="34" charset="0"/>
                <a:ea typeface="Calibri" pitchFamily="34" charset="-122"/>
                <a:cs typeface="Calibri" pitchFamily="34" charset="-120"/>
              </a:rPr>
              <a:t>Your feedback shapes the next version.</a:t>
            </a:r>
            <a:endParaRPr lang="en-US" sz="2000" dirty="0"/>
          </a:p>
        </p:txBody>
      </p:sp>
      <p:sp>
        <p:nvSpPr>
          <p:cNvPr id="4" name="Shape 2"/>
          <p:cNvSpPr/>
          <p:nvPr/>
        </p:nvSpPr>
        <p:spPr>
          <a:xfrm>
            <a:off x="4069080" y="3108960"/>
            <a:ext cx="1005840" cy="1005840"/>
          </a:xfrm>
          <a:prstGeom prst="ellipse">
            <a:avLst/>
          </a:prstGeom>
          <a:solidFill>
            <a:srgbClr val="D68C00"/>
          </a:solidFill>
          <a:ln w="12700">
            <a:solidFill>
              <a:srgbClr val="D68C00"/>
            </a:solidFill>
            <a:prstDash val="solid"/>
          </a:ln>
        </p:spPr>
      </p:sp>
      <p:pic>
        <p:nvPicPr>
          <p:cNvPr id="5" name="Image 0" descr="preencoded.png">    </p:cNvPr>
          <p:cNvPicPr>
            <a:picLocks noChangeAspect="1"/>
          </p:cNvPicPr>
          <p:nvPr/>
        </p:nvPicPr>
        <p:blipFill>
          <a:blip r:embed="rId1"/>
          <a:stretch>
            <a:fillRect/>
          </a:stretch>
        </p:blipFill>
        <p:spPr>
          <a:xfrm>
            <a:off x="4330598" y="3370478"/>
            <a:ext cx="482803" cy="482803"/>
          </a:xfrm>
          <a:prstGeom prst="rect">
            <a:avLst/>
          </a:prstGeom>
        </p:spPr>
      </p:pic>
      <p:sp>
        <p:nvSpPr>
          <p:cNvPr id="6" name="Text 3"/>
          <p:cNvSpPr txBox="1"/>
          <p:nvPr/>
        </p:nvSpPr>
        <p:spPr>
          <a:xfrm>
            <a:off x="548640" y="4251960"/>
            <a:ext cx="8046720" cy="411480"/>
          </a:xfrm>
          <a:prstGeom prst="rect">
            <a:avLst/>
          </a:prstGeom>
          <a:noFill/>
          <a:ln/>
        </p:spPr>
        <p:txBody>
          <a:bodyPr wrap="square" lIns="0" tIns="0" rIns="0" bIns="0" rtlCol="0" anchor="ctr"/>
          <a:lstStyle/>
          <a:p>
            <a:pPr algn="ctr" indent="0" marL="0">
              <a:buNone/>
            </a:pPr>
            <a:r>
              <a:rPr lang="en-US" sz="1800" b="1" dirty="0">
                <a:solidFill>
                  <a:srgbClr val="AFC3F0"/>
                </a:solidFill>
                <a:latin typeface="Calibri" pitchFamily="34" charset="0"/>
                <a:ea typeface="Calibri" pitchFamily="34" charset="-122"/>
                <a:cs typeface="Calibri" pitchFamily="34" charset="-120"/>
              </a:rPr>
              <a:t>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 Deposit Ticket System - stakeholder presentation</dc:title>
  <dc:subject>PptxGenJS Presentation</dc:subject>
  <dc:creator>PptxGenJS</dc:creator>
  <cp:lastModifiedBy>PptxGenJS</cp:lastModifiedBy>
  <cp:revision>1</cp:revision>
  <dcterms:created xsi:type="dcterms:W3CDTF">2026-10-05T17:15:43Z</dcterms:created>
  <dcterms:modified xsi:type="dcterms:W3CDTF">2026-10-05T17:15:43Z</dcterms:modified>
</cp:coreProperties>
</file>